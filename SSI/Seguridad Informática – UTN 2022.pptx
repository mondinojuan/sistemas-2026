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Gill Sans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9" roundtripDataSignature="AMtx7mgRsv/yEuYVlJLWJEnGbw0W7Gs8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0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12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" name="Google Shape;15;p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onexiones digitales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13265" r="3502" t="90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04" name="Google Shape;104;p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"/>
          <p:cNvSpPr/>
          <p:nvPr/>
        </p:nvSpPr>
        <p:spPr>
          <a:xfrm>
            <a:off x="446534" y="5864656"/>
            <a:ext cx="11260667" cy="595931"/>
          </a:xfrm>
          <a:prstGeom prst="rect">
            <a:avLst/>
          </a:prstGeom>
          <a:solidFill>
            <a:schemeClr val="accent1">
              <a:alpha val="96078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>
            <p:ph type="ctrTitle"/>
          </p:nvPr>
        </p:nvSpPr>
        <p:spPr>
          <a:xfrm>
            <a:off x="581191" y="4572000"/>
            <a:ext cx="10993549" cy="8952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ill Sans"/>
              <a:buNone/>
            </a:pPr>
            <a:r>
              <a:rPr lang="es-ES" sz="4500">
                <a:solidFill>
                  <a:schemeClr val="lt1"/>
                </a:solidFill>
              </a:rPr>
              <a:t>Seguridad en los Sistemas de Información  </a:t>
            </a:r>
            <a:r>
              <a:rPr lang="es-ES" sz="4000">
                <a:solidFill>
                  <a:schemeClr val="lt1"/>
                </a:solidFill>
              </a:rPr>
              <a:t>UNIVERSIDAD TECNOLÓGICA NACIONAL </a:t>
            </a:r>
            <a:r>
              <a:rPr lang="es-ES" sz="4500">
                <a:solidFill>
                  <a:schemeClr val="lt1"/>
                </a:solidFill>
              </a:rPr>
              <a:t>AÑO 2022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580094" y="5896821"/>
            <a:ext cx="10993546" cy="484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sz="2400">
                <a:solidFill>
                  <a:schemeClr val="lt1"/>
                </a:solidFill>
              </a:rPr>
              <a:t>ING. LEONARDO MATIAS ARRIGONI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0" y="536712"/>
            <a:ext cx="12192000" cy="6321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581192" y="5264487"/>
            <a:ext cx="11029616" cy="7188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2800"/>
              <a:buFont typeface="Gill Sans"/>
              <a:buNone/>
            </a:pPr>
            <a:r>
              <a:rPr lang="es-ES">
                <a:solidFill>
                  <a:srgbClr val="FFFEFF"/>
                </a:solidFill>
              </a:rPr>
              <a:t>REQUISITOS DE TECNOLOGÍA</a:t>
            </a:r>
            <a:endParaRPr>
              <a:solidFill>
                <a:srgbClr val="FFFEFF"/>
              </a:solidFill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697756" y="1353380"/>
            <a:ext cx="10796488" cy="2971334"/>
            <a:chOff x="54818" y="494935"/>
            <a:chExt cx="10796488" cy="2971334"/>
          </a:xfrm>
        </p:grpSpPr>
        <p:sp>
          <p:nvSpPr>
            <p:cNvPr id="119" name="Google Shape;119;p2"/>
            <p:cNvSpPr/>
            <p:nvPr/>
          </p:nvSpPr>
          <p:spPr>
            <a:xfrm>
              <a:off x="523237" y="494935"/>
              <a:ext cx="2285995" cy="228599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818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54818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s-ES" sz="3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Redes</a:t>
              </a:r>
              <a:endPara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10064" y="494935"/>
              <a:ext cx="2285995" cy="228599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841646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3841646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s-ES" sz="3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Virtualización</a:t>
              </a:r>
              <a:endPara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8096892" y="494935"/>
              <a:ext cx="2285995" cy="228599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-12993" r="-12995" t="0"/>
              </a:stretch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7628474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7628474" y="2746269"/>
              <a:ext cx="3222832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s-ES" sz="3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PCs</a:t>
              </a:r>
              <a:endPara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19" y="1971148"/>
            <a:ext cx="10879289" cy="440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lang="es-ES" sz="3200"/>
              <a:t>Seguridad en los Sistemas de Información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Programa de la asignatura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581190" y="3052716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Unidad 1: </a:t>
            </a:r>
            <a:r>
              <a:rPr b="1" lang="es-ES" sz="2800">
                <a:solidFill>
                  <a:srgbClr val="4573CE"/>
                </a:solidFill>
              </a:rPr>
              <a:t>Seguridad de la Información</a:t>
            </a:r>
            <a:endParaRPr b="1" sz="2800">
              <a:solidFill>
                <a:srgbClr val="4573CE"/>
              </a:solidFill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Ejes conceptuales: 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1) Introducción a la seguridad de los Sistemas de información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2) Marcos de Gestión de la seguridad en los Sistemas de Información</a:t>
            </a:r>
            <a:endParaRPr sz="2800"/>
          </a:p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6188417" y="2887460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Unidad 2: </a:t>
            </a:r>
            <a:r>
              <a:rPr b="1" lang="es-ES" sz="2800">
                <a:solidFill>
                  <a:srgbClr val="4573CE"/>
                </a:solidFill>
              </a:rPr>
              <a:t>Seguridad Aplicada</a:t>
            </a:r>
            <a:endParaRPr b="1" sz="2800">
              <a:solidFill>
                <a:srgbClr val="4573CE"/>
              </a:solidFill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Ejes conceptuales: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1) Proceso de Seguridad de la Información en entornos empresariales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2) Seguridad Física y Ambiental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3) Seguridad Lógica</a:t>
            </a:r>
            <a:endParaRPr sz="2800"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061" y="2045820"/>
            <a:ext cx="3373877" cy="84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Programa de la asignatura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673610" y="2938592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Unidad 3: </a:t>
            </a:r>
            <a:r>
              <a:rPr b="1" lang="es-ES" sz="2800">
                <a:solidFill>
                  <a:srgbClr val="4573CE"/>
                </a:solidFill>
              </a:rPr>
              <a:t>Criptografía y Hacking ético</a:t>
            </a:r>
            <a:endParaRPr b="1" sz="2800">
              <a:solidFill>
                <a:srgbClr val="4573CE"/>
              </a:solidFill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Ejes conceptuales: 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1) Conceptos asociados a Criptografía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2) Hacking ético y Vulnerabilidades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3) Identificación de Vulnerabilidades</a:t>
            </a:r>
            <a:endParaRPr sz="2800"/>
          </a:p>
        </p:txBody>
      </p:sp>
      <p:sp>
        <p:nvSpPr>
          <p:cNvPr id="149" name="Google Shape;149;p20"/>
          <p:cNvSpPr txBox="1"/>
          <p:nvPr>
            <p:ph idx="2" type="body"/>
          </p:nvPr>
        </p:nvSpPr>
        <p:spPr>
          <a:xfrm>
            <a:off x="6096000" y="2938592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Unidad 4: </a:t>
            </a:r>
            <a:r>
              <a:rPr b="1" lang="es-ES" sz="2800">
                <a:solidFill>
                  <a:srgbClr val="4573CE"/>
                </a:solidFill>
              </a:rPr>
              <a:t>Auditoría Informática y Seguridad</a:t>
            </a:r>
            <a:endParaRPr b="1" sz="2800">
              <a:solidFill>
                <a:srgbClr val="4573CE"/>
              </a:solidFill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Ejes conceptuales: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1) Conceptos de auditoría y control interno – Segregación de funciones</a:t>
            </a:r>
            <a:endParaRPr sz="28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800"/>
              <a:t>2) Metodología de auditoría informática</a:t>
            </a:r>
            <a:endParaRPr sz="2800"/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6644" y="2059888"/>
            <a:ext cx="3373877" cy="84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lang="es-ES" sz="3200"/>
              <a:t>Seguridad Informática vs Seguridad de la Información</a:t>
            </a:r>
            <a:endParaRPr sz="3200"/>
          </a:p>
        </p:txBody>
      </p:sp>
      <p:pic>
        <p:nvPicPr>
          <p:cNvPr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75913"/>
            <a:ext cx="5913120" cy="46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5913120" y="2066035"/>
            <a:ext cx="6098458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Seguridad de la Información </a:t>
            </a: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la disciplina que se encarga de proporcionar la </a:t>
            </a: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evaluación de riesgos y amenazas</a:t>
            </a: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trazar el plan de acción y adecuación para minimizar los riesgos, bajo la normativa o las buenas prácticas con el objetivo de asegurar la confidencialidad, integridad y disponibilidad del manejo de la </a:t>
            </a: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información de activos</a:t>
            </a: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seguridad informática </a:t>
            </a: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describe como la </a:t>
            </a: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distinción táctica y operacional de la seguridad; </a:t>
            </a:r>
            <a:r>
              <a:rPr b="0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definida</a:t>
            </a: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 la disciplina que se encarga de la implementación técnica de la </a:t>
            </a:r>
            <a:r>
              <a:rPr b="1" i="0" lang="es-E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protección de la información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Seguridad </a:t>
            </a:r>
            <a:r>
              <a:rPr lang="es-ES" sz="2800"/>
              <a:t>Informática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La definición técnica de la Seguridad Informática es la seguridad que engloba la protección del factor computacional en los dispositivos electrónicos, refiriéndonos a aquellas combinaciones entre hardware y software capaz de manipular información a través de su funcionamiento.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>
            <p:ph idx="2" type="body"/>
          </p:nvPr>
        </p:nvSpPr>
        <p:spPr>
          <a:xfrm>
            <a:off x="6188417" y="2815628"/>
            <a:ext cx="5422392" cy="3045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La seguridad siempre busca la gestión de riesgos</a:t>
            </a:r>
            <a:endParaRPr sz="22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Prevención del riesgo.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Transferir el riesgo.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Mitigar el riesgo.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Aceptar el riesgo. </a:t>
            </a:r>
            <a:endParaRPr sz="2200"/>
          </a:p>
          <a:p>
            <a:pPr indent="0" lvl="0" marL="123444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Cuando se está buscando hacer algo más seguro, estas acciones son algo que se debe de considerar sin importar el área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4516"/>
              <a:buNone/>
            </a:pPr>
            <a:r>
              <a:rPr b="1" lang="es-E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Concepto de Seguridad Informática vs Seguridad de la Información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La seguridad de la información, encarga de proporcionar la </a:t>
            </a:r>
            <a:r>
              <a:rPr lang="es-E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evaluación de riesgos y amenazas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, trazando el plan de acción y adecuación para minimizar los riesgos, bajo la normativa o las buenas prácticas con el objetivo de asegurar la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confidencialidad, integridad y disponibilidad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; mientras que la seguridad informática se encarga de la seguridad del medio informático.</a:t>
            </a:r>
            <a:endParaRPr sz="2200"/>
          </a:p>
        </p:txBody>
      </p:sp>
      <p:sp>
        <p:nvSpPr>
          <p:cNvPr id="172" name="Google Shape;172;p23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3444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La principal tarea de la seguridad informática es la de minimizar los riesgos, clasificar en tres partes: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usuarios: Es el eslabón más débil.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información: Siendo  lo que se desea proteger.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infraestructura: Dependen de los procesos.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TRIADA CID: CONFIDENCIALIDAD – INTEGRIDAD - DISPONIBILIDAD</a:t>
            </a:r>
            <a:endParaRPr/>
          </a:p>
        </p:txBody>
      </p:sp>
      <p:sp>
        <p:nvSpPr>
          <p:cNvPr id="178" name="Google Shape;178;p4"/>
          <p:cNvSpPr txBox="1"/>
          <p:nvPr>
            <p:ph idx="1" type="body"/>
          </p:nvPr>
        </p:nvSpPr>
        <p:spPr>
          <a:xfrm>
            <a:off x="0" y="2228003"/>
            <a:ext cx="12192000" cy="4629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3756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</a:pP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El objetivo de la </a:t>
            </a:r>
            <a:r>
              <a:rPr b="1" lang="es-ES" sz="2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confidencialidad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es, prevenir la divulgación </a:t>
            </a:r>
            <a:r>
              <a:rPr i="1" lang="es-ES" sz="2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no autorizada de la información 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sobre nuestra organización.</a:t>
            </a:r>
            <a:endParaRPr/>
          </a:p>
          <a:p>
            <a:pPr indent="-333756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</a:pP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El objetivo de la </a:t>
            </a:r>
            <a:r>
              <a:rPr b="1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integridad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 es </a:t>
            </a:r>
            <a:r>
              <a:rPr i="1" lang="es-ES" sz="2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prevenir modificaciones no autorizadas</a:t>
            </a:r>
            <a:r>
              <a:rPr i="1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de la información.</a:t>
            </a:r>
            <a:endParaRPr/>
          </a:p>
          <a:p>
            <a:pPr indent="-333756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</a:pP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El objetivo de la </a:t>
            </a:r>
            <a:r>
              <a:rPr b="1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disponibilidad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 es  </a:t>
            </a:r>
            <a:r>
              <a:rPr i="1" lang="es-ES" sz="2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prevenir interrupciones no autorizadas</a:t>
            </a:r>
            <a:r>
              <a:rPr i="1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b="0" i="0" lang="es-ES" sz="20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de los recursos informáticos.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La </a:t>
            </a:r>
            <a:r>
              <a:rPr b="1" i="0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confidencialidad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, requiere que la información sea accesible de forma única a las personas que se encuentran autorizadas. Es </a:t>
            </a:r>
            <a:r>
              <a:rPr i="1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necesario acceder a la información mediante autorización y control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 La confidencialidad hace referencia a la necesidad de ocultar o mantener secreto sobre determinada información o recursos.</a:t>
            </a:r>
            <a:endParaRPr/>
          </a:p>
          <a:p>
            <a:pPr indent="0" lvl="0" marL="123444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La </a:t>
            </a:r>
            <a:r>
              <a:rPr b="1" i="0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integridad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, supone que la información se mantenga inalterada ante accidentes o intentos maliciosos. Sólo se podrá </a:t>
            </a:r>
            <a:r>
              <a:rPr i="1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modificar la información mediante autorización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0" lvl="0" marL="123444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b="1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disponibilidad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 supone que el sistema informático se mantenga trabajando sin sufrir ninguna </a:t>
            </a:r>
            <a:r>
              <a:rPr i="1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degradación en cuanto a accesos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 Es necesario que se ofrezcan los recursos que requieran los usuarios autorizados cuando se necesiten. La información </a:t>
            </a:r>
            <a:r>
              <a:rPr i="1" lang="es-E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deberá permanecer accesible a elementos autorizados</a:t>
            </a:r>
            <a:r>
              <a:rPr b="0" i="0" lang="es-ES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b="0" i="0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TRIADA CID: CONFIDENCIALIDAD – INTEGRIDAD - DISPONIBILIDAD</a:t>
            </a:r>
            <a:endParaRPr/>
          </a:p>
        </p:txBody>
      </p:sp>
      <p:pic>
        <p:nvPicPr>
          <p:cNvPr id="184" name="Google Shape;18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705" y="1968547"/>
            <a:ext cx="5274704" cy="414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5135" y="2409622"/>
            <a:ext cx="6225672" cy="3345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Causas de Inseguridad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581193" y="2228003"/>
            <a:ext cx="11029616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3444" rtl="0" algn="l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La inseguridad de los sistemas informáticos y de las redes va más allá de los virus informáticos conocidos.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ts val="1656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Aunque existen muchas causas para los problemas de seguridad, por lo menos podemos mencionar tres tipos de deficiencias fundamentales que dan lugar a dichos problemas: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Deficiencias tecnológicas.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Deficiencias de la política de seguridad.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Deficiencias de configuración.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Causas de Inseguridad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457210" y="2270406"/>
            <a:ext cx="551480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4594"/>
              <a:buNone/>
            </a:pPr>
            <a:r>
              <a:rPr b="1" lang="es-ES" sz="2400"/>
              <a:t>Deficiencias Tecnológicas</a:t>
            </a:r>
            <a:r>
              <a:rPr lang="es-ES" sz="2400"/>
              <a:t>: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4594"/>
              <a:buNone/>
            </a:pPr>
            <a:r>
              <a:rPr lang="es-ES" sz="2400"/>
              <a:t>Protocolos de Internet / Sistemas Operativos / Equipos de comunicaciones de Red.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4594"/>
              <a:buNone/>
            </a:pPr>
            <a:r>
              <a:t/>
            </a:r>
            <a:endParaRPr sz="2400"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4594"/>
              <a:buNone/>
            </a:pPr>
            <a:r>
              <a:rPr b="1" lang="es-ES" sz="2400"/>
              <a:t>Deficiencias de políticas</a:t>
            </a:r>
            <a:r>
              <a:rPr lang="es-ES" sz="2400"/>
              <a:t>: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4594"/>
              <a:buNone/>
            </a:pPr>
            <a:r>
              <a:rPr lang="es-ES" sz="2400"/>
              <a:t>Inexistencia de documentación de políticas aplicadas / Ausencia de plan de contingencia para recuperación de desastres / Inexistencia de criterios para incorporación de Hardware o Software / Ausencia de supervisión de Seguridad / Políticas de empleo / Políticas internas.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6219984" y="2239726"/>
            <a:ext cx="551480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12344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None/>
            </a:pPr>
            <a:r>
              <a:rPr b="1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Deficiencias de Configuración</a:t>
            </a: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344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Sucede en los equipos que traen una configuración por defecto y no se los adapta o modifica.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344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Algunos problemas comunes son: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22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Char char="❑"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Ineficacia de las listas de control de acceso.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22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Char char="❑"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Contraseñas por defecto, no renovadas en mucho tiempo, o peor aún, la falta de ellas.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22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Char char="❑"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Puertos o servicios innecesarios activos.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22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Char char="❑"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Intercambio de identificadores de usuarios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22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74594"/>
              <a:buFont typeface="Noto Sans Symbols"/>
              <a:buChar char="❑"/>
            </a:pPr>
            <a:r>
              <a:rPr b="0" i="0" lang="es-E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Accesos remotos no protegidos.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344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99459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lang="es-ES" sz="3200"/>
              <a:t>Proceso de autenticación</a:t>
            </a:r>
            <a:endParaRPr sz="3200"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581190" y="1972996"/>
            <a:ext cx="11029615" cy="120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autentificación se puede definir como un proceso en el que se busca confirmar algo como verdadero  otro caso es cuando se asigna un número de cuenta o ID de identificación en el trabajo para acceder a ciertas áreas o también para llevar un registro de los movimientos y en caso de ser necesario poder validar esos movimientos.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9884" y="3428999"/>
            <a:ext cx="637222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Mecanismos preventivos en Seguridad Informática</a:t>
            </a:r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488888" y="2228003"/>
            <a:ext cx="11244403" cy="4002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3444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Dentro de los mecanismos de corrección existen diferentes pasos de ejecución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ts val="1656"/>
              <a:buFont typeface="Arial"/>
              <a:buAutoNum type="arabicPeriod"/>
            </a:pPr>
            <a:r>
              <a:rPr b="1"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Catalogación y asignación de problemas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Se hace un catálogo de los problemas a los que se pueden enfrentar, detectar y clasificar es algo muy recurrente en todo lo relacionado con la seguridad informática.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Arial"/>
              <a:buAutoNum type="arabicPeriod"/>
            </a:pPr>
            <a:r>
              <a:rPr b="1"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Análisis del problema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La actividad que se realiza es el 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 problema.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Arial"/>
              <a:buAutoNum type="arabicPeriod"/>
            </a:pPr>
            <a:r>
              <a:rPr b="1"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Análisis de la solución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Antes de intentar solucionar el problema se debe analizar la propuesta de la solución. Se ha cometido un error, puede ser que no de forma directa; el impacto no va a ser más o menos, si es culpa del usuario o de un tercero, así que la solución tiene que estar bien planteada y ejecutada.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Arial"/>
              <a:buAutoNum type="arabicPeriod"/>
            </a:pPr>
            <a:r>
              <a:rPr b="1"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documentación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Este componente es vital, ya que los cambios que se hacen probablemente son algo que se hizo con un tiempo limitado, rápido y que involucraron muchos recursos, así que la documentación es muy importante.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Mecanismos detectivos en Seguridad Informática</a:t>
            </a:r>
            <a:endParaRPr/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522712" y="1885071"/>
            <a:ext cx="11146575" cy="4958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123444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ct val="108235"/>
              <a:buNone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mecanismos de detección parten de que se tiene la idea de que un atacante es capaz de violar la seguridad y puede haber realizado una intrusión total o parcial a un determinado recurso. Siempre que se trabaja en los mecanismos de detección se tiene la premisa en mente, se debe de trabajar como si lo que se fuera a encontrar es lo peor y se debe estar preparados para la peor de las situaciones posibles. </a:t>
            </a:r>
            <a:endParaRPr/>
          </a:p>
          <a:p>
            <a:pPr indent="0" lvl="0" marL="123444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None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Estos mecanismos de detección tienen dos objetivos: </a:t>
            </a:r>
            <a:endParaRPr/>
          </a:p>
          <a:p>
            <a:pPr indent="-333756" lvl="0" marL="4572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Char char="◼"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Poder detectar el punto exacto del ataque para poder llegar a una solución y recuperarse del mismo. </a:t>
            </a:r>
            <a:endParaRPr/>
          </a:p>
          <a:p>
            <a:pPr indent="-333756" lvl="0" marL="4572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Char char="◼"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Detectar la actividad que se considera sospechosa y conocer lo sucedido.</a:t>
            </a:r>
            <a:endParaRPr/>
          </a:p>
          <a:p>
            <a:pPr indent="0" lvl="0" marL="123444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None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mecanismos de detección de intrusión tienen unos pasos que se ejecutan como manera básica de detección que se menciona a continuación: </a:t>
            </a:r>
            <a:endParaRPr/>
          </a:p>
          <a:p>
            <a:pPr indent="-333756" lvl="0" marL="4572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Char char="◼"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Revisión de patrones de acceso: En este caso lo que se hace es ver los patrones de acceso, esto quiere decir que se va a analizar los accesos y tratar de encontrar si se está manejando un patrón </a:t>
            </a:r>
            <a:endParaRPr/>
          </a:p>
          <a:p>
            <a:pPr indent="-333756" lvl="0" marL="4572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108235"/>
              <a:buChar char="◼"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Revisión de transacción: En la mayoría de los casos se obtienen ciertos archivos o se intenta descargar o subir algo de información, así que la transacción es un método muy rápido para lograr esto, la mayoría de los intentos van a ir acompañados de al menos una transacción. </a:t>
            </a:r>
            <a:endParaRPr/>
          </a:p>
          <a:p>
            <a:pPr indent="-333756" lvl="0" marL="457200" rtl="0" algn="just">
              <a:lnSpc>
                <a:spcPct val="107000"/>
              </a:lnSpc>
              <a:spcBef>
                <a:spcPts val="1160"/>
              </a:spcBef>
              <a:spcAft>
                <a:spcPts val="800"/>
              </a:spcAft>
              <a:buSzPct val="108235"/>
              <a:buChar char="◼"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Bloqueo automático: Algunas aplicaciones no tienen un sistema de bloqueo, así que, aunque en algunos casos se encuentre el problema y ya se tenga las razones, Si no se cuenta con un mecanismo de bloqueo de emergencia, el atacante podrá seguir haciendo lo que quería.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Concepto de encriptación</a:t>
            </a:r>
            <a:endParaRPr/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478165" y="1918515"/>
            <a:ext cx="11235669" cy="2737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encriptación busca la seguridad y la persistencia de los datos mediante un proceso en el cual se involucran algunas partes claves dependiendo del método, por ejemplo, en algunos métodos se utilizan contraseñas o llaves para autentificar la encriptación y la desencriptación de la información, siempre se debe de recordar los objetivos principales de la encriptación y cifrado de datos que son: </a:t>
            </a:r>
            <a:endParaRPr/>
          </a:p>
          <a:p>
            <a:pPr indent="0" lvl="0" marL="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Confidencialidad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Integridad de los datos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82" y="3244761"/>
            <a:ext cx="5400040" cy="221424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581195" y="5459006"/>
            <a:ext cx="11029614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confidencialidad</a:t>
            </a: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consiste en que la información sólo puede ser accedida por su legítimo dueño o destinatario, la </a:t>
            </a:r>
            <a:r>
              <a:rPr b="1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autentificación</a:t>
            </a: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quiere decir que el emisor y el receptor son los que pueden confirmar la identidad, finalmente la </a:t>
            </a:r>
            <a:r>
              <a:rPr b="1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la información significa que no debe ser posible que sea alterada en caso de que sea interceptada la información.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/>
              <a:t>Métodos de encriptación</a:t>
            </a:r>
            <a:endParaRPr/>
          </a:p>
        </p:txBody>
      </p:sp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581193" y="2228003"/>
            <a:ext cx="5607224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ct val="81375"/>
              <a:buNone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Algunos de los métodos de encriptación disponibles actualmente y que son bastantes conocidos se puede mencionar a:</a:t>
            </a:r>
            <a:endParaRPr sz="2200"/>
          </a:p>
          <a:p>
            <a:pPr indent="-334373" lvl="0" marL="342900" rtl="0" algn="just">
              <a:lnSpc>
                <a:spcPct val="107000"/>
              </a:lnSpc>
              <a:spcBef>
                <a:spcPts val="1160"/>
              </a:spcBef>
              <a:spcAft>
                <a:spcPts val="0"/>
              </a:spcAft>
              <a:buSzPct val="81375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Encriptación simétrica.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4373" lvl="0" marL="342900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ct val="81375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Encriptación asimétrica de clave pública y privada.</a:t>
            </a:r>
            <a:endParaRPr sz="2200"/>
          </a:p>
          <a:p>
            <a:pPr indent="-334373" lvl="0" marL="342900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ct val="81375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Firma digital.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4373" lvl="0" marL="342900" rtl="0" algn="just">
              <a:lnSpc>
                <a:spcPct val="107000"/>
              </a:lnSpc>
              <a:spcBef>
                <a:spcPts val="360"/>
              </a:spcBef>
              <a:spcAft>
                <a:spcPts val="0"/>
              </a:spcAft>
              <a:buSzPct val="81375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Encriptación WPA.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34373" lvl="0" marL="34290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ct val="81375"/>
              <a:buFont typeface="Noto Sans Symbols"/>
              <a:buChar char="❑"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Encriptación WEP.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SzPct val="81375"/>
              <a:buNone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Estos métodos de encriptación son bastantes buenos para almacenar y transferir la información.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>
            <p:ph idx="2" type="body"/>
          </p:nvPr>
        </p:nvSpPr>
        <p:spPr>
          <a:xfrm>
            <a:off x="6188417" y="2025749"/>
            <a:ext cx="5422392" cy="3835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Encriptación Simétrica: 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 métodos de encriptación que utilizan la misma clave para cifrar y descifrar. DES, 3DES, RC5 y AES.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Encriptación Asimétrica:</a:t>
            </a:r>
            <a:r>
              <a:rPr b="1"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 método utiliza 2 claves, una pública conocida y otra privada que solo la tiene el propietario. MD5 y SHA.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Firma digital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firma digital es una forma matemática de adjuntar la identidad de una persona a un mensaje, está basada en la criptografía de clave pública.</a:t>
            </a:r>
            <a:endParaRPr/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Encriptación WPA y WEP: </a:t>
            </a:r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 métodos de encriptación aplicadas a señales inalámbricas y están basadas en protocolos de conexión WIFI.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3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Números digitales" id="240" name="Google Shape;240;p6"/>
          <p:cNvPicPr preferRelativeResize="0"/>
          <p:nvPr/>
        </p:nvPicPr>
        <p:blipFill rotWithShape="1">
          <a:blip r:embed="rId3">
            <a:alphaModFix/>
          </a:blip>
          <a:srcRect b="1" l="2189" r="9640" t="0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>
            <p:ph type="ctrTitle"/>
          </p:nvPr>
        </p:nvSpPr>
        <p:spPr>
          <a:xfrm>
            <a:off x="8296275" y="1419226"/>
            <a:ext cx="3081576" cy="1746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ill Sans"/>
              <a:buNone/>
            </a:pPr>
            <a:r>
              <a:rPr lang="es-ES">
                <a:solidFill>
                  <a:srgbClr val="FFFFFF"/>
                </a:solidFill>
              </a:rPr>
              <a:t>GRACIAS</a:t>
            </a:r>
            <a:endParaRPr/>
          </a:p>
        </p:txBody>
      </p:sp>
      <p:grpSp>
        <p:nvGrpSpPr>
          <p:cNvPr id="243" name="Google Shape;243;p6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4" name="Google Shape;244;p6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6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756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2022-07-06T23:07:08Z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