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  <p:sldId id="272" r:id="rId9"/>
    <p:sldId id="259" r:id="rId10"/>
    <p:sldId id="273" r:id="rId11"/>
    <p:sldId id="274" r:id="rId12"/>
    <p:sldId id="275" r:id="rId13"/>
    <p:sldId id="276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</p:sldIdLst>
  <p:sldSz cx="9144000" cy="5143500" type="screen16x9"/>
  <p:notesSz cx="6858000" cy="9144000"/>
  <p:embeddedFontLst>
    <p:embeddedFont>
      <p:font typeface="Lato" panose="020B0604020202020204" charset="0"/>
      <p:regular r:id="rId24"/>
      <p:bold r:id="rId25"/>
      <p:italic r:id="rId26"/>
      <p:boldItalic r:id="rId27"/>
    </p:embeddedFont>
    <p:embeddedFont>
      <p:font typeface="Raleway" panose="020B0604020202020204" charset="0"/>
      <p:regular r:id="rId28"/>
      <p:bold r:id="rId29"/>
      <p:italic r:id="rId30"/>
      <p:boldItalic r:id="rId31"/>
    </p:embeddedFont>
    <p:embeddedFont>
      <p:font typeface="Raleway Medium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2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694373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636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9861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72363054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723630543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0923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234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1677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9405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7014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115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d251bb473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d251bb473_0_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3625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d251bb473_0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d251bb473_0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9729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e965474a9_3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e965474a9_3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1848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b9a0b074_1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cb9a0b074_1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6094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723630543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723630543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28754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cb9a0b074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cb9a0b074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3834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814cf7d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d814cf7d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0491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723630543_5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723630543_5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72317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e965474a9_3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e965474a9_3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283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Vulnerabilidades y amenazas</a:t>
            </a:r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Ing. Mariano Lancioni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 idx="4294967295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3600">
                <a:solidFill>
                  <a:schemeClr val="dk1"/>
                </a:solidFill>
              </a:rPr>
              <a:t>Vulnerabilidades</a:t>
            </a:r>
            <a:endParaRPr sz="2400"/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 idx="4294967295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800" b="0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Una vulnerabilidad es un fallo o debilidad de un sistema de información que pone en riesgo la seguridad de la misma. Se trata de un “</a:t>
            </a:r>
            <a:r>
              <a:rPr lang="es" sz="1800" b="0" i="1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agujero</a:t>
            </a:r>
            <a:r>
              <a:rPr lang="es" sz="1800" b="0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” que puede ser producido por un error de configuración, una carencia de procedimientos o un fallo de diseño.</a:t>
            </a:r>
            <a:endParaRPr sz="1800" b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7875" y="3162250"/>
            <a:ext cx="3869301" cy="19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625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 descr="Trozo de cinta adhesiva que pega una nota a la diapositiva"/>
          <p:cNvPicPr preferRelativeResize="0"/>
          <p:nvPr/>
        </p:nvPicPr>
        <p:blipFill rotWithShape="1">
          <a:blip r:embed="rId4">
            <a:alphaModFix/>
          </a:blip>
          <a:srcRect l="9244" t="5926" r="2118" b="10011"/>
          <a:stretch/>
        </p:blipFill>
        <p:spPr>
          <a:xfrm rot="154828">
            <a:off x="1881050" y="46276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1340475" y="695172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Tipos de Vulnerabilidades</a:t>
            </a:r>
            <a:endParaRPr sz="200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8" name="Google Shape;88;p15"/>
          <p:cNvSpPr txBox="1">
            <a:spLocks noGrp="1"/>
          </p:cNvSpPr>
          <p:nvPr>
            <p:ph type="body" idx="4294967295"/>
          </p:nvPr>
        </p:nvSpPr>
        <p:spPr>
          <a:xfrm>
            <a:off x="1267424" y="1346399"/>
            <a:ext cx="3983175" cy="34709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s" sz="1400" b="1" dirty="0" smtClean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Software</a:t>
            </a:r>
            <a:r>
              <a:rPr lang="es" sz="1400" dirty="0">
                <a:latin typeface="Raleway"/>
                <a:ea typeface="Raleway"/>
                <a:cs typeface="Raleway"/>
                <a:sym typeface="Raleway"/>
              </a:rPr>
              <a:t/>
            </a:r>
            <a:br>
              <a:rPr lang="es" sz="1400" dirty="0">
                <a:latin typeface="Raleway"/>
                <a:ea typeface="Raleway"/>
                <a:cs typeface="Raleway"/>
                <a:sym typeface="Raleway"/>
              </a:rPr>
            </a:br>
            <a:r>
              <a:rPr lang="es" sz="1200" dirty="0">
                <a:latin typeface="Raleway"/>
                <a:ea typeface="Raleway"/>
                <a:cs typeface="Raleway"/>
                <a:sym typeface="Raleway"/>
              </a:rPr>
              <a:t>Errores o bugs en el código</a:t>
            </a:r>
            <a:r>
              <a:rPr lang="es" sz="1200" dirty="0" smtClean="0"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lvl="0" indent="-317500">
              <a:lnSpc>
                <a:spcPct val="100000"/>
              </a:lnSpc>
              <a:spcBef>
                <a:spcPts val="700"/>
              </a:spcBef>
              <a:buClr>
                <a:schemeClr val="dk1"/>
              </a:buClr>
              <a:buSzPts val="1400"/>
              <a:buFont typeface="Raleway"/>
              <a:buChar char="➔"/>
            </a:pPr>
            <a:r>
              <a:rPr lang="es-MX" sz="1400" b="1" dirty="0" smtClean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Configuración</a:t>
            </a:r>
            <a:r>
              <a:rPr lang="es-MX" sz="1600" dirty="0">
                <a:latin typeface="Raleway"/>
                <a:ea typeface="Raleway"/>
                <a:cs typeface="Raleway"/>
                <a:sym typeface="Raleway"/>
              </a:rPr>
              <a:t/>
            </a:r>
            <a:br>
              <a:rPr lang="es-MX" sz="1600" dirty="0">
                <a:latin typeface="Raleway"/>
                <a:ea typeface="Raleway"/>
                <a:cs typeface="Raleway"/>
                <a:sym typeface="Raleway"/>
              </a:rPr>
            </a:br>
            <a:r>
              <a:rPr lang="es-MX" sz="1200" dirty="0" smtClean="0">
                <a:latin typeface="Raleway"/>
                <a:ea typeface="Raleway"/>
                <a:cs typeface="Raleway"/>
                <a:sym typeface="Raleway"/>
              </a:rPr>
              <a:t>Configuraciones inseguras y permisos mal gestionados.</a:t>
            </a:r>
            <a:endParaRPr lang="es-MX" sz="1200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s" sz="1400" b="1" dirty="0" smtClean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Red</a:t>
            </a:r>
            <a:r>
              <a:rPr lang="es" sz="1400" dirty="0">
                <a:latin typeface="Raleway"/>
                <a:ea typeface="Raleway"/>
                <a:cs typeface="Raleway"/>
                <a:sym typeface="Raleway"/>
              </a:rPr>
              <a:t/>
            </a:r>
            <a:br>
              <a:rPr lang="es" sz="1400" dirty="0">
                <a:latin typeface="Raleway"/>
                <a:ea typeface="Raleway"/>
                <a:cs typeface="Raleway"/>
                <a:sym typeface="Raleway"/>
              </a:rPr>
            </a:br>
            <a:r>
              <a:rPr lang="es" sz="1200" dirty="0">
                <a:latin typeface="Raleway"/>
                <a:ea typeface="Raleway"/>
                <a:cs typeface="Raleway"/>
                <a:sym typeface="Raleway"/>
              </a:rPr>
              <a:t>Fallos en la configuración de dispositivos de red o protocolos.</a:t>
            </a:r>
            <a:endParaRPr sz="1200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s" sz="14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Físicas</a:t>
            </a:r>
            <a:r>
              <a:rPr lang="es" sz="1400" dirty="0">
                <a:latin typeface="Raleway"/>
                <a:ea typeface="Raleway"/>
                <a:cs typeface="Raleway"/>
                <a:sym typeface="Raleway"/>
              </a:rPr>
              <a:t/>
            </a:r>
            <a:br>
              <a:rPr lang="es" sz="1400" dirty="0">
                <a:latin typeface="Raleway"/>
                <a:ea typeface="Raleway"/>
                <a:cs typeface="Raleway"/>
                <a:sym typeface="Raleway"/>
              </a:rPr>
            </a:br>
            <a:r>
              <a:rPr lang="es" sz="1200" dirty="0">
                <a:latin typeface="Raleway"/>
                <a:ea typeface="Raleway"/>
                <a:cs typeface="Raleway"/>
                <a:sym typeface="Raleway"/>
              </a:rPr>
              <a:t>Acceso no autorizado a equipos físicos.</a:t>
            </a:r>
            <a:endParaRPr sz="1200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lang="es" sz="14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Humanas</a:t>
            </a:r>
            <a:endParaRPr sz="1400" b="1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s" sz="1200" dirty="0">
                <a:latin typeface="Raleway"/>
                <a:ea typeface="Raleway"/>
                <a:cs typeface="Raleway"/>
                <a:sym typeface="Raleway"/>
              </a:rPr>
              <a:t>Factores como errores de usuarios o falta de capacitación.</a:t>
            </a:r>
            <a:endParaRPr sz="1200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2350" y="377700"/>
            <a:ext cx="1671600" cy="11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06625" y="1571700"/>
            <a:ext cx="2103050" cy="1177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2050" y="2749400"/>
            <a:ext cx="1932200" cy="108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58425" y="3831425"/>
            <a:ext cx="1799450" cy="108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dirty="0" smtClean="0"/>
              <a:t>Vulnerabilidad de Software</a:t>
            </a:r>
            <a:br>
              <a:rPr lang="es" sz="3600" dirty="0" smtClean="0"/>
            </a:br>
            <a:r>
              <a:rPr lang="es" sz="3600" dirty="0"/>
              <a:t/>
            </a:r>
            <a:br>
              <a:rPr lang="es" sz="3600" dirty="0"/>
            </a:br>
            <a:endParaRPr sz="3600" dirty="0"/>
          </a:p>
        </p:txBody>
      </p:sp>
      <p:sp>
        <p:nvSpPr>
          <p:cNvPr id="10" name="Subtítulo 9"/>
          <p:cNvSpPr>
            <a:spLocks noGrp="1"/>
          </p:cNvSpPr>
          <p:nvPr>
            <p:ph type="subTitle" idx="1"/>
          </p:nvPr>
        </p:nvSpPr>
        <p:spPr>
          <a:xfrm>
            <a:off x="322511" y="1900989"/>
            <a:ext cx="3669625" cy="2462853"/>
          </a:xfrm>
        </p:spPr>
        <p:txBody>
          <a:bodyPr/>
          <a:lstStyle/>
          <a:p>
            <a:r>
              <a:rPr lang="es-MX" sz="1600" b="1" u="sng" dirty="0"/>
              <a:t>Errores de programación </a:t>
            </a:r>
            <a:r>
              <a:rPr lang="es-MX" sz="1600" b="1" u="sng" dirty="0" smtClean="0"/>
              <a:t>(bugs</a:t>
            </a:r>
            <a:r>
              <a:rPr lang="es-MX" sz="1600" b="1" u="sng" dirty="0"/>
              <a:t>):</a:t>
            </a:r>
            <a:r>
              <a:rPr lang="es-MX" sz="1600" dirty="0"/>
              <a:t> fallos en el código que pueden ser explotados</a:t>
            </a:r>
            <a:r>
              <a:rPr lang="es-MX" sz="1600" dirty="0" smtClean="0"/>
              <a:t>.</a:t>
            </a:r>
          </a:p>
          <a:p>
            <a:r>
              <a:rPr lang="es-MX" sz="1600" b="1" u="sng" dirty="0" smtClean="0"/>
              <a:t>Fallos en el control de acceso: </a:t>
            </a:r>
            <a:r>
              <a:rPr lang="es-MX" sz="1600" dirty="0"/>
              <a:t>permitir que un atacante ejecute código malicioso</a:t>
            </a:r>
            <a:r>
              <a:rPr lang="es-MX" sz="1600" dirty="0" smtClean="0"/>
              <a:t>.</a:t>
            </a:r>
          </a:p>
          <a:p>
            <a:r>
              <a:rPr lang="es-MX" sz="1600" b="1" u="sng" dirty="0" smtClean="0"/>
              <a:t>Inyecciones </a:t>
            </a:r>
            <a:r>
              <a:rPr lang="es-MX" sz="1600" b="1" u="sng" dirty="0"/>
              <a:t>(SQL, LDAP, </a:t>
            </a:r>
            <a:r>
              <a:rPr lang="es-MX" sz="1600" b="1" u="sng" dirty="0" err="1"/>
              <a:t>NoSQL</a:t>
            </a:r>
            <a:r>
              <a:rPr lang="es-MX" sz="1600" b="1" u="sng" dirty="0"/>
              <a:t>): </a:t>
            </a:r>
            <a:r>
              <a:rPr lang="es-MX" sz="1600" dirty="0"/>
              <a:t>manipulación de consultas para acceder o alterar datos.</a:t>
            </a:r>
            <a:endParaRPr lang="es-AR" sz="1600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860" y="1564620"/>
            <a:ext cx="4600538" cy="1282657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860" y="2919895"/>
            <a:ext cx="2120940" cy="1588658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3773" y="2919895"/>
            <a:ext cx="2387328" cy="158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57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dirty="0" smtClean="0"/>
              <a:t>Vulnerabilidad de Configuración</a:t>
            </a:r>
            <a:br>
              <a:rPr lang="es" sz="3600" dirty="0" smtClean="0"/>
            </a:br>
            <a:r>
              <a:rPr lang="es" sz="3600" dirty="0"/>
              <a:t/>
            </a:r>
            <a:br>
              <a:rPr lang="es" sz="3600" dirty="0"/>
            </a:br>
            <a:endParaRPr sz="3600" dirty="0"/>
          </a:p>
        </p:txBody>
      </p:sp>
      <p:sp>
        <p:nvSpPr>
          <p:cNvPr id="10" name="Subtítulo 9"/>
          <p:cNvSpPr>
            <a:spLocks noGrp="1"/>
          </p:cNvSpPr>
          <p:nvPr>
            <p:ph type="subTitle" idx="1"/>
          </p:nvPr>
        </p:nvSpPr>
        <p:spPr>
          <a:xfrm>
            <a:off x="701653" y="1269086"/>
            <a:ext cx="3751401" cy="32880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AR" sz="1600" b="1" dirty="0"/>
              <a:t>Configuraciones inseguras por defecto:</a:t>
            </a:r>
            <a:r>
              <a:rPr lang="es-AR" sz="1600" dirty="0"/>
              <a:t> usuarios/contraseñas predeterminadas</a:t>
            </a:r>
            <a:r>
              <a:rPr lang="es-AR" sz="16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1" dirty="0"/>
              <a:t>Puertos o servicios innecesarios abiertos</a:t>
            </a:r>
            <a:r>
              <a:rPr lang="es-MX" sz="1600" b="1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1600" b="1" dirty="0"/>
              <a:t>Permisos mal gestionados:</a:t>
            </a:r>
            <a:r>
              <a:rPr lang="es-AR" sz="1600" dirty="0"/>
              <a:t> accesos excesivos o no restringidos</a:t>
            </a:r>
            <a:r>
              <a:rPr lang="es-AR" sz="16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1600" b="1" dirty="0"/>
              <a:t>Parcheo incompleto o inexistente:</a:t>
            </a:r>
            <a:r>
              <a:rPr lang="es-AR" sz="1600" dirty="0"/>
              <a:t> software desactualizado.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054" y="2051824"/>
            <a:ext cx="3489902" cy="219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46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dirty="0" smtClean="0"/>
              <a:t>Vulnerabilidad de Red</a:t>
            </a:r>
            <a:br>
              <a:rPr lang="es" sz="3600" dirty="0" smtClean="0"/>
            </a:br>
            <a:r>
              <a:rPr lang="es" sz="3600" dirty="0"/>
              <a:t/>
            </a:r>
            <a:br>
              <a:rPr lang="es" sz="3600" dirty="0"/>
            </a:br>
            <a:endParaRPr sz="3600" dirty="0"/>
          </a:p>
        </p:txBody>
      </p:sp>
      <p:sp>
        <p:nvSpPr>
          <p:cNvPr id="10" name="Subtítulo 9"/>
          <p:cNvSpPr>
            <a:spLocks noGrp="1"/>
          </p:cNvSpPr>
          <p:nvPr>
            <p:ph type="subTitle" idx="1"/>
          </p:nvPr>
        </p:nvSpPr>
        <p:spPr>
          <a:xfrm>
            <a:off x="701653" y="1269086"/>
            <a:ext cx="3751401" cy="32880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sz="1600" b="1" dirty="0" err="1"/>
              <a:t>Sniffing</a:t>
            </a:r>
            <a:r>
              <a:rPr lang="es-MX" sz="1600" b="1" dirty="0"/>
              <a:t>:</a:t>
            </a:r>
            <a:r>
              <a:rPr lang="es-MX" sz="1600" dirty="0"/>
              <a:t> tráfico sin cifrar que puede ser interceptado.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1" dirty="0" err="1"/>
              <a:t>Man</a:t>
            </a:r>
            <a:r>
              <a:rPr lang="es-MX" sz="1600" b="1" dirty="0"/>
              <a:t>-in-</a:t>
            </a:r>
            <a:r>
              <a:rPr lang="es-MX" sz="1600" b="1" dirty="0" err="1"/>
              <a:t>the</a:t>
            </a:r>
            <a:r>
              <a:rPr lang="es-MX" sz="1600" b="1" dirty="0"/>
              <a:t>-</a:t>
            </a:r>
            <a:r>
              <a:rPr lang="es-MX" sz="1600" b="1" dirty="0" err="1"/>
              <a:t>Middle</a:t>
            </a:r>
            <a:r>
              <a:rPr lang="es-MX" sz="1600" b="1" dirty="0"/>
              <a:t> (</a:t>
            </a:r>
            <a:r>
              <a:rPr lang="es-MX" sz="1600" b="1" dirty="0" err="1"/>
              <a:t>MitM</a:t>
            </a:r>
            <a:r>
              <a:rPr lang="es-MX" sz="1600" b="1" dirty="0"/>
              <a:t>):</a:t>
            </a:r>
            <a:r>
              <a:rPr lang="es-MX" sz="1600" dirty="0"/>
              <a:t> interceptar y modificar comunicaciones.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1" dirty="0"/>
              <a:t>ARP/DNS </a:t>
            </a:r>
            <a:r>
              <a:rPr lang="es-MX" sz="1600" b="1" dirty="0" err="1"/>
              <a:t>spoofing</a:t>
            </a:r>
            <a:r>
              <a:rPr lang="es-MX" sz="1600" b="1" dirty="0"/>
              <a:t>:</a:t>
            </a:r>
            <a:r>
              <a:rPr lang="es-MX" sz="1600" dirty="0"/>
              <a:t> suplantar equipos o servidores para redirigir tráfico.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1" dirty="0"/>
              <a:t>Ataques </a:t>
            </a:r>
            <a:r>
              <a:rPr lang="es-MX" sz="1600" b="1" dirty="0" err="1"/>
              <a:t>DoS</a:t>
            </a:r>
            <a:r>
              <a:rPr lang="es-MX" sz="1600" b="1" dirty="0"/>
              <a:t>/</a:t>
            </a:r>
            <a:r>
              <a:rPr lang="es-MX" sz="1600" b="1" dirty="0" err="1"/>
              <a:t>DDoS</a:t>
            </a:r>
            <a:r>
              <a:rPr lang="es-MX" sz="1600" b="1" dirty="0"/>
              <a:t>:</a:t>
            </a:r>
            <a:r>
              <a:rPr lang="es-MX" sz="1600" dirty="0"/>
              <a:t> saturación de servicios para dejarlos inaccesibles.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054" y="1854802"/>
            <a:ext cx="4572865" cy="245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20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dirty="0" smtClean="0"/>
              <a:t>Vulnerabilidad física</a:t>
            </a:r>
            <a:br>
              <a:rPr lang="es" sz="3600" dirty="0" smtClean="0"/>
            </a:br>
            <a:r>
              <a:rPr lang="es" sz="3600" dirty="0"/>
              <a:t/>
            </a:r>
            <a:br>
              <a:rPr lang="es" sz="3600" dirty="0"/>
            </a:br>
            <a:endParaRPr sz="3600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3851" y="1299665"/>
            <a:ext cx="6018793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Acceso físico no controlado</a:t>
            </a: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Falta de controles de ingreso (sin tarjetas, biometría o guardias).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Posibilidad de que intrusos entren a salas de servidores o puestos de trabajo.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Robo o pérdida de dispositivos</a:t>
            </a: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Laptops, celulares, discos externos o pendrives sin cifrado.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Pueden contener información sensible o credenciales.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Medios de respaldo inseguros</a:t>
            </a: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kumimoji="0" lang="es-AR" altLang="es-AR" sz="12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Backups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almacenados en el mismo lugar que los sistemas.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Riesgo de robo, incendio o desastres naturales.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Infraestructura inadecuada</a:t>
            </a: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Centros de datos sin control de temperatura, humedad o energía.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Riesgo de incendio, inundación o fallas por sobrecalentamiento.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Uso de dispositivos externos inseguros</a:t>
            </a: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Conectar pendrives desconocidos o infectados.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Permite la entrada de malware por vía física.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Falta de destrucción segura de información</a:t>
            </a: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AR" sz="12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s-AR" altLang="es-AR" sz="1200" dirty="0" smtClean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Desecho de discos, papeles o cintas sin borrado/corte seguro.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Permite recuperación de datos sensibles.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139" y="1962614"/>
            <a:ext cx="3910755" cy="260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6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dirty="0" smtClean="0"/>
              <a:t>Vulnerabilidad humana</a:t>
            </a:r>
            <a:br>
              <a:rPr lang="es" sz="3600" dirty="0" smtClean="0"/>
            </a:br>
            <a:r>
              <a:rPr lang="es" sz="3600" dirty="0"/>
              <a:t/>
            </a:r>
            <a:br>
              <a:rPr lang="es" sz="3600" dirty="0"/>
            </a:br>
            <a:endParaRPr sz="3600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4625" y="1623060"/>
            <a:ext cx="4617845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AR" altLang="es-AR" sz="1200" b="1" dirty="0">
                <a:solidFill>
                  <a:schemeClr val="bg1"/>
                </a:solidFill>
                <a:latin typeface="+mn-lt"/>
              </a:rPr>
              <a:t>I</a:t>
            </a: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ngeniería social</a:t>
            </a: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    Manipulación psicológica para obtener información o acceso.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    Ejemplos: </a:t>
            </a:r>
            <a:r>
              <a:rPr kumimoji="0" lang="es-AR" altLang="es-AR" sz="12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phishing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, </a:t>
            </a:r>
            <a:r>
              <a:rPr kumimoji="0" lang="es-AR" altLang="es-AR" sz="12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vishing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(llamadas), </a:t>
            </a:r>
            <a:r>
              <a:rPr kumimoji="0" lang="es-AR" altLang="es-AR" sz="12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smishing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(SMS)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Uso de contraseñas inseguras</a:t>
            </a: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    Contraseñas débiles (“123456”, “</a:t>
            </a:r>
            <a:r>
              <a:rPr kumimoji="0" lang="es-AR" altLang="es-AR" sz="12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admin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”) o repetidas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    Anotarlas en papel o compartirlas con otros.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Falta de capacitación en </a:t>
            </a:r>
            <a:r>
              <a:rPr kumimoji="0" lang="es-AR" altLang="es-AR" sz="1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ciberseguridad</a:t>
            </a:r>
            <a:endParaRPr kumimoji="0" lang="es-AR" altLang="es-AR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    Empleados que no saben identificar correos sospechosos.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    Caen fácilmente en fraudes o instalan software malicioso.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sz="1200" b="1" dirty="0" smtClean="0">
                <a:latin typeface="+mn-lt"/>
              </a:rPr>
              <a:t>Exposición </a:t>
            </a:r>
            <a:r>
              <a:rPr lang="es-MX" sz="1200" b="1" dirty="0">
                <a:latin typeface="+mn-lt"/>
              </a:rPr>
              <a:t>en redes sociales</a:t>
            </a:r>
            <a:endParaRPr lang="es-MX" sz="1200" dirty="0">
              <a:latin typeface="+mn-lt"/>
            </a:endParaRPr>
          </a:p>
          <a:p>
            <a:r>
              <a:rPr lang="es-MX" sz="1200" dirty="0" smtClean="0">
                <a:latin typeface="+mn-lt"/>
              </a:rPr>
              <a:t>   Publicar </a:t>
            </a:r>
            <a:r>
              <a:rPr lang="es-MX" sz="1200" dirty="0">
                <a:latin typeface="+mn-lt"/>
              </a:rPr>
              <a:t>datos sensibles (fechas, lugares, fotos </a:t>
            </a:r>
            <a:r>
              <a:rPr lang="es-MX" sz="1200" dirty="0" smtClean="0">
                <a:latin typeface="+mn-lt"/>
              </a:rPr>
              <a:t>de credenciales</a:t>
            </a:r>
            <a:r>
              <a:rPr lang="es-MX" sz="1200" dirty="0">
                <a:latin typeface="+mn-lt"/>
              </a:rPr>
              <a:t>).</a:t>
            </a:r>
          </a:p>
          <a:p>
            <a:r>
              <a:rPr lang="es-MX" sz="1200" dirty="0" smtClean="0">
                <a:latin typeface="+mn-lt"/>
              </a:rPr>
              <a:t>   Información </a:t>
            </a:r>
            <a:r>
              <a:rPr lang="es-MX" sz="1200" dirty="0">
                <a:latin typeface="+mn-lt"/>
              </a:rPr>
              <a:t>que puede usarse para ataques dirigidos (</a:t>
            </a:r>
            <a:r>
              <a:rPr lang="es-MX" sz="1200" i="1" dirty="0" err="1">
                <a:latin typeface="+mn-lt"/>
              </a:rPr>
              <a:t>spear</a:t>
            </a:r>
            <a:r>
              <a:rPr lang="es-MX" sz="1200" i="1" dirty="0">
                <a:latin typeface="+mn-lt"/>
              </a:rPr>
              <a:t> </a:t>
            </a:r>
            <a:r>
              <a:rPr lang="es-MX" sz="1200" i="1" dirty="0" err="1">
                <a:latin typeface="+mn-lt"/>
              </a:rPr>
              <a:t>phishing</a:t>
            </a:r>
            <a:r>
              <a:rPr lang="es-MX" sz="1200" dirty="0">
                <a:latin typeface="+mn-l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935" y="2291227"/>
            <a:ext cx="3171825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69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283100" y="712150"/>
            <a:ext cx="8710500" cy="38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</a:rPr>
              <a:t>Amenazas de malware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 b="0" dirty="0"/>
              <a:t>Los programas maliciosos son una de las mayores ciberamenazas a la que se exponen las empresas. Dentro del malware existen distintos tipos de amenazas, siendo las principales:</a:t>
            </a:r>
            <a:endParaRPr sz="1450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 b="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 b="0" dirty="0"/>
              <a:t>Virus</a:t>
            </a:r>
            <a:endParaRPr sz="1600" b="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 b="0" dirty="0"/>
              <a:t>Gusanos</a:t>
            </a:r>
            <a:endParaRPr sz="1600" b="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 b="0" dirty="0"/>
              <a:t>Troyanos</a:t>
            </a:r>
            <a:endParaRPr sz="1600" b="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 b="0" dirty="0" smtClean="0"/>
              <a:t>Ransomware</a:t>
            </a:r>
            <a:endParaRPr sz="1600" b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82636" y="31245"/>
            <a:ext cx="6244200" cy="1309947"/>
          </a:xfrm>
        </p:spPr>
        <p:txBody>
          <a:bodyPr/>
          <a:lstStyle/>
          <a:p>
            <a:r>
              <a:rPr lang="es" dirty="0" smtClean="0">
                <a:solidFill>
                  <a:schemeClr val="dk1"/>
                </a:solidFill>
              </a:rPr>
              <a:t>Virus</a:t>
            </a:r>
            <a:endParaRPr lang="es-AR" dirty="0"/>
          </a:p>
        </p:txBody>
      </p:sp>
      <p:sp>
        <p:nvSpPr>
          <p:cNvPr id="4" name="Rectángulo 3"/>
          <p:cNvSpPr/>
          <p:nvPr/>
        </p:nvSpPr>
        <p:spPr>
          <a:xfrm>
            <a:off x="152400" y="1464527"/>
            <a:ext cx="337138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chemeClr val="bg1"/>
                </a:solidFill>
              </a:rPr>
              <a:t>Características principales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bg1"/>
                </a:solidFill>
              </a:rPr>
              <a:t>Necesita que el usuario ejecute un archivo infectado para activarse.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bg1"/>
                </a:solidFill>
              </a:rPr>
              <a:t>Se oculta dentro de programas o documentos.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bg1"/>
                </a:solidFill>
              </a:rPr>
              <a:t>Puede corromper datos, ralentizar el sistema o inutilizarlo.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bg1"/>
                </a:solidFill>
              </a:rPr>
              <a:t>Se propaga a través de memorias USB, correos electrónicos, descargas, etc.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424" y="1341192"/>
            <a:ext cx="5598998" cy="352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44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7045" y="-113050"/>
            <a:ext cx="6244200" cy="1309947"/>
          </a:xfrm>
        </p:spPr>
        <p:txBody>
          <a:bodyPr/>
          <a:lstStyle/>
          <a:p>
            <a:r>
              <a:rPr lang="es" dirty="0" smtClean="0">
                <a:solidFill>
                  <a:schemeClr val="dk1"/>
                </a:solidFill>
              </a:rPr>
              <a:t>Gusanos</a:t>
            </a:r>
            <a:endParaRPr lang="es-AR" dirty="0"/>
          </a:p>
        </p:txBody>
      </p:sp>
      <p:sp>
        <p:nvSpPr>
          <p:cNvPr id="4" name="Rectángulo 3"/>
          <p:cNvSpPr/>
          <p:nvPr/>
        </p:nvSpPr>
        <p:spPr>
          <a:xfrm>
            <a:off x="144967" y="1285775"/>
            <a:ext cx="340855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chemeClr val="bg1"/>
                </a:solidFill>
              </a:rPr>
              <a:t>Características principales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</a:rPr>
              <a:t>Se propaga </a:t>
            </a:r>
            <a:r>
              <a:rPr lang="es-MX" sz="1600" b="1" dirty="0">
                <a:solidFill>
                  <a:schemeClr val="bg1"/>
                </a:solidFill>
              </a:rPr>
              <a:t>de forma autónoma</a:t>
            </a:r>
            <a:r>
              <a:rPr lang="es-MX" sz="1600" dirty="0">
                <a:solidFill>
                  <a:schemeClr val="bg1"/>
                </a:solidFill>
              </a:rPr>
              <a:t> aprovechando la 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</a:rPr>
              <a:t>Consume recursos del sistema y del ancho de banda.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</a:rPr>
              <a:t>Puede abrir puertas traseras o instalar otros tipos de malware.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</a:rPr>
              <a:t>Su objetivo suele ser la </a:t>
            </a:r>
            <a:r>
              <a:rPr lang="es-MX" sz="1600" b="1" dirty="0">
                <a:solidFill>
                  <a:schemeClr val="bg1"/>
                </a:solidFill>
              </a:rPr>
              <a:t>propagación masiva</a:t>
            </a:r>
            <a:r>
              <a:rPr lang="es-MX" sz="1600" dirty="0">
                <a:solidFill>
                  <a:schemeClr val="bg1"/>
                </a:solidFill>
              </a:rPr>
              <a:t>, aunque algunos también roban información o instalan </a:t>
            </a:r>
            <a:r>
              <a:rPr lang="es-MX" sz="1600" dirty="0" err="1">
                <a:solidFill>
                  <a:schemeClr val="bg1"/>
                </a:solidFill>
              </a:rPr>
              <a:t>ransomware</a:t>
            </a:r>
            <a:r>
              <a:rPr lang="es-MX" sz="1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287" y="1002179"/>
            <a:ext cx="4722534" cy="3962902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4089145" y="211750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MX" sz="1000" dirty="0" err="1">
                <a:solidFill>
                  <a:schemeClr val="bg1"/>
                </a:solidFill>
                <a:latin typeface="+mn-lt"/>
              </a:rPr>
              <a:t>Bondat</a:t>
            </a:r>
            <a:r>
              <a:rPr lang="es-MX" sz="1000" dirty="0">
                <a:solidFill>
                  <a:schemeClr val="bg1"/>
                </a:solidFill>
                <a:latin typeface="+mn-lt"/>
              </a:rPr>
              <a:t>: </a:t>
            </a:r>
            <a:r>
              <a:rPr lang="es-MX" sz="1000" dirty="0" smtClean="0">
                <a:solidFill>
                  <a:schemeClr val="bg1"/>
                </a:solidFill>
                <a:latin typeface="+mn-lt"/>
              </a:rPr>
              <a:t>gusano </a:t>
            </a:r>
            <a:r>
              <a:rPr lang="es-MX" sz="1000" dirty="0">
                <a:solidFill>
                  <a:schemeClr val="bg1"/>
                </a:solidFill>
                <a:latin typeface="+mn-lt"/>
              </a:rPr>
              <a:t>para minar </a:t>
            </a:r>
            <a:r>
              <a:rPr lang="es-MX" sz="1000" dirty="0" err="1">
                <a:solidFill>
                  <a:schemeClr val="bg1"/>
                </a:solidFill>
                <a:latin typeface="+mn-lt"/>
              </a:rPr>
              <a:t>criptomonedas</a:t>
            </a:r>
            <a:r>
              <a:rPr lang="es-MX" sz="1000" dirty="0">
                <a:solidFill>
                  <a:schemeClr val="bg1"/>
                </a:solidFill>
                <a:latin typeface="+mn-lt"/>
              </a:rPr>
              <a:t> capaz de auto propagarse a través de dispositivo USB conectados en la maquina víctima. Esto lo hace leyendo los archivos contenidos en él dispositivo y creando un acceso directo sobre estos archivos.</a:t>
            </a:r>
          </a:p>
        </p:txBody>
      </p:sp>
    </p:spTree>
    <p:extLst>
      <p:ext uri="{BB962C8B-B14F-4D97-AF65-F5344CB8AC3E}">
        <p14:creationId xmlns:p14="http://schemas.microsoft.com/office/powerpoint/2010/main" val="3218046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7045" y="-113050"/>
            <a:ext cx="6244200" cy="1309947"/>
          </a:xfrm>
        </p:spPr>
        <p:txBody>
          <a:bodyPr/>
          <a:lstStyle/>
          <a:p>
            <a:r>
              <a:rPr lang="es" dirty="0" smtClean="0">
                <a:solidFill>
                  <a:schemeClr val="dk1"/>
                </a:solidFill>
              </a:rPr>
              <a:t>Troyanos</a:t>
            </a:r>
            <a:endParaRPr lang="es-AR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08156" y="1114067"/>
            <a:ext cx="422259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 se replica por sí solo</a:t>
            </a: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(a diferencia de gusanos).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Necesita que el usuario lo descargue y ejecute.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Suele venir disfrazado de: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s-AR" altLang="es-AR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s-AR" altLang="es-AR" sz="1800" dirty="0" smtClean="0">
                <a:solidFill>
                  <a:schemeClr val="bg1"/>
                </a:solidFill>
                <a:latin typeface="Arial" panose="020B0604020202020204" pitchFamily="34" charset="0"/>
              </a:rPr>
              <a:t>    - </a:t>
            </a: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Software pirata o </a:t>
            </a:r>
            <a:r>
              <a:rPr kumimoji="0" lang="es-AR" altLang="es-AR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cracks</a:t>
            </a: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- Falsas actualizaciones.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- Archivos adjuntos en correos.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- Aplicaciones móviles falsas.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Permite al atacante </a:t>
            </a:r>
            <a:r>
              <a:rPr kumimoji="0" lang="es-AR" altLang="es-AR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tomar control total</a:t>
            </a: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del equipo infectado.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751" y="475677"/>
            <a:ext cx="4564566" cy="2571587"/>
          </a:xfrm>
          <a:prstGeom prst="rect">
            <a:avLst/>
          </a:prstGeom>
        </p:spPr>
      </p:pic>
      <p:grpSp>
        <p:nvGrpSpPr>
          <p:cNvPr id="10" name="Google Shape;98;p16"/>
          <p:cNvGrpSpPr/>
          <p:nvPr/>
        </p:nvGrpSpPr>
        <p:grpSpPr>
          <a:xfrm>
            <a:off x="7398423" y="3076467"/>
            <a:ext cx="1596894" cy="1986186"/>
            <a:chOff x="6803275" y="419419"/>
            <a:chExt cx="2212050" cy="2513020"/>
          </a:xfrm>
        </p:grpSpPr>
        <p:pic>
          <p:nvPicPr>
            <p:cNvPr id="11" name="Google Shape;99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00;p16" descr="Trozo de cinta adhesiva que pega una nota a la diapositiva"/>
            <p:cNvPicPr preferRelativeResize="0"/>
            <p:nvPr/>
          </p:nvPicPr>
          <p:blipFill rotWithShape="1">
            <a:blip r:embed="rId4">
              <a:alphaModFix/>
            </a:blip>
            <a:srcRect l="9244" t="5926" r="2118" b="10011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01;p16"/>
            <p:cNvSpPr txBox="1"/>
            <p:nvPr/>
          </p:nvSpPr>
          <p:spPr>
            <a:xfrm>
              <a:off x="6925748" y="677941"/>
              <a:ext cx="19671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lang="es-MX" sz="1500" b="1" dirty="0" smtClean="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Objetivo</a:t>
              </a:r>
              <a:endParaRPr sz="15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s" sz="1100" dirty="0" smtClean="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Los troyanos generalmente se utilizan como Speathead (punta de lanza), para insertar un ramsonware.</a:t>
              </a:r>
              <a:endParaRPr sz="1100" b="1" dirty="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081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7045" y="-113050"/>
            <a:ext cx="6244200" cy="1309947"/>
          </a:xfrm>
        </p:spPr>
        <p:txBody>
          <a:bodyPr/>
          <a:lstStyle/>
          <a:p>
            <a:r>
              <a:rPr lang="es" dirty="0" smtClean="0">
                <a:solidFill>
                  <a:schemeClr val="dk1"/>
                </a:solidFill>
              </a:rPr>
              <a:t>Ransomware</a:t>
            </a:r>
            <a:endParaRPr lang="es-AR" dirty="0"/>
          </a:p>
        </p:txBody>
      </p:sp>
      <p:grpSp>
        <p:nvGrpSpPr>
          <p:cNvPr id="14" name="Google Shape;98;p16"/>
          <p:cNvGrpSpPr/>
          <p:nvPr/>
        </p:nvGrpSpPr>
        <p:grpSpPr>
          <a:xfrm>
            <a:off x="6781388" y="2464029"/>
            <a:ext cx="2212050" cy="2537076"/>
            <a:chOff x="6803275" y="395363"/>
            <a:chExt cx="2212050" cy="2537076"/>
          </a:xfrm>
        </p:grpSpPr>
        <p:pic>
          <p:nvPicPr>
            <p:cNvPr id="15" name="Google Shape;99;p1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00;p16" descr="Trozo de cinta adhesiva que pega una nota a la diapositiva"/>
            <p:cNvPicPr preferRelativeResize="0"/>
            <p:nvPr/>
          </p:nvPicPr>
          <p:blipFill rotWithShape="1">
            <a:blip r:embed="rId3">
              <a:alphaModFix/>
            </a:blip>
            <a:srcRect l="9244" t="5926" r="2118" b="10011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01;p16"/>
            <p:cNvSpPr txBox="1"/>
            <p:nvPr/>
          </p:nvSpPr>
          <p:spPr>
            <a:xfrm>
              <a:off x="6944812" y="684234"/>
              <a:ext cx="19671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lang="es" sz="1500" b="1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Curiosidad</a:t>
              </a:r>
              <a:endParaRPr sz="1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s" sz="11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Existen grandes empresas (con áreas de help desk, atención al cliente, equipos técnicos y contabilidad) que su unidad de negocio es la generación de Ransomware y cobro de rescate de archivos.</a:t>
              </a:r>
              <a:endParaRPr sz="11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5854" y="1196897"/>
            <a:ext cx="542692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Cifra archivos con algoritmos fuertes (AES, RSA,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Muestra un mensaje de rescate (generalmente en </a:t>
            </a:r>
            <a:r>
              <a:rPr kumimoji="0" lang="es-AR" altLang="es-AR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criptomonedas</a:t>
            </a: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Puede propagarse por: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AR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s-AR" altLang="es-AR" sz="1800" dirty="0" smtClean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Correos de </a:t>
            </a:r>
            <a:r>
              <a:rPr kumimoji="0" lang="es-AR" altLang="es-AR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phishing</a:t>
            </a: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con adjuntos maliciosos.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Vulnerabilidades sin parchear (</a:t>
            </a:r>
            <a:r>
              <a:rPr kumimoji="0" lang="es-AR" altLang="es-AR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ej</a:t>
            </a: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SMB en  Windows).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Dispositivos extraíbles o descargas falsas.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Puede afectar tanto a </a:t>
            </a:r>
            <a:r>
              <a:rPr kumimoji="0" lang="es-AR" altLang="es-AR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usuarios individuales</a:t>
            </a: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como a </a:t>
            </a:r>
            <a:r>
              <a:rPr kumimoji="0" lang="es-AR" altLang="es-AR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grandes empresas</a:t>
            </a:r>
            <a:r>
              <a:rPr kumimoji="0" lang="es-AR" altLang="es-A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8272" y="563098"/>
            <a:ext cx="257175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77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title"/>
          </p:nvPr>
        </p:nvSpPr>
        <p:spPr>
          <a:xfrm>
            <a:off x="283100" y="712150"/>
            <a:ext cx="6290100" cy="38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dirty="0">
                <a:solidFill>
                  <a:schemeClr val="tx1"/>
                </a:solidFill>
              </a:rPr>
              <a:t>Ataques por denegación de </a:t>
            </a:r>
            <a:r>
              <a:rPr lang="es" sz="3600" dirty="0" smtClean="0">
                <a:solidFill>
                  <a:schemeClr val="tx1"/>
                </a:solidFill>
              </a:rPr>
              <a:t>servicio/Distribuido</a:t>
            </a:r>
            <a:endParaRPr sz="3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800" b="0" dirty="0"/>
              <a:t>Un ataque de denegación de servicio distribuido (</a:t>
            </a:r>
            <a:r>
              <a:rPr lang="es" sz="1800" b="0" i="1" dirty="0"/>
              <a:t>DDoS</a:t>
            </a:r>
            <a:r>
              <a:rPr lang="es" sz="1800" b="0" dirty="0"/>
              <a:t>) se produce cuando un servidor recibe muchas peticiones de acceso, sobrecargando el sistema y haciendo que el servidor caiga o funcione de forma incorrecta (acceso lento o rebotando mensajes de errores). Para realizar este tipo de ataques se utilizan muchos ordenadores (bots) que de forma automatizada hacen peticiones a ese servidor.</a:t>
            </a:r>
            <a:endParaRPr sz="1800" dirty="0"/>
          </a:p>
        </p:txBody>
      </p:sp>
      <p:grpSp>
        <p:nvGrpSpPr>
          <p:cNvPr id="107" name="Google Shape;107;p17"/>
          <p:cNvGrpSpPr/>
          <p:nvPr/>
        </p:nvGrpSpPr>
        <p:grpSpPr>
          <a:xfrm>
            <a:off x="6745300" y="1228626"/>
            <a:ext cx="2212050" cy="3674025"/>
            <a:chOff x="6782700" y="-17508"/>
            <a:chExt cx="2212050" cy="2871005"/>
          </a:xfrm>
        </p:grpSpPr>
        <p:pic>
          <p:nvPicPr>
            <p:cNvPr id="108" name="Google Shape;108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82700" y="154212"/>
              <a:ext cx="2212050" cy="2699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7" descr="Trozo de cinta adhesiva que pega una nota a la diapositiva"/>
            <p:cNvPicPr preferRelativeResize="0"/>
            <p:nvPr/>
          </p:nvPicPr>
          <p:blipFill rotWithShape="1">
            <a:blip r:embed="rId4">
              <a:alphaModFix/>
            </a:blip>
            <a:srcRect l="9244" t="5926" r="2118" b="10011"/>
            <a:stretch/>
          </p:blipFill>
          <p:spPr>
            <a:xfrm rot="154826">
              <a:off x="7350088" y="654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7"/>
            <p:cNvSpPr txBox="1"/>
            <p:nvPr/>
          </p:nvSpPr>
          <p:spPr>
            <a:xfrm>
              <a:off x="6944787" y="322194"/>
              <a:ext cx="1887900" cy="207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lang="es" b="1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DDoS como arma de guerra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141414"/>
                  </a:solidFill>
                  <a:highlight>
                    <a:schemeClr val="lt1"/>
                  </a:highlight>
                  <a:latin typeface="Lato"/>
                  <a:ea typeface="Lato"/>
                  <a:cs typeface="Lato"/>
                  <a:sym typeface="Lato"/>
                </a:rPr>
                <a:t>Ucrania atacó Chestny Znak (sistema de autenticación de productos y generacion de codigo de barra de Rusia) mediante DDoS provocando la caída y desconexión del mismo.</a:t>
              </a:r>
              <a:endParaRPr sz="1200">
                <a:solidFill>
                  <a:srgbClr val="141414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s" sz="1200">
                  <a:solidFill>
                    <a:srgbClr val="141414"/>
                  </a:solidFill>
                  <a:highlight>
                    <a:schemeClr val="lt1"/>
                  </a:highlight>
                  <a:latin typeface="Lato"/>
                  <a:ea typeface="Lato"/>
                  <a:cs typeface="Lato"/>
                  <a:sym typeface="Lato"/>
                </a:rPr>
                <a:t>Rusia cuenta con Killnet un grupo de 10.000 hackers atacando servicios de Ucrania y la OTAN</a:t>
              </a:r>
              <a:endParaRPr sz="1200">
                <a:solidFill>
                  <a:srgbClr val="141414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0">
                <a:solidFill>
                  <a:schemeClr val="dk2"/>
                </a:solidFill>
              </a:rPr>
              <a:t>Métodos de identificación de vulnerabilidades</a:t>
            </a:r>
            <a:endParaRPr sz="2400" b="0">
              <a:solidFill>
                <a:schemeClr val="dk2"/>
              </a:solidFill>
            </a:endParaRPr>
          </a:p>
        </p:txBody>
      </p:sp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4924300" y="899625"/>
            <a:ext cx="4045200" cy="31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 Medium"/>
              <a:buChar char="●"/>
            </a:pPr>
            <a:r>
              <a:rPr lang="es" sz="1400" b="0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Escaneo de vulnerabilidades:</a:t>
            </a:r>
            <a:r>
              <a:rPr lang="es" sz="1400" b="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Herramientas automáticas que revisan sistemas en busca de debilidades.</a:t>
            </a:r>
            <a:endParaRPr sz="1400" b="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 Medium"/>
              <a:buChar char="●"/>
            </a:pPr>
            <a:r>
              <a:rPr lang="es" sz="1400" b="0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Penetration testing (Pentesting):</a:t>
            </a:r>
            <a:r>
              <a:rPr lang="es" sz="1400" b="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Simulación de ataques controlados para identificar fallos.</a:t>
            </a:r>
            <a:endParaRPr sz="1400" b="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 Medium"/>
              <a:buChar char="●"/>
            </a:pPr>
            <a:r>
              <a:rPr lang="es" sz="1400" b="0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Monitoreo continuo:</a:t>
            </a:r>
            <a:r>
              <a:rPr lang="es" sz="1400" b="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Detección en tiempo real de amenazas.</a:t>
            </a:r>
            <a:endParaRPr sz="1400" b="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 Medium"/>
              <a:buChar char="●"/>
            </a:pPr>
            <a:r>
              <a:rPr lang="es" sz="1400" b="0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Revisión de código:</a:t>
            </a:r>
            <a:r>
              <a:rPr lang="es" sz="1400" b="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Análisis manual o automatizado del código fuente para encontrar errores.</a:t>
            </a:r>
            <a:endParaRPr sz="1400" b="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975" y="162725"/>
            <a:ext cx="49908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 descr="Trozo de cinta adhesiva que pega una nota a la diapositiva"/>
          <p:cNvPicPr preferRelativeResize="0"/>
          <p:nvPr/>
        </p:nvPicPr>
        <p:blipFill rotWithShape="1">
          <a:blip r:embed="rId4">
            <a:alphaModFix/>
          </a:blip>
          <a:srcRect l="9244" t="5926" r="2118" b="10011"/>
          <a:stretch/>
        </p:blipFill>
        <p:spPr>
          <a:xfrm rot="154828">
            <a:off x="1352725" y="85126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660425" y="867450"/>
            <a:ext cx="4436400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Herramientas para la identificación de vulnerabilidades</a:t>
            </a:r>
            <a:endParaRPr sz="20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4294967295"/>
          </p:nvPr>
        </p:nvSpPr>
        <p:spPr>
          <a:xfrm>
            <a:off x="745875" y="1652875"/>
            <a:ext cx="3550800" cy="33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Al final de este apartado, la audiencia debe ser capaz de responder a estas dos preguntas: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s" sz="1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Nmap</a:t>
            </a: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/>
            </a:r>
            <a:br>
              <a:rPr lang="es" sz="1200">
                <a:latin typeface="Raleway"/>
                <a:ea typeface="Raleway"/>
                <a:cs typeface="Raleway"/>
                <a:sym typeface="Raleway"/>
              </a:rPr>
            </a:b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Explorador de red.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s" sz="1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Nessus</a:t>
            </a:r>
            <a:r>
              <a:rPr lang="es" sz="1400">
                <a:latin typeface="Raleway"/>
                <a:ea typeface="Raleway"/>
                <a:cs typeface="Raleway"/>
                <a:sym typeface="Raleway"/>
              </a:rPr>
              <a:t/>
            </a:r>
            <a:br>
              <a:rPr lang="es" sz="1400">
                <a:latin typeface="Raleway"/>
                <a:ea typeface="Raleway"/>
                <a:cs typeface="Raleway"/>
                <a:sym typeface="Raleway"/>
              </a:rPr>
            </a:b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Escáner de vulnerabilidades.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s" sz="1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WireShark</a:t>
            </a:r>
            <a:r>
              <a:rPr lang="es" sz="1400">
                <a:latin typeface="Raleway"/>
                <a:ea typeface="Raleway"/>
                <a:cs typeface="Raleway"/>
                <a:sym typeface="Raleway"/>
              </a:rPr>
              <a:t/>
            </a:r>
            <a:br>
              <a:rPr lang="es" sz="1400">
                <a:latin typeface="Raleway"/>
                <a:ea typeface="Raleway"/>
                <a:cs typeface="Raleway"/>
                <a:sym typeface="Raleway"/>
              </a:rPr>
            </a:b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Analizador de protocolos.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s" sz="14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Hydra</a:t>
            </a:r>
            <a:r>
              <a:rPr lang="es" sz="1400">
                <a:latin typeface="Raleway"/>
                <a:ea typeface="Raleway"/>
                <a:cs typeface="Raleway"/>
                <a:sym typeface="Raleway"/>
              </a:rPr>
              <a:t/>
            </a:r>
            <a:br>
              <a:rPr lang="es" sz="1400">
                <a:latin typeface="Raleway"/>
                <a:ea typeface="Raleway"/>
                <a:cs typeface="Raleway"/>
                <a:sym typeface="Raleway"/>
              </a:rPr>
            </a:br>
            <a:r>
              <a:rPr lang="es" sz="1200">
                <a:latin typeface="Raleway"/>
                <a:ea typeface="Raleway"/>
                <a:cs typeface="Raleway"/>
                <a:sym typeface="Raleway"/>
              </a:rPr>
              <a:t>Pruebas con ataques de fuerza bruta.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0225" y="528550"/>
            <a:ext cx="1903918" cy="101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70500" y="1630050"/>
            <a:ext cx="2815758" cy="76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32524" y="2477075"/>
            <a:ext cx="1963425" cy="95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04450" y="3512725"/>
            <a:ext cx="1244375" cy="107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>
            <a:spLocks noGrp="1"/>
          </p:cNvSpPr>
          <p:nvPr>
            <p:ph type="body" idx="1"/>
          </p:nvPr>
        </p:nvSpPr>
        <p:spPr>
          <a:xfrm>
            <a:off x="6136525" y="164575"/>
            <a:ext cx="4033800" cy="10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b="1">
                <a:solidFill>
                  <a:schemeClr val="dk1"/>
                </a:solidFill>
              </a:rPr>
              <a:t>Nmap</a:t>
            </a:r>
            <a:r>
              <a:rPr lang="es" sz="3000">
                <a:solidFill>
                  <a:schemeClr val="dk1"/>
                </a:solidFill>
              </a:rPr>
              <a:t> </a:t>
            </a: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endParaRPr sz="1800">
              <a:solidFill>
                <a:srgbClr val="000000"/>
              </a:solidFill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25" y="206650"/>
            <a:ext cx="5255226" cy="330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125" y="3511875"/>
            <a:ext cx="4077975" cy="1521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20"/>
          <p:cNvGrpSpPr/>
          <p:nvPr/>
        </p:nvGrpSpPr>
        <p:grpSpPr>
          <a:xfrm>
            <a:off x="6136513" y="1088779"/>
            <a:ext cx="2212050" cy="2537076"/>
            <a:chOff x="6803275" y="395363"/>
            <a:chExt cx="2212050" cy="2537076"/>
          </a:xfrm>
        </p:grpSpPr>
        <p:pic>
          <p:nvPicPr>
            <p:cNvPr id="137" name="Google Shape;13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20" descr="Trozo de cinta adhesiva que pega una nota a la diapositiva"/>
            <p:cNvPicPr preferRelativeResize="0"/>
            <p:nvPr/>
          </p:nvPicPr>
          <p:blipFill rotWithShape="1">
            <a:blip r:embed="rId6">
              <a:alphaModFix/>
            </a:blip>
            <a:srcRect l="9244" t="5926" r="2118" b="10011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20"/>
            <p:cNvSpPr txBox="1"/>
            <p:nvPr/>
          </p:nvSpPr>
          <p:spPr>
            <a:xfrm>
              <a:off x="6944812" y="684234"/>
              <a:ext cx="19671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lang="es" sz="1500" b="1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Curiosidad</a:t>
              </a:r>
              <a:endParaRPr sz="1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s" sz="11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Nmap se ha vuelto muy popular no solo por su prestancia sino también por aparecer en películas como The Matrix y la serie Mr. Robot.</a:t>
              </a:r>
              <a:endParaRPr sz="11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>
            <a:spLocks noGrp="1"/>
          </p:cNvSpPr>
          <p:nvPr>
            <p:ph type="subTitle" idx="1"/>
          </p:nvPr>
        </p:nvSpPr>
        <p:spPr>
          <a:xfrm>
            <a:off x="428650" y="195275"/>
            <a:ext cx="4045200" cy="38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b="1">
                <a:solidFill>
                  <a:schemeClr val="dk1"/>
                </a:solidFill>
              </a:rPr>
              <a:t>Nessus</a:t>
            </a:r>
            <a:endParaRPr sz="30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30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30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30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30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/>
          </a:p>
        </p:txBody>
      </p:sp>
      <p:grpSp>
        <p:nvGrpSpPr>
          <p:cNvPr id="145" name="Google Shape;145;p21"/>
          <p:cNvGrpSpPr/>
          <p:nvPr/>
        </p:nvGrpSpPr>
        <p:grpSpPr>
          <a:xfrm>
            <a:off x="6773613" y="2215410"/>
            <a:ext cx="2212050" cy="2537076"/>
            <a:chOff x="6803275" y="395363"/>
            <a:chExt cx="2212050" cy="2537076"/>
          </a:xfrm>
        </p:grpSpPr>
        <p:pic>
          <p:nvPicPr>
            <p:cNvPr id="146" name="Google Shape;14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21" descr="Trozo de cinta adhesiva que pega una nota a la diapositiva"/>
            <p:cNvPicPr preferRelativeResize="0"/>
            <p:nvPr/>
          </p:nvPicPr>
          <p:blipFill rotWithShape="1">
            <a:blip r:embed="rId4">
              <a:alphaModFix/>
            </a:blip>
            <a:srcRect l="9244" t="5926" r="2118" b="10011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21"/>
            <p:cNvSpPr txBox="1"/>
            <p:nvPr/>
          </p:nvSpPr>
          <p:spPr>
            <a:xfrm>
              <a:off x="6944812" y="684228"/>
              <a:ext cx="1929000" cy="209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b="1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Ejemplos de uso de Nessus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s" sz="11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- Una empresa de software necesita saber si sus aplicaciones web no contienen vulnerabilidades.</a:t>
              </a:r>
              <a:endParaRPr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s" sz="11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- Organización que debe aplicar auditoría de cumplimiento</a:t>
              </a:r>
              <a:endParaRPr sz="1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149" name="Google Shape;14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951" y="637275"/>
            <a:ext cx="6209451" cy="4115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dk1"/>
                </a:solidFill>
              </a:rPr>
              <a:t>Wireshark</a:t>
            </a:r>
            <a:endParaRPr sz="3600">
              <a:solidFill>
                <a:schemeClr val="dk1"/>
              </a:solidFill>
            </a:endParaRPr>
          </a:p>
        </p:txBody>
      </p:sp>
      <p:grpSp>
        <p:nvGrpSpPr>
          <p:cNvPr id="155" name="Google Shape;155;p22"/>
          <p:cNvGrpSpPr/>
          <p:nvPr/>
        </p:nvGrpSpPr>
        <p:grpSpPr>
          <a:xfrm>
            <a:off x="6835788" y="2161035"/>
            <a:ext cx="2212050" cy="2537076"/>
            <a:chOff x="6803275" y="395363"/>
            <a:chExt cx="2212050" cy="2537076"/>
          </a:xfrm>
        </p:grpSpPr>
        <p:pic>
          <p:nvPicPr>
            <p:cNvPr id="156" name="Google Shape;156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2" descr="Trozo de cinta adhesiva que pega una nota a la diapositiva"/>
            <p:cNvPicPr preferRelativeResize="0"/>
            <p:nvPr/>
          </p:nvPicPr>
          <p:blipFill rotWithShape="1">
            <a:blip r:embed="rId4">
              <a:alphaModFix/>
            </a:blip>
            <a:srcRect l="9244" t="5926" r="2118" b="10011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22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b="1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¿Que es?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s" sz="1200">
                  <a:solidFill>
                    <a:srgbClr val="475467"/>
                  </a:solidFill>
                  <a:highlight>
                    <a:srgbClr val="FFFFFF"/>
                  </a:highlight>
                  <a:latin typeface="Raleway Medium"/>
                  <a:ea typeface="Raleway Medium"/>
                  <a:cs typeface="Raleway Medium"/>
                  <a:sym typeface="Raleway Medium"/>
                </a:rPr>
                <a:t>Wireshark es un analizador de protocolos de red o un sniffer de paquetes. Es capaz de capturar paquetes en una LAN.</a:t>
              </a:r>
              <a:endParaRPr sz="1200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pic>
        <p:nvPicPr>
          <p:cNvPr id="159" name="Google Shape;15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298" y="1331925"/>
            <a:ext cx="6360575" cy="34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283000" y="297900"/>
            <a:ext cx="4289100" cy="4547700"/>
          </a:xfrm>
          <a:prstGeom prst="rect">
            <a:avLst/>
          </a:prstGeom>
          <a:solidFill>
            <a:srgbClr val="000000">
              <a:alpha val="769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4294967295"/>
          </p:nvPr>
        </p:nvSpPr>
        <p:spPr>
          <a:xfrm>
            <a:off x="481300" y="529650"/>
            <a:ext cx="4151100" cy="408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b="1">
                <a:solidFill>
                  <a:schemeClr val="accent5"/>
                </a:solidFill>
              </a:rPr>
              <a:t>Hydra</a:t>
            </a:r>
            <a:endParaRPr sz="2800" b="1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Es una herramienta de fuerza bruta de código abierto que se utiliza para probar la seguridad de contraseñas en una amplia variedad de servicios de red, como FTP, SSH, Telnet, HTTP.</a:t>
            </a:r>
            <a:endParaRPr sz="14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Bruteforce de usuario y contraseña:</a:t>
            </a:r>
            <a:endParaRPr sz="14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93C47D"/>
                </a:solidFill>
                <a:latin typeface="Courier New"/>
                <a:ea typeface="Courier New"/>
                <a:cs typeface="Courier New"/>
                <a:sym typeface="Courier New"/>
              </a:rPr>
              <a:t>hydra</a:t>
            </a:r>
            <a:r>
              <a:rPr lang="es" sz="105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-L /usr/share/wordlists/users.txt -P /usr/share/wordlists/rockyou.txt http://</a:t>
            </a:r>
            <a:r>
              <a:rPr lang="es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&lt;IP_Address&gt;</a:t>
            </a:r>
            <a:endParaRPr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35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100" y="297900"/>
            <a:ext cx="4488999" cy="2901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23"/>
          <p:cNvGrpSpPr/>
          <p:nvPr/>
        </p:nvGrpSpPr>
        <p:grpSpPr>
          <a:xfrm>
            <a:off x="5827113" y="3198973"/>
            <a:ext cx="3150640" cy="1909911"/>
            <a:chOff x="6803275" y="395363"/>
            <a:chExt cx="2212062" cy="2537076"/>
          </a:xfrm>
        </p:grpSpPr>
        <p:pic>
          <p:nvPicPr>
            <p:cNvPr id="168" name="Google Shape;168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23" descr="Trozo de cinta adhesiva que pega una nota a la diapositiva"/>
            <p:cNvPicPr preferRelativeResize="0"/>
            <p:nvPr/>
          </p:nvPicPr>
          <p:blipFill rotWithShape="1">
            <a:blip r:embed="rId5">
              <a:alphaModFix/>
            </a:blip>
            <a:srcRect l="9244" t="5926" r="2118" b="10011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23"/>
            <p:cNvSpPr txBox="1"/>
            <p:nvPr/>
          </p:nvSpPr>
          <p:spPr>
            <a:xfrm>
              <a:off x="7026937" y="677951"/>
              <a:ext cx="19884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b="1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Nota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s" sz="1100">
                  <a:solidFill>
                    <a:schemeClr val="dk2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Este tipo de técnicas son muy invasivas, ya que vamos a realizar ataques de fuerza bruta a distintos sistemas, por lo que no podemos utilizar estas técnicas sin un consentimiento o aprobación por parte del objetivo</a:t>
              </a:r>
              <a:endParaRPr sz="1100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body" idx="1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b="1" dirty="0" smtClean="0">
                <a:solidFill>
                  <a:schemeClr val="dk1"/>
                </a:solidFill>
              </a:rPr>
              <a:t>Jueves 18/9 </a:t>
            </a:r>
            <a:r>
              <a:rPr lang="es" sz="3000" b="1" dirty="0">
                <a:solidFill>
                  <a:schemeClr val="dk1"/>
                </a:solidFill>
              </a:rPr>
              <a:t>exponer malware </a:t>
            </a:r>
            <a:r>
              <a:rPr lang="es" sz="3000" b="1" dirty="0" smtClean="0">
                <a:solidFill>
                  <a:schemeClr val="dk1"/>
                </a:solidFill>
              </a:rPr>
              <a:t>o amenaza elegida</a:t>
            </a:r>
            <a:endParaRPr sz="3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800" dirty="0">
                <a:solidFill>
                  <a:srgbClr val="000000"/>
                </a:solidFill>
              </a:rPr>
              <a:t>Grupos de </a:t>
            </a:r>
            <a:r>
              <a:rPr lang="es" sz="1800" dirty="0" smtClean="0">
                <a:solidFill>
                  <a:srgbClr val="000000"/>
                </a:solidFill>
              </a:rPr>
              <a:t>5 </a:t>
            </a:r>
            <a:r>
              <a:rPr lang="es" sz="1800" dirty="0">
                <a:solidFill>
                  <a:srgbClr val="000000"/>
                </a:solidFill>
              </a:rPr>
              <a:t>alumnos exponen (no más de 30 min) algún tipo de amenaza: troyano, ransomware, </a:t>
            </a:r>
            <a:r>
              <a:rPr lang="es" sz="1800" dirty="0" smtClean="0">
                <a:solidFill>
                  <a:srgbClr val="000000"/>
                </a:solidFill>
              </a:rPr>
              <a:t>DDoS, etc. </a:t>
            </a:r>
            <a:r>
              <a:rPr lang="es" sz="1800" dirty="0">
                <a:solidFill>
                  <a:srgbClr val="000000"/>
                </a:solidFill>
              </a:rPr>
              <a:t>Explicación, ejemplos y formas de mitigarlos.</a:t>
            </a:r>
            <a:endParaRPr sz="1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1229</Words>
  <Application>Microsoft Office PowerPoint</Application>
  <PresentationFormat>Presentación en pantalla (16:9)</PresentationFormat>
  <Paragraphs>137</Paragraphs>
  <Slides>21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Lato</vt:lpstr>
      <vt:lpstr>Courier New</vt:lpstr>
      <vt:lpstr>Raleway</vt:lpstr>
      <vt:lpstr>Arial</vt:lpstr>
      <vt:lpstr>Raleway Medium</vt:lpstr>
      <vt:lpstr>Swiss</vt:lpstr>
      <vt:lpstr>Vulnerabilidades y amenazas</vt:lpstr>
      <vt:lpstr>Vulnerabilidades</vt:lpstr>
      <vt:lpstr>Presentación de PowerPoint</vt:lpstr>
      <vt:lpstr>Vulnerabilidad de Software  </vt:lpstr>
      <vt:lpstr>Vulnerabilidad de Configuración  </vt:lpstr>
      <vt:lpstr>Vulnerabilidad de Red  </vt:lpstr>
      <vt:lpstr>Vulnerabilidad física  </vt:lpstr>
      <vt:lpstr>Vulnerabilidad humana  </vt:lpstr>
      <vt:lpstr>Amenazas de malware Los programas maliciosos son una de las mayores ciberamenazas a la que se exponen las empresas. Dentro del malware existen distintos tipos de amenazas, siendo las principales:  Virus Gusanos Troyanos Ransomware</vt:lpstr>
      <vt:lpstr>Virus</vt:lpstr>
      <vt:lpstr>Gusanos</vt:lpstr>
      <vt:lpstr>Troyanos</vt:lpstr>
      <vt:lpstr>Ransomware</vt:lpstr>
      <vt:lpstr>Ataques por denegación de servicio/Distribuido Un ataque de denegación de servicio distribuido (DDoS) se produce cuando un servidor recibe muchas peticiones de acceso, sobrecargando el sistema y haciendo que el servidor caiga o funcione de forma incorrecta (acceso lento o rebotando mensajes de errores). Para realizar este tipo de ataques se utilizan muchos ordenadores (bots) que de forma automatizada hacen peticiones a ese servidor.</vt:lpstr>
      <vt:lpstr>Métodos de identificación de vulnerabilidades</vt:lpstr>
      <vt:lpstr>Presentación de PowerPoint</vt:lpstr>
      <vt:lpstr>Presentación de PowerPoint</vt:lpstr>
      <vt:lpstr>Presentación de PowerPoint</vt:lpstr>
      <vt:lpstr>Wireshark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Vulnerabilidades y amenazas</dc:title>
  <cp:lastModifiedBy>Mariano</cp:lastModifiedBy>
  <cp:revision>17</cp:revision>
  <dcterms:modified xsi:type="dcterms:W3CDTF">2025-09-04T19:44:44Z</dcterms:modified>
</cp:coreProperties>
</file>