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8" r:id="rId3"/>
    <p:sldId id="261" r:id="rId4"/>
    <p:sldId id="262" r:id="rId5"/>
    <p:sldId id="263" r:id="rId6"/>
    <p:sldId id="291" r:id="rId7"/>
    <p:sldId id="293" r:id="rId8"/>
    <p:sldId id="292" r:id="rId9"/>
    <p:sldId id="295" r:id="rId10"/>
    <p:sldId id="274" r:id="rId11"/>
    <p:sldId id="294" r:id="rId12"/>
    <p:sldId id="296" r:id="rId13"/>
    <p:sldId id="297" r:id="rId14"/>
    <p:sldId id="298" r:id="rId15"/>
    <p:sldId id="299" r:id="rId16"/>
    <p:sldId id="300" r:id="rId17"/>
    <p:sldId id="301" r:id="rId18"/>
    <p:sldId id="302" r:id="rId19"/>
    <p:sldId id="303" r:id="rId20"/>
    <p:sldId id="305" r:id="rId21"/>
    <p:sldId id="307" r:id="rId22"/>
    <p:sldId id="306" r:id="rId23"/>
    <p:sldId id="273" r:id="rId24"/>
  </p:sldIdLst>
  <p:sldSz cx="12192000" cy="6858000"/>
  <p:notesSz cx="6858000" cy="9144000"/>
  <p:embeddedFontLst>
    <p:embeddedFont>
      <p:font typeface="Calibri" panose="020F0502020204030204" pitchFamily="34" charset="0"/>
      <p:regular r:id="rId26"/>
      <p:bold r:id="rId27"/>
      <p:italic r:id="rId28"/>
      <p:boldItalic r:id="rId29"/>
    </p:embeddedFont>
    <p:embeddedFont>
      <p:font typeface="Gill Sans" panose="020B0604020202020204" charset="0"/>
      <p:regular r:id="rId30"/>
      <p:bold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2" roundtripDataSignature="AMtx7mgRsv/yEuYVlJLWJEnGbw0W7Gs8F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91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 name="Google Shape;99;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1" name="Google Shape;161;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8" name="Google Shape;168;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8" name="Google Shape;168;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397053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8" name="Google Shape;168;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21492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8" name="Google Shape;168;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174406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8" name="Google Shape;168;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235419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8" name="Google Shape;168;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750420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8" name="Google Shape;168;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931712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8" name="Google Shape;168;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26156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8" name="Google Shape;168;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569629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8" name="Google Shape;168;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775961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8" name="Google Shape;168;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906367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8" name="Google Shape;168;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254992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8" name="Google Shape;168;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270196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8" name="Google Shape;168;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820033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8" name="Google Shape;168;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453576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8" name="Google Shape;168;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500783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8" name="Google Shape;168;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649109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8" name="Google Shape;168;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352207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6" name="Google Shape;236;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7" name="Google Shape;237;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8"/>
        <p:cNvGrpSpPr/>
        <p:nvPr/>
      </p:nvGrpSpPr>
      <p:grpSpPr>
        <a:xfrm>
          <a:off x="0" y="0"/>
          <a:ext cx="0" cy="0"/>
          <a:chOff x="0" y="0"/>
          <a:chExt cx="0" cy="0"/>
        </a:xfrm>
      </p:grpSpPr>
      <p:sp>
        <p:nvSpPr>
          <p:cNvPr id="19" name="Google Shape;19;p8"/>
          <p:cNvSpPr/>
          <p:nvPr/>
        </p:nvSpPr>
        <p:spPr>
          <a:xfrm>
            <a:off x="446534" y="3085765"/>
            <a:ext cx="11262866" cy="3304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8"/>
          <p:cNvSpPr txBox="1">
            <a:spLocks noGrp="1"/>
          </p:cNvSpPr>
          <p:nvPr>
            <p:ph type="ctrTitle"/>
          </p:nvPr>
        </p:nvSpPr>
        <p:spPr>
          <a:xfrm>
            <a:off x="581191" y="1020431"/>
            <a:ext cx="10993549" cy="1475013"/>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8"/>
          <p:cNvSpPr txBox="1">
            <a:spLocks noGrp="1"/>
          </p:cNvSpPr>
          <p:nvPr>
            <p:ph type="subTitle" idx="1"/>
          </p:nvPr>
        </p:nvSpPr>
        <p:spPr>
          <a:xfrm>
            <a:off x="581194" y="2495445"/>
            <a:ext cx="10993546" cy="590321"/>
          </a:xfrm>
          <a:prstGeom prst="rect">
            <a:avLst/>
          </a:prstGeom>
          <a:noFill/>
          <a:ln>
            <a:noFill/>
          </a:ln>
        </p:spPr>
        <p:txBody>
          <a:bodyPr spcFirstLastPara="1" wrap="square" lIns="91425" tIns="45700" rIns="91425" bIns="45700" anchor="t" anchorCtr="0">
            <a:normAutofit/>
          </a:bodyPr>
          <a:lstStyle>
            <a:lvl1pPr lvl="0" algn="l">
              <a:lnSpc>
                <a:spcPct val="100000"/>
              </a:lnSpc>
              <a:spcBef>
                <a:spcPts val="320"/>
              </a:spcBef>
              <a:spcAft>
                <a:spcPts val="0"/>
              </a:spcAft>
              <a:buSzPts val="1472"/>
              <a:buNone/>
              <a:defRPr sz="1600" cap="none">
                <a:solidFill>
                  <a:schemeClr val="accent2"/>
                </a:solidFill>
              </a:defRPr>
            </a:lvl1pPr>
            <a:lvl2pPr lvl="1" algn="ctr">
              <a:lnSpc>
                <a:spcPct val="100000"/>
              </a:lnSpc>
              <a:spcBef>
                <a:spcPts val="600"/>
              </a:spcBef>
              <a:spcAft>
                <a:spcPts val="0"/>
              </a:spcAft>
              <a:buSzPts val="1472"/>
              <a:buNone/>
              <a:defRPr>
                <a:solidFill>
                  <a:srgbClr val="888888"/>
                </a:solidFill>
              </a:defRPr>
            </a:lvl2pPr>
            <a:lvl3pPr lvl="2" algn="ctr">
              <a:lnSpc>
                <a:spcPct val="100000"/>
              </a:lnSpc>
              <a:spcBef>
                <a:spcPts val="600"/>
              </a:spcBef>
              <a:spcAft>
                <a:spcPts val="0"/>
              </a:spcAft>
              <a:buSzPts val="1288"/>
              <a:buNone/>
              <a:defRPr>
                <a:solidFill>
                  <a:srgbClr val="888888"/>
                </a:solidFill>
              </a:defRPr>
            </a:lvl3pPr>
            <a:lvl4pPr lvl="3" algn="ctr">
              <a:lnSpc>
                <a:spcPct val="100000"/>
              </a:lnSpc>
              <a:spcBef>
                <a:spcPts val="600"/>
              </a:spcBef>
              <a:spcAft>
                <a:spcPts val="0"/>
              </a:spcAft>
              <a:buSzPts val="1104"/>
              <a:buNone/>
              <a:defRPr>
                <a:solidFill>
                  <a:srgbClr val="888888"/>
                </a:solidFill>
              </a:defRPr>
            </a:lvl4pPr>
            <a:lvl5pPr lvl="4" algn="ctr">
              <a:lnSpc>
                <a:spcPct val="100000"/>
              </a:lnSpc>
              <a:spcBef>
                <a:spcPts val="600"/>
              </a:spcBef>
              <a:spcAft>
                <a:spcPts val="0"/>
              </a:spcAft>
              <a:buSzPts val="1104"/>
              <a:buNone/>
              <a:defRPr>
                <a:solidFill>
                  <a:srgbClr val="888888"/>
                </a:solidFill>
              </a:defRPr>
            </a:lvl5pPr>
            <a:lvl6pPr lvl="5" algn="ctr">
              <a:lnSpc>
                <a:spcPct val="100000"/>
              </a:lnSpc>
              <a:spcBef>
                <a:spcPts val="600"/>
              </a:spcBef>
              <a:spcAft>
                <a:spcPts val="0"/>
              </a:spcAft>
              <a:buSzPts val="1104"/>
              <a:buNone/>
              <a:defRPr>
                <a:solidFill>
                  <a:srgbClr val="888888"/>
                </a:solidFill>
              </a:defRPr>
            </a:lvl6pPr>
            <a:lvl7pPr lvl="6" algn="ctr">
              <a:lnSpc>
                <a:spcPct val="100000"/>
              </a:lnSpc>
              <a:spcBef>
                <a:spcPts val="600"/>
              </a:spcBef>
              <a:spcAft>
                <a:spcPts val="0"/>
              </a:spcAft>
              <a:buSzPts val="1104"/>
              <a:buNone/>
              <a:defRPr>
                <a:solidFill>
                  <a:srgbClr val="888888"/>
                </a:solidFill>
              </a:defRPr>
            </a:lvl7pPr>
            <a:lvl8pPr lvl="7" algn="ctr">
              <a:lnSpc>
                <a:spcPct val="100000"/>
              </a:lnSpc>
              <a:spcBef>
                <a:spcPts val="600"/>
              </a:spcBef>
              <a:spcAft>
                <a:spcPts val="0"/>
              </a:spcAft>
              <a:buSzPts val="1104"/>
              <a:buNone/>
              <a:defRPr>
                <a:solidFill>
                  <a:srgbClr val="888888"/>
                </a:solidFill>
              </a:defRPr>
            </a:lvl8pPr>
            <a:lvl9pPr lvl="8" algn="ctr">
              <a:lnSpc>
                <a:spcPct val="100000"/>
              </a:lnSpc>
              <a:spcBef>
                <a:spcPts val="600"/>
              </a:spcBef>
              <a:spcAft>
                <a:spcPts val="600"/>
              </a:spcAft>
              <a:buSzPts val="1104"/>
              <a:buNone/>
              <a:defRPr>
                <a:solidFill>
                  <a:srgbClr val="888888"/>
                </a:solidFill>
              </a:defRPr>
            </a:lvl9pPr>
          </a:lstStyle>
          <a:p>
            <a:endParaRPr/>
          </a:p>
        </p:txBody>
      </p:sp>
      <p:sp>
        <p:nvSpPr>
          <p:cNvPr id="22" name="Google Shape;22;p8"/>
          <p:cNvSpPr txBox="1">
            <a:spLocks noGrp="1"/>
          </p:cNvSpPr>
          <p:nvPr>
            <p:ph type="dt" idx="10"/>
          </p:nvPr>
        </p:nvSpPr>
        <p:spPr>
          <a:xfrm>
            <a:off x="7605951" y="5956137"/>
            <a:ext cx="28448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8"/>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8"/>
          <p:cNvSpPr txBox="1">
            <a:spLocks noGrp="1"/>
          </p:cNvSpPr>
          <p:nvPr>
            <p:ph type="sldNum" idx="12"/>
          </p:nvPr>
        </p:nvSpPr>
        <p:spPr>
          <a:xfrm>
            <a:off x="10558300" y="5956137"/>
            <a:ext cx="101644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2"/>
        <p:cNvGrpSpPr/>
        <p:nvPr/>
      </p:nvGrpSpPr>
      <p:grpSpPr>
        <a:xfrm>
          <a:off x="0" y="0"/>
          <a:ext cx="0" cy="0"/>
          <a:chOff x="0" y="0"/>
          <a:chExt cx="0" cy="0"/>
        </a:xfrm>
      </p:grpSpPr>
      <p:sp>
        <p:nvSpPr>
          <p:cNvPr id="33" name="Google Shape;33;p10"/>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10"/>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581193" y="2228003"/>
            <a:ext cx="5422390"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36" name="Google Shape;36;p10"/>
          <p:cNvSpPr txBox="1">
            <a:spLocks noGrp="1"/>
          </p:cNvSpPr>
          <p:nvPr>
            <p:ph type="body" idx="2"/>
          </p:nvPr>
        </p:nvSpPr>
        <p:spPr>
          <a:xfrm>
            <a:off x="6188417" y="2228003"/>
            <a:ext cx="5422392"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37" name="Google Shape;37;p10"/>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0"/>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0"/>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40"/>
        <p:cNvGrpSpPr/>
        <p:nvPr/>
      </p:nvGrpSpPr>
      <p:grpSpPr>
        <a:xfrm>
          <a:off x="0" y="0"/>
          <a:ext cx="0" cy="0"/>
          <a:chOff x="0" y="0"/>
          <a:chExt cx="0" cy="0"/>
        </a:xfrm>
      </p:grpSpPr>
      <p:sp>
        <p:nvSpPr>
          <p:cNvPr id="41" name="Google Shape;41;p11"/>
          <p:cNvSpPr/>
          <p:nvPr/>
        </p:nvSpPr>
        <p:spPr>
          <a:xfrm>
            <a:off x="447817" y="5141974"/>
            <a:ext cx="11290860"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11"/>
          <p:cNvSpPr txBox="1">
            <a:spLocks noGrp="1"/>
          </p:cNvSpPr>
          <p:nvPr>
            <p:ph type="title"/>
          </p:nvPr>
        </p:nvSpPr>
        <p:spPr>
          <a:xfrm>
            <a:off x="581193" y="3043910"/>
            <a:ext cx="11029615" cy="1497507"/>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b="0" cap="none">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1"/>
          <p:cNvSpPr txBox="1">
            <a:spLocks noGrp="1"/>
          </p:cNvSpPr>
          <p:nvPr>
            <p:ph type="body" idx="1"/>
          </p:nvPr>
        </p:nvSpPr>
        <p:spPr>
          <a:xfrm>
            <a:off x="581192" y="4541417"/>
            <a:ext cx="11029615" cy="600556"/>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1656"/>
              <a:buNone/>
              <a:defRPr sz="1800" cap="none">
                <a:solidFill>
                  <a:schemeClr val="accent2"/>
                </a:solidFill>
              </a:defRPr>
            </a:lvl1pPr>
            <a:lvl2pPr marL="914400" lvl="1" indent="-228600" algn="l">
              <a:lnSpc>
                <a:spcPct val="100000"/>
              </a:lnSpc>
              <a:spcBef>
                <a:spcPts val="600"/>
              </a:spcBef>
              <a:spcAft>
                <a:spcPts val="0"/>
              </a:spcAft>
              <a:buSzPts val="1656"/>
              <a:buNone/>
              <a:defRPr sz="1800">
                <a:solidFill>
                  <a:srgbClr val="888888"/>
                </a:solidFill>
              </a:defRPr>
            </a:lvl2pPr>
            <a:lvl3pPr marL="1371600" lvl="2" indent="-228600" algn="l">
              <a:lnSpc>
                <a:spcPct val="100000"/>
              </a:lnSpc>
              <a:spcBef>
                <a:spcPts val="600"/>
              </a:spcBef>
              <a:spcAft>
                <a:spcPts val="0"/>
              </a:spcAft>
              <a:buSzPts val="1472"/>
              <a:buNone/>
              <a:defRPr sz="1600">
                <a:solidFill>
                  <a:srgbClr val="888888"/>
                </a:solidFill>
              </a:defRPr>
            </a:lvl3pPr>
            <a:lvl4pPr marL="1828800" lvl="3" indent="-228600" algn="l">
              <a:lnSpc>
                <a:spcPct val="100000"/>
              </a:lnSpc>
              <a:spcBef>
                <a:spcPts val="600"/>
              </a:spcBef>
              <a:spcAft>
                <a:spcPts val="0"/>
              </a:spcAft>
              <a:buSzPts val="1288"/>
              <a:buNone/>
              <a:defRPr sz="1400">
                <a:solidFill>
                  <a:srgbClr val="888888"/>
                </a:solidFill>
              </a:defRPr>
            </a:lvl4pPr>
            <a:lvl5pPr marL="2286000" lvl="4" indent="-228600" algn="l">
              <a:lnSpc>
                <a:spcPct val="100000"/>
              </a:lnSpc>
              <a:spcBef>
                <a:spcPts val="600"/>
              </a:spcBef>
              <a:spcAft>
                <a:spcPts val="0"/>
              </a:spcAft>
              <a:buSzPts val="1288"/>
              <a:buNone/>
              <a:defRPr sz="1400">
                <a:solidFill>
                  <a:srgbClr val="888888"/>
                </a:solidFill>
              </a:defRPr>
            </a:lvl5pPr>
            <a:lvl6pPr marL="2743200" lvl="5" indent="-228600" algn="l">
              <a:lnSpc>
                <a:spcPct val="100000"/>
              </a:lnSpc>
              <a:spcBef>
                <a:spcPts val="600"/>
              </a:spcBef>
              <a:spcAft>
                <a:spcPts val="0"/>
              </a:spcAft>
              <a:buSzPts val="1288"/>
              <a:buNone/>
              <a:defRPr sz="1400">
                <a:solidFill>
                  <a:srgbClr val="888888"/>
                </a:solidFill>
              </a:defRPr>
            </a:lvl6pPr>
            <a:lvl7pPr marL="3200400" lvl="6" indent="-228600" algn="l">
              <a:lnSpc>
                <a:spcPct val="100000"/>
              </a:lnSpc>
              <a:spcBef>
                <a:spcPts val="600"/>
              </a:spcBef>
              <a:spcAft>
                <a:spcPts val="0"/>
              </a:spcAft>
              <a:buSzPts val="1288"/>
              <a:buNone/>
              <a:defRPr sz="1400">
                <a:solidFill>
                  <a:srgbClr val="888888"/>
                </a:solidFill>
              </a:defRPr>
            </a:lvl7pPr>
            <a:lvl8pPr marL="3657600" lvl="7" indent="-228600" algn="l">
              <a:lnSpc>
                <a:spcPct val="100000"/>
              </a:lnSpc>
              <a:spcBef>
                <a:spcPts val="600"/>
              </a:spcBef>
              <a:spcAft>
                <a:spcPts val="0"/>
              </a:spcAft>
              <a:buSzPts val="1288"/>
              <a:buNone/>
              <a:defRPr sz="1400">
                <a:solidFill>
                  <a:srgbClr val="888888"/>
                </a:solidFill>
              </a:defRPr>
            </a:lvl8pPr>
            <a:lvl9pPr marL="4114800" lvl="8" indent="-228600" algn="l">
              <a:lnSpc>
                <a:spcPct val="100000"/>
              </a:lnSpc>
              <a:spcBef>
                <a:spcPts val="600"/>
              </a:spcBef>
              <a:spcAft>
                <a:spcPts val="600"/>
              </a:spcAft>
              <a:buSzPts val="1288"/>
              <a:buNone/>
              <a:defRPr sz="1400">
                <a:solidFill>
                  <a:srgbClr val="888888"/>
                </a:solidFill>
              </a:defRPr>
            </a:lvl9pPr>
          </a:lstStyle>
          <a:p>
            <a:endParaRPr/>
          </a:p>
        </p:txBody>
      </p:sp>
      <p:sp>
        <p:nvSpPr>
          <p:cNvPr id="44" name="Google Shape;44;p11"/>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1"/>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7"/>
        <p:cNvGrpSpPr/>
        <p:nvPr/>
      </p:nvGrpSpPr>
      <p:grpSpPr>
        <a:xfrm>
          <a:off x="0" y="0"/>
          <a:ext cx="0" cy="0"/>
          <a:chOff x="0" y="0"/>
          <a:chExt cx="0" cy="0"/>
        </a:xfrm>
      </p:grpSpPr>
      <p:sp>
        <p:nvSpPr>
          <p:cNvPr id="48" name="Google Shape;48;p12"/>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 name="Google Shape;49;p12"/>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12"/>
          <p:cNvSpPr txBox="1">
            <a:spLocks noGrp="1"/>
          </p:cNvSpPr>
          <p:nvPr>
            <p:ph type="body" idx="1"/>
          </p:nvPr>
        </p:nvSpPr>
        <p:spPr>
          <a:xfrm>
            <a:off x="887219" y="2250892"/>
            <a:ext cx="5087075" cy="536005"/>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51" name="Google Shape;51;p12"/>
          <p:cNvSpPr txBox="1">
            <a:spLocks noGrp="1"/>
          </p:cNvSpPr>
          <p:nvPr>
            <p:ph type="body" idx="2"/>
          </p:nvPr>
        </p:nvSpPr>
        <p:spPr>
          <a:xfrm>
            <a:off x="581194"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52" name="Google Shape;52;p12"/>
          <p:cNvSpPr txBox="1">
            <a:spLocks noGrp="1"/>
          </p:cNvSpPr>
          <p:nvPr>
            <p:ph type="body" idx="3"/>
          </p:nvPr>
        </p:nvSpPr>
        <p:spPr>
          <a:xfrm>
            <a:off x="6523735" y="2250892"/>
            <a:ext cx="5087073" cy="553373"/>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53" name="Google Shape;53;p12"/>
          <p:cNvSpPr txBox="1">
            <a:spLocks noGrp="1"/>
          </p:cNvSpPr>
          <p:nvPr>
            <p:ph type="body" idx="4"/>
          </p:nvPr>
        </p:nvSpPr>
        <p:spPr>
          <a:xfrm>
            <a:off x="6217709"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54" name="Google Shape;54;p12"/>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12"/>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2"/>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7"/>
        <p:cNvGrpSpPr/>
        <p:nvPr/>
      </p:nvGrpSpPr>
      <p:grpSpPr>
        <a:xfrm>
          <a:off x="0" y="0"/>
          <a:ext cx="0" cy="0"/>
          <a:chOff x="0" y="0"/>
          <a:chExt cx="0" cy="0"/>
        </a:xfrm>
      </p:grpSpPr>
      <p:sp>
        <p:nvSpPr>
          <p:cNvPr id="58" name="Google Shape;58;p13"/>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3"/>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3"/>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61" name="Google Shape;61;p13"/>
          <p:cNvSpPr/>
          <p:nvPr/>
        </p:nvSpPr>
        <p:spPr>
          <a:xfrm>
            <a:off x="440683"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 name="Google Shape;62;p13"/>
          <p:cNvSpPr txBox="1">
            <a:spLocks noGrp="1"/>
          </p:cNvSpPr>
          <p:nvPr>
            <p:ph type="title"/>
          </p:nvPr>
        </p:nvSpPr>
        <p:spPr>
          <a:xfrm>
            <a:off x="575894"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63"/>
        <p:cNvGrpSpPr/>
        <p:nvPr/>
      </p:nvGrpSpPr>
      <p:grpSpPr>
        <a:xfrm>
          <a:off x="0" y="0"/>
          <a:ext cx="0" cy="0"/>
          <a:chOff x="0" y="0"/>
          <a:chExt cx="0" cy="0"/>
        </a:xfrm>
      </p:grpSpPr>
      <p:sp>
        <p:nvSpPr>
          <p:cNvPr id="64" name="Google Shape;64;p14"/>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14"/>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4"/>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67"/>
        <p:cNvGrpSpPr/>
        <p:nvPr/>
      </p:nvGrpSpPr>
      <p:grpSpPr>
        <a:xfrm>
          <a:off x="0" y="0"/>
          <a:ext cx="0" cy="0"/>
          <a:chOff x="0" y="0"/>
          <a:chExt cx="0" cy="0"/>
        </a:xfrm>
      </p:grpSpPr>
      <p:sp>
        <p:nvSpPr>
          <p:cNvPr id="68" name="Google Shape;68;p15"/>
          <p:cNvSpPr/>
          <p:nvPr/>
        </p:nvSpPr>
        <p:spPr>
          <a:xfrm>
            <a:off x="447817" y="5141973"/>
            <a:ext cx="11298200" cy="1274702"/>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 name="Google Shape;69;p15"/>
          <p:cNvSpPr txBox="1">
            <a:spLocks noGrp="1"/>
          </p:cNvSpPr>
          <p:nvPr>
            <p:ph type="title"/>
          </p:nvPr>
        </p:nvSpPr>
        <p:spPr>
          <a:xfrm>
            <a:off x="581192" y="5262296"/>
            <a:ext cx="4909445" cy="689514"/>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2D58AC"/>
              </a:buClr>
              <a:buSzPts val="2000"/>
              <a:buFont typeface="Gill Sans"/>
              <a:buNone/>
              <a:defRPr sz="2000" b="0">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5"/>
          <p:cNvSpPr txBox="1">
            <a:spLocks noGrp="1"/>
          </p:cNvSpPr>
          <p:nvPr>
            <p:ph type="body" idx="1"/>
          </p:nvPr>
        </p:nvSpPr>
        <p:spPr>
          <a:xfrm>
            <a:off x="447816" y="601200"/>
            <a:ext cx="11292840" cy="4204800"/>
          </a:xfrm>
          <a:prstGeom prst="rect">
            <a:avLst/>
          </a:prstGeom>
          <a:noFill/>
          <a:ln>
            <a:noFill/>
          </a:ln>
        </p:spPr>
        <p:txBody>
          <a:bodyPr spcFirstLastPara="1" wrap="square" lIns="91425" tIns="45700" rIns="91425" bIns="45700" anchor="ctr" anchorCtr="0">
            <a:normAutofit/>
          </a:bodyPr>
          <a:lstStyle>
            <a:lvl1pPr marL="457200" lvl="0" indent="-345440" algn="l">
              <a:lnSpc>
                <a:spcPct val="100000"/>
              </a:lnSpc>
              <a:spcBef>
                <a:spcPts val="400"/>
              </a:spcBef>
              <a:spcAft>
                <a:spcPts val="0"/>
              </a:spcAft>
              <a:buSzPts val="1840"/>
              <a:buChar char="◼"/>
              <a:defRPr sz="2000">
                <a:solidFill>
                  <a:schemeClr val="dk2"/>
                </a:solidFill>
              </a:defRPr>
            </a:lvl1pPr>
            <a:lvl2pPr marL="914400" lvl="1" indent="-333756" algn="l">
              <a:lnSpc>
                <a:spcPct val="100000"/>
              </a:lnSpc>
              <a:spcBef>
                <a:spcPts val="600"/>
              </a:spcBef>
              <a:spcAft>
                <a:spcPts val="0"/>
              </a:spcAft>
              <a:buSzPts val="1656"/>
              <a:buChar char="◼"/>
              <a:defRPr sz="1800">
                <a:solidFill>
                  <a:schemeClr val="dk2"/>
                </a:solidFill>
              </a:defRPr>
            </a:lvl2pPr>
            <a:lvl3pPr marL="1371600" lvl="2" indent="-322072" algn="l">
              <a:lnSpc>
                <a:spcPct val="100000"/>
              </a:lnSpc>
              <a:spcBef>
                <a:spcPts val="600"/>
              </a:spcBef>
              <a:spcAft>
                <a:spcPts val="0"/>
              </a:spcAft>
              <a:buSzPts val="1472"/>
              <a:buChar char="◼"/>
              <a:defRPr sz="1600">
                <a:solidFill>
                  <a:schemeClr val="dk2"/>
                </a:solidFill>
              </a:defRPr>
            </a:lvl3pPr>
            <a:lvl4pPr marL="1828800" lvl="3" indent="-310388" algn="l">
              <a:lnSpc>
                <a:spcPct val="100000"/>
              </a:lnSpc>
              <a:spcBef>
                <a:spcPts val="600"/>
              </a:spcBef>
              <a:spcAft>
                <a:spcPts val="0"/>
              </a:spcAft>
              <a:buSzPts val="1288"/>
              <a:buChar char="◼"/>
              <a:defRPr sz="1400">
                <a:solidFill>
                  <a:schemeClr val="dk2"/>
                </a:solidFill>
              </a:defRPr>
            </a:lvl4pPr>
            <a:lvl5pPr marL="2286000" lvl="4" indent="-310388" algn="l">
              <a:lnSpc>
                <a:spcPct val="100000"/>
              </a:lnSpc>
              <a:spcBef>
                <a:spcPts val="600"/>
              </a:spcBef>
              <a:spcAft>
                <a:spcPts val="0"/>
              </a:spcAft>
              <a:buSzPts val="1288"/>
              <a:buChar char="◼"/>
              <a:defRPr sz="1400">
                <a:solidFill>
                  <a:schemeClr val="dk2"/>
                </a:solidFill>
              </a:defRPr>
            </a:lvl5pPr>
            <a:lvl6pPr marL="2743200" lvl="5" indent="-310388" algn="l">
              <a:lnSpc>
                <a:spcPct val="100000"/>
              </a:lnSpc>
              <a:spcBef>
                <a:spcPts val="600"/>
              </a:spcBef>
              <a:spcAft>
                <a:spcPts val="0"/>
              </a:spcAft>
              <a:buSzPts val="1288"/>
              <a:buChar char="◼"/>
              <a:defRPr sz="1400">
                <a:solidFill>
                  <a:schemeClr val="dk2"/>
                </a:solidFill>
              </a:defRPr>
            </a:lvl6pPr>
            <a:lvl7pPr marL="3200400" lvl="6" indent="-310388" algn="l">
              <a:lnSpc>
                <a:spcPct val="100000"/>
              </a:lnSpc>
              <a:spcBef>
                <a:spcPts val="600"/>
              </a:spcBef>
              <a:spcAft>
                <a:spcPts val="0"/>
              </a:spcAft>
              <a:buSzPts val="1288"/>
              <a:buChar char="◼"/>
              <a:defRPr sz="1400">
                <a:solidFill>
                  <a:schemeClr val="dk2"/>
                </a:solidFill>
              </a:defRPr>
            </a:lvl7pPr>
            <a:lvl8pPr marL="3657600" lvl="7" indent="-310388" algn="l">
              <a:lnSpc>
                <a:spcPct val="100000"/>
              </a:lnSpc>
              <a:spcBef>
                <a:spcPts val="600"/>
              </a:spcBef>
              <a:spcAft>
                <a:spcPts val="0"/>
              </a:spcAft>
              <a:buSzPts val="1288"/>
              <a:buChar char="◼"/>
              <a:defRPr sz="1400">
                <a:solidFill>
                  <a:schemeClr val="dk2"/>
                </a:solidFill>
              </a:defRPr>
            </a:lvl8pPr>
            <a:lvl9pPr marL="4114800" lvl="8" indent="-310388" algn="l">
              <a:lnSpc>
                <a:spcPct val="100000"/>
              </a:lnSpc>
              <a:spcBef>
                <a:spcPts val="600"/>
              </a:spcBef>
              <a:spcAft>
                <a:spcPts val="600"/>
              </a:spcAft>
              <a:buSzPts val="1288"/>
              <a:buChar char="◼"/>
              <a:defRPr sz="1400">
                <a:solidFill>
                  <a:schemeClr val="dk2"/>
                </a:solidFill>
              </a:defRPr>
            </a:lvl9pPr>
          </a:lstStyle>
          <a:p>
            <a:endParaRPr/>
          </a:p>
        </p:txBody>
      </p:sp>
      <p:sp>
        <p:nvSpPr>
          <p:cNvPr id="71" name="Google Shape;71;p15"/>
          <p:cNvSpPr txBox="1">
            <a:spLocks noGrp="1"/>
          </p:cNvSpPr>
          <p:nvPr>
            <p:ph type="body" idx="2"/>
          </p:nvPr>
        </p:nvSpPr>
        <p:spPr>
          <a:xfrm>
            <a:off x="5740823" y="5262296"/>
            <a:ext cx="5869987" cy="689515"/>
          </a:xfrm>
          <a:prstGeom prst="rect">
            <a:avLst/>
          </a:prstGeom>
          <a:noFill/>
          <a:ln>
            <a:noFill/>
          </a:ln>
        </p:spPr>
        <p:txBody>
          <a:bodyPr spcFirstLastPara="1" wrap="square" lIns="91425" tIns="45700" rIns="91425" bIns="45700" anchor="ctr" anchorCtr="0">
            <a:normAutofit/>
          </a:bodyPr>
          <a:lstStyle>
            <a:lvl1pPr marL="457200" lvl="0" indent="-228600" algn="r">
              <a:lnSpc>
                <a:spcPct val="100000"/>
              </a:lnSpc>
              <a:spcBef>
                <a:spcPts val="220"/>
              </a:spcBef>
              <a:spcAft>
                <a:spcPts val="0"/>
              </a:spcAft>
              <a:buSzPts val="1012"/>
              <a:buNone/>
              <a:defRPr sz="1100">
                <a:solidFill>
                  <a:schemeClr val="lt1"/>
                </a:solidFill>
              </a:defRPr>
            </a:lvl1pPr>
            <a:lvl2pPr marL="914400" lvl="1" indent="-228600" algn="l">
              <a:lnSpc>
                <a:spcPct val="100000"/>
              </a:lnSpc>
              <a:spcBef>
                <a:spcPts val="600"/>
              </a:spcBef>
              <a:spcAft>
                <a:spcPts val="0"/>
              </a:spcAft>
              <a:buSzPts val="1012"/>
              <a:buNone/>
              <a:defRPr sz="11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72" name="Google Shape;72;p15"/>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5"/>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5"/>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Imagen con leyenda" type="picTx">
  <p:cSld name="PICTURE_WITH_CAPTION_TEXT">
    <p:spTree>
      <p:nvGrpSpPr>
        <p:cNvPr id="1" name="Shape 75"/>
        <p:cNvGrpSpPr/>
        <p:nvPr/>
      </p:nvGrpSpPr>
      <p:grpSpPr>
        <a:xfrm>
          <a:off x="0" y="0"/>
          <a:ext cx="0" cy="0"/>
          <a:chOff x="0" y="0"/>
          <a:chExt cx="0" cy="0"/>
        </a:xfrm>
      </p:grpSpPr>
      <p:sp>
        <p:nvSpPr>
          <p:cNvPr id="76" name="Google Shape;76;p16"/>
          <p:cNvSpPr txBox="1">
            <a:spLocks noGrp="1"/>
          </p:cNvSpPr>
          <p:nvPr>
            <p:ph type="title"/>
          </p:nvPr>
        </p:nvSpPr>
        <p:spPr>
          <a:xfrm>
            <a:off x="581193" y="4693389"/>
            <a:ext cx="11029616"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2400"/>
              <a:buFont typeface="Gill Sans"/>
              <a:buNone/>
              <a:defRPr sz="2400" b="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6"/>
          <p:cNvSpPr>
            <a:spLocks noGrp="1"/>
          </p:cNvSpPr>
          <p:nvPr>
            <p:ph type="pic" idx="2"/>
          </p:nvPr>
        </p:nvSpPr>
        <p:spPr>
          <a:xfrm>
            <a:off x="447817" y="599725"/>
            <a:ext cx="11290859" cy="3557252"/>
          </a:xfrm>
          <a:prstGeom prst="rect">
            <a:avLst/>
          </a:prstGeom>
          <a:noFill/>
          <a:ln>
            <a:noFill/>
          </a:ln>
        </p:spPr>
      </p:sp>
      <p:sp>
        <p:nvSpPr>
          <p:cNvPr id="78" name="Google Shape;78;p16"/>
          <p:cNvSpPr txBox="1">
            <a:spLocks noGrp="1"/>
          </p:cNvSpPr>
          <p:nvPr>
            <p:ph type="body" idx="1"/>
          </p:nvPr>
        </p:nvSpPr>
        <p:spPr>
          <a:xfrm>
            <a:off x="581192" y="5260127"/>
            <a:ext cx="11029617" cy="598671"/>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240"/>
              </a:spcBef>
              <a:spcAft>
                <a:spcPts val="0"/>
              </a:spcAft>
              <a:buSzPts val="1104"/>
              <a:buNone/>
              <a:defRPr sz="1200"/>
            </a:lvl1pPr>
            <a:lvl2pPr marL="914400" lvl="1" indent="-228600" algn="l">
              <a:lnSpc>
                <a:spcPct val="100000"/>
              </a:lnSpc>
              <a:spcBef>
                <a:spcPts val="600"/>
              </a:spcBef>
              <a:spcAft>
                <a:spcPts val="0"/>
              </a:spcAft>
              <a:buSzPts val="1104"/>
              <a:buNone/>
              <a:defRPr sz="12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79" name="Google Shape;79;p16"/>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6"/>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16"/>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82"/>
        <p:cNvGrpSpPr/>
        <p:nvPr/>
      </p:nvGrpSpPr>
      <p:grpSpPr>
        <a:xfrm>
          <a:off x="0" y="0"/>
          <a:ext cx="0" cy="0"/>
          <a:chOff x="0" y="0"/>
          <a:chExt cx="0" cy="0"/>
        </a:xfrm>
      </p:grpSpPr>
      <p:sp>
        <p:nvSpPr>
          <p:cNvPr id="83" name="Google Shape;83;p17"/>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p17"/>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7"/>
          <p:cNvSpPr txBox="1">
            <a:spLocks noGrp="1"/>
          </p:cNvSpPr>
          <p:nvPr>
            <p:ph type="body" idx="1"/>
          </p:nvPr>
        </p:nvSpPr>
        <p:spPr>
          <a:xfrm rot="5400000">
            <a:off x="4334603" y="-1417408"/>
            <a:ext cx="3522794" cy="11029616"/>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22072" algn="l">
              <a:lnSpc>
                <a:spcPct val="100000"/>
              </a:lnSpc>
              <a:spcBef>
                <a:spcPts val="600"/>
              </a:spcBef>
              <a:spcAft>
                <a:spcPts val="0"/>
              </a:spcAft>
              <a:buSzPts val="1472"/>
              <a:buChar char="◼"/>
              <a:defRPr/>
            </a:lvl2pPr>
            <a:lvl3pPr marL="1371600" lvl="2" indent="-310388" algn="l">
              <a:lnSpc>
                <a:spcPct val="100000"/>
              </a:lnSpc>
              <a:spcBef>
                <a:spcPts val="600"/>
              </a:spcBef>
              <a:spcAft>
                <a:spcPts val="0"/>
              </a:spcAft>
              <a:buSzPts val="1288"/>
              <a:buChar char="◼"/>
              <a:defRPr/>
            </a:lvl3pPr>
            <a:lvl4pPr marL="1828800" lvl="3" indent="-298703" algn="l">
              <a:lnSpc>
                <a:spcPct val="100000"/>
              </a:lnSpc>
              <a:spcBef>
                <a:spcPts val="600"/>
              </a:spcBef>
              <a:spcAft>
                <a:spcPts val="0"/>
              </a:spcAft>
              <a:buSzPts val="1104"/>
              <a:buChar char="◼"/>
              <a:defRPr/>
            </a:lvl4pPr>
            <a:lvl5pPr marL="2286000" lvl="4" indent="-298704" algn="l">
              <a:lnSpc>
                <a:spcPct val="100000"/>
              </a:lnSpc>
              <a:spcBef>
                <a:spcPts val="600"/>
              </a:spcBef>
              <a:spcAft>
                <a:spcPts val="0"/>
              </a:spcAft>
              <a:buSzPts val="1104"/>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86" name="Google Shape;86;p17"/>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17"/>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17"/>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89"/>
        <p:cNvGrpSpPr/>
        <p:nvPr/>
      </p:nvGrpSpPr>
      <p:grpSpPr>
        <a:xfrm>
          <a:off x="0" y="0"/>
          <a:ext cx="0" cy="0"/>
          <a:chOff x="0" y="0"/>
          <a:chExt cx="0" cy="0"/>
        </a:xfrm>
      </p:grpSpPr>
      <p:sp>
        <p:nvSpPr>
          <p:cNvPr id="90" name="Google Shape;90;p18"/>
          <p:cNvSpPr/>
          <p:nvPr/>
        </p:nvSpPr>
        <p:spPr>
          <a:xfrm>
            <a:off x="8839201" y="599725"/>
            <a:ext cx="2906817" cy="581695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18"/>
          <p:cNvSpPr txBox="1">
            <a:spLocks noGrp="1"/>
          </p:cNvSpPr>
          <p:nvPr>
            <p:ph type="title"/>
          </p:nvPr>
        </p:nvSpPr>
        <p:spPr>
          <a:xfrm rot="5400000">
            <a:off x="7249746" y="2265181"/>
            <a:ext cx="5183073" cy="200416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8"/>
          <p:cNvSpPr txBox="1">
            <a:spLocks noGrp="1"/>
          </p:cNvSpPr>
          <p:nvPr>
            <p:ph type="body" idx="1"/>
          </p:nvPr>
        </p:nvSpPr>
        <p:spPr>
          <a:xfrm rot="5400000">
            <a:off x="2131526" y="-680877"/>
            <a:ext cx="5183073" cy="789627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93" name="Google Shape;93;p18"/>
          <p:cNvSpPr txBox="1">
            <a:spLocks noGrp="1"/>
          </p:cNvSpPr>
          <p:nvPr>
            <p:ph type="dt" idx="10"/>
          </p:nvPr>
        </p:nvSpPr>
        <p:spPr>
          <a:xfrm>
            <a:off x="8993673" y="5956137"/>
            <a:ext cx="1328141"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18"/>
          <p:cNvSpPr txBox="1">
            <a:spLocks noGrp="1"/>
          </p:cNvSpPr>
          <p:nvPr>
            <p:ph type="ftr" idx="11"/>
          </p:nvPr>
        </p:nvSpPr>
        <p:spPr>
          <a:xfrm>
            <a:off x="774923" y="5951811"/>
            <a:ext cx="789627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18"/>
          <p:cNvSpPr txBox="1">
            <a:spLocks noGrp="1"/>
          </p:cNvSpPr>
          <p:nvPr>
            <p:ph type="sldNum" idx="12"/>
          </p:nvPr>
        </p:nvSpPr>
        <p:spPr>
          <a:xfrm>
            <a:off x="10446615" y="5956137"/>
            <a:ext cx="116419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
          <p:cNvSpPr txBox="1">
            <a:spLocks noGrp="1"/>
          </p:cNvSpPr>
          <p:nvPr>
            <p:ph type="title"/>
          </p:nvPr>
        </p:nvSpPr>
        <p:spPr>
          <a:xfrm>
            <a:off x="581192" y="705124"/>
            <a:ext cx="11029616" cy="1189554"/>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chemeClr val="lt1"/>
              </a:buClr>
              <a:buSzPts val="2800"/>
              <a:buFont typeface="Gill Sans"/>
              <a:buNone/>
              <a:defRPr sz="2800" b="0" i="0" u="none" strike="noStrike" cap="none">
                <a:solidFill>
                  <a:schemeClr val="lt1"/>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endParaRPr/>
          </a:p>
        </p:txBody>
      </p:sp>
      <p:sp>
        <p:nvSpPr>
          <p:cNvPr id="11" name="Google Shape;11;p7"/>
          <p:cNvSpPr txBox="1">
            <a:spLocks noGrp="1"/>
          </p:cNvSpPr>
          <p:nvPr>
            <p:ph type="body" idx="1"/>
          </p:nvPr>
        </p:nvSpPr>
        <p:spPr>
          <a:xfrm>
            <a:off x="581192" y="2336003"/>
            <a:ext cx="11029616" cy="3522794"/>
          </a:xfrm>
          <a:prstGeom prst="rect">
            <a:avLst/>
          </a:prstGeom>
          <a:noFill/>
          <a:ln>
            <a:noFill/>
          </a:ln>
        </p:spPr>
        <p:txBody>
          <a:bodyPr spcFirstLastPara="1" wrap="square" lIns="91425" tIns="45700" rIns="91425" bIns="45700" anchor="ctr" anchorCtr="0">
            <a:normAutofit/>
          </a:bodyPr>
          <a:lstStyle>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22072" algn="l" rtl="0">
              <a:lnSpc>
                <a:spcPct val="100000"/>
              </a:lnSpc>
              <a:spcBef>
                <a:spcPts val="600"/>
              </a:spcBef>
              <a:spcAft>
                <a:spcPts val="0"/>
              </a:spcAft>
              <a:buClr>
                <a:schemeClr val="accent2"/>
              </a:buClr>
              <a:buSzPts val="1472"/>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10388" algn="l" rtl="0">
              <a:lnSpc>
                <a:spcPct val="100000"/>
              </a:lnSpc>
              <a:spcBef>
                <a:spcPts val="600"/>
              </a:spcBef>
              <a:spcAft>
                <a:spcPts val="0"/>
              </a:spcAft>
              <a:buClr>
                <a:schemeClr val="accent2"/>
              </a:buClr>
              <a:buSzPts val="1288"/>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298703"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298703"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298703" algn="l" rtl="0">
              <a:lnSpc>
                <a:spcPct val="100000"/>
              </a:lnSpc>
              <a:spcBef>
                <a:spcPts val="600"/>
              </a:spcBef>
              <a:spcAft>
                <a:spcPts val="60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9pPr>
          </a:lstStyle>
          <a:p>
            <a:endParaRPr/>
          </a:p>
        </p:txBody>
      </p:sp>
      <p:sp>
        <p:nvSpPr>
          <p:cNvPr id="12" name="Google Shape;12;p7"/>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3" name="Google Shape;13;p7"/>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4" name="Google Shape;14;p7"/>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15" name="Google Shape;15;p7"/>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7"/>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7"/>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hyperlink" Target="https://es.wikipedia.org/wiki/ROT13"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hyperlink" Target="https://es.wikipedia.org/wiki/Cifrado_C%C3%A9sar"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0"/>
        <p:cNvGrpSpPr/>
        <p:nvPr/>
      </p:nvGrpSpPr>
      <p:grpSpPr>
        <a:xfrm>
          <a:off x="0" y="0"/>
          <a:ext cx="0" cy="0"/>
          <a:chOff x="0" y="0"/>
          <a:chExt cx="0" cy="0"/>
        </a:xfrm>
      </p:grpSpPr>
      <p:sp>
        <p:nvSpPr>
          <p:cNvPr id="101" name="Google Shape;101;p1"/>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102" name="Google Shape;102;p1" descr="Conexiones digitales"/>
          <p:cNvPicPr preferRelativeResize="0"/>
          <p:nvPr/>
        </p:nvPicPr>
        <p:blipFill rotWithShape="1">
          <a:blip r:embed="rId3">
            <a:alphaModFix/>
          </a:blip>
          <a:srcRect l="13265" t="9089" r="3502"/>
          <a:stretch/>
        </p:blipFill>
        <p:spPr>
          <a:xfrm>
            <a:off x="20" y="10"/>
            <a:ext cx="12191980" cy="6857990"/>
          </a:xfrm>
          <a:prstGeom prst="rect">
            <a:avLst/>
          </a:prstGeom>
          <a:noFill/>
          <a:ln>
            <a:noFill/>
          </a:ln>
        </p:spPr>
      </p:pic>
      <p:grpSp>
        <p:nvGrpSpPr>
          <p:cNvPr id="103" name="Google Shape;103;p1"/>
          <p:cNvGrpSpPr/>
          <p:nvPr/>
        </p:nvGrpSpPr>
        <p:grpSpPr>
          <a:xfrm>
            <a:off x="446534" y="453643"/>
            <a:ext cx="11298933" cy="98554"/>
            <a:chOff x="446534" y="453643"/>
            <a:chExt cx="11298933" cy="98554"/>
          </a:xfrm>
        </p:grpSpPr>
        <p:sp>
          <p:nvSpPr>
            <p:cNvPr id="104" name="Google Shape;104;p1"/>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p1"/>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p1"/>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07" name="Google Shape;107;p1"/>
          <p:cNvSpPr/>
          <p:nvPr/>
        </p:nvSpPr>
        <p:spPr>
          <a:xfrm>
            <a:off x="446534" y="5864656"/>
            <a:ext cx="11260667" cy="595931"/>
          </a:xfrm>
          <a:prstGeom prst="rect">
            <a:avLst/>
          </a:prstGeom>
          <a:solidFill>
            <a:schemeClr val="accent1">
              <a:alpha val="9607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 name="Google Shape;108;p1"/>
          <p:cNvSpPr txBox="1">
            <a:spLocks noGrp="1"/>
          </p:cNvSpPr>
          <p:nvPr>
            <p:ph type="ctrTitle"/>
          </p:nvPr>
        </p:nvSpPr>
        <p:spPr>
          <a:xfrm>
            <a:off x="581191" y="4572000"/>
            <a:ext cx="10993549" cy="895244"/>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lt1"/>
              </a:buClr>
              <a:buSzPts val="4500"/>
              <a:buFont typeface="Gill Sans"/>
              <a:buNone/>
            </a:pPr>
            <a:r>
              <a:rPr lang="es-ES" sz="4500">
                <a:solidFill>
                  <a:schemeClr val="lt1"/>
                </a:solidFill>
              </a:rPr>
              <a:t>Seguridad en los Sistemas de Información  </a:t>
            </a:r>
            <a:r>
              <a:rPr lang="es-ES" sz="4000">
                <a:solidFill>
                  <a:schemeClr val="lt1"/>
                </a:solidFill>
              </a:rPr>
              <a:t>UNIVERSIDAD TECNOLÓGICA NACIONAL </a:t>
            </a:r>
            <a:r>
              <a:rPr lang="es-ES" sz="4500">
                <a:solidFill>
                  <a:schemeClr val="lt1"/>
                </a:solidFill>
              </a:rPr>
              <a:t>AÑO 2022</a:t>
            </a:r>
            <a:endParaRPr sz="4500">
              <a:solidFill>
                <a:schemeClr val="lt1"/>
              </a:solidFill>
            </a:endParaRPr>
          </a:p>
        </p:txBody>
      </p:sp>
      <p:sp>
        <p:nvSpPr>
          <p:cNvPr id="109" name="Google Shape;109;p1"/>
          <p:cNvSpPr txBox="1">
            <a:spLocks noGrp="1"/>
          </p:cNvSpPr>
          <p:nvPr>
            <p:ph type="subTitle" idx="1"/>
          </p:nvPr>
        </p:nvSpPr>
        <p:spPr>
          <a:xfrm>
            <a:off x="580094" y="5896821"/>
            <a:ext cx="10993546" cy="48482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72"/>
              <a:buNone/>
            </a:pPr>
            <a:r>
              <a:rPr lang="es-ES" sz="2400">
                <a:solidFill>
                  <a:schemeClr val="lt1"/>
                </a:solidFill>
              </a:rPr>
              <a:t>ING. LEONARDO MATIAS ARRIGONI</a:t>
            </a:r>
            <a:endParaRPr sz="24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2"/>
        <p:cNvGrpSpPr/>
        <p:nvPr/>
      </p:nvGrpSpPr>
      <p:grpSpPr>
        <a:xfrm>
          <a:off x="0" y="0"/>
          <a:ext cx="0" cy="0"/>
          <a:chOff x="0" y="0"/>
          <a:chExt cx="0" cy="0"/>
        </a:xfrm>
      </p:grpSpPr>
      <p:pic>
        <p:nvPicPr>
          <p:cNvPr id="133" name="Google Shape;133;p3"/>
          <p:cNvPicPr preferRelativeResize="0"/>
          <p:nvPr/>
        </p:nvPicPr>
        <p:blipFill rotWithShape="1">
          <a:blip r:embed="rId3">
            <a:alphaModFix/>
          </a:blip>
          <a:srcRect/>
          <a:stretch/>
        </p:blipFill>
        <p:spPr>
          <a:xfrm>
            <a:off x="731519" y="1971148"/>
            <a:ext cx="10879289" cy="4404853"/>
          </a:xfrm>
          <a:prstGeom prst="rect">
            <a:avLst/>
          </a:prstGeom>
          <a:noFill/>
          <a:ln>
            <a:noFill/>
          </a:ln>
        </p:spPr>
      </p:pic>
      <p:sp>
        <p:nvSpPr>
          <p:cNvPr id="134" name="Google Shape;134;p3"/>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lt1"/>
              </a:buClr>
              <a:buSzPts val="3200"/>
              <a:buFont typeface="Gill Sans"/>
              <a:buNone/>
            </a:pPr>
            <a:r>
              <a:rPr lang="es-ES" sz="3200"/>
              <a:t>Seguridad en los Sistemas de Información</a:t>
            </a:r>
            <a:endParaRPr sz="3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5"/>
        <p:cNvGrpSpPr/>
        <p:nvPr/>
      </p:nvGrpSpPr>
      <p:grpSpPr>
        <a:xfrm>
          <a:off x="0" y="0"/>
          <a:ext cx="0" cy="0"/>
          <a:chOff x="0" y="0"/>
          <a:chExt cx="0" cy="0"/>
        </a:xfrm>
      </p:grpSpPr>
      <p:sp>
        <p:nvSpPr>
          <p:cNvPr id="156" name="Google Shape;156;p21"/>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lt1"/>
              </a:buClr>
              <a:buSzPts val="3200"/>
              <a:buFont typeface="Gill Sans"/>
              <a:buNone/>
            </a:pPr>
            <a:r>
              <a:rPr lang="es-ES" sz="3200" dirty="0"/>
              <a:t>Criptografía</a:t>
            </a:r>
            <a:endParaRPr sz="3200" dirty="0"/>
          </a:p>
        </p:txBody>
      </p:sp>
      <p:pic>
        <p:nvPicPr>
          <p:cNvPr id="4" name="Imagen 3">
            <a:extLst>
              <a:ext uri="{FF2B5EF4-FFF2-40B4-BE49-F238E27FC236}">
                <a16:creationId xmlns:a16="http://schemas.microsoft.com/office/drawing/2014/main" id="{5703D393-64A9-FF7C-99B0-560A1C0049C7}"/>
              </a:ext>
            </a:extLst>
          </p:cNvPr>
          <p:cNvPicPr>
            <a:picLocks noChangeAspect="1"/>
          </p:cNvPicPr>
          <p:nvPr/>
        </p:nvPicPr>
        <p:blipFill>
          <a:blip r:embed="rId3"/>
          <a:stretch>
            <a:fillRect/>
          </a:stretch>
        </p:blipFill>
        <p:spPr>
          <a:xfrm>
            <a:off x="581193" y="2368805"/>
            <a:ext cx="4733925" cy="3152775"/>
          </a:xfrm>
          <a:prstGeom prst="rect">
            <a:avLst/>
          </a:prstGeom>
        </p:spPr>
      </p:pic>
      <p:pic>
        <p:nvPicPr>
          <p:cNvPr id="7" name="Imagen 6">
            <a:extLst>
              <a:ext uri="{FF2B5EF4-FFF2-40B4-BE49-F238E27FC236}">
                <a16:creationId xmlns:a16="http://schemas.microsoft.com/office/drawing/2014/main" id="{8539FDE2-B076-E2E1-FC9C-46CCFE17E717}"/>
              </a:ext>
            </a:extLst>
          </p:cNvPr>
          <p:cNvPicPr>
            <a:picLocks noChangeAspect="1"/>
          </p:cNvPicPr>
          <p:nvPr/>
        </p:nvPicPr>
        <p:blipFill>
          <a:blip r:embed="rId4"/>
          <a:stretch>
            <a:fillRect/>
          </a:stretch>
        </p:blipFill>
        <p:spPr>
          <a:xfrm>
            <a:off x="6762582" y="2154492"/>
            <a:ext cx="4848225" cy="35814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2"/>
          <p:cNvSpPr txBox="1">
            <a:spLocks noGrp="1"/>
          </p:cNvSpPr>
          <p:nvPr>
            <p:ph type="title"/>
          </p:nvPr>
        </p:nvSpPr>
        <p:spPr>
          <a:xfrm>
            <a:off x="673609" y="729658"/>
            <a:ext cx="11029616" cy="988332"/>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1800"/>
              <a:buNone/>
            </a:pPr>
            <a:r>
              <a:rPr lang="es-ES" sz="2800" dirty="0"/>
              <a:t>Bases de Criptografía</a:t>
            </a:r>
            <a:endParaRPr dirty="0"/>
          </a:p>
        </p:txBody>
      </p:sp>
      <p:sp>
        <p:nvSpPr>
          <p:cNvPr id="164" name="Google Shape;164;p22"/>
          <p:cNvSpPr txBox="1">
            <a:spLocks noGrp="1"/>
          </p:cNvSpPr>
          <p:nvPr>
            <p:ph type="body" idx="1"/>
          </p:nvPr>
        </p:nvSpPr>
        <p:spPr>
          <a:xfrm>
            <a:off x="581193" y="2228004"/>
            <a:ext cx="10825560" cy="3900338"/>
          </a:xfrm>
          <a:prstGeom prst="rect">
            <a:avLst/>
          </a:prstGeom>
          <a:noFill/>
          <a:ln>
            <a:noFill/>
          </a:ln>
        </p:spPr>
        <p:txBody>
          <a:bodyPr spcFirstLastPara="1" wrap="square" lIns="91425" tIns="45700" rIns="91425" bIns="45700" anchor="ctr" anchorCtr="0">
            <a:normAutofit lnSpcReduction="10000"/>
          </a:bodyPr>
          <a:lstStyle/>
          <a:p>
            <a:pPr algn="l"/>
            <a:r>
              <a:rPr lang="es-AR" sz="2400" b="0" i="0" u="none" strike="noStrike" baseline="0" dirty="0">
                <a:solidFill>
                  <a:srgbClr val="000000"/>
                </a:solidFill>
                <a:latin typeface="+mn-lt"/>
              </a:rPr>
              <a:t>La palabra </a:t>
            </a:r>
            <a:r>
              <a:rPr lang="es-AR" sz="2400" b="1" i="0" u="none" strike="noStrike" baseline="0" dirty="0">
                <a:solidFill>
                  <a:srgbClr val="000000"/>
                </a:solidFill>
                <a:latin typeface="+mn-lt"/>
              </a:rPr>
              <a:t>Criptografía </a:t>
            </a:r>
            <a:r>
              <a:rPr lang="es-AR" sz="2400" b="0" i="0" u="none" strike="noStrike" baseline="0" dirty="0">
                <a:solidFill>
                  <a:srgbClr val="000000"/>
                </a:solidFill>
                <a:latin typeface="+mn-lt"/>
              </a:rPr>
              <a:t>proviene del griego "</a:t>
            </a:r>
            <a:r>
              <a:rPr lang="es-AR" sz="2400" b="0" i="1" u="none" strike="noStrike" baseline="0" dirty="0" err="1">
                <a:solidFill>
                  <a:srgbClr val="000000"/>
                </a:solidFill>
                <a:latin typeface="+mn-lt"/>
              </a:rPr>
              <a:t>kryptos</a:t>
            </a:r>
            <a:r>
              <a:rPr lang="es-AR" sz="2400" b="0" i="0" u="none" strike="noStrike" baseline="0" dirty="0">
                <a:solidFill>
                  <a:srgbClr val="000000"/>
                </a:solidFill>
                <a:latin typeface="+mn-lt"/>
              </a:rPr>
              <a:t>" que significa oculto, y "</a:t>
            </a:r>
            <a:r>
              <a:rPr lang="es-AR" sz="2400" b="0" i="1" u="none" strike="noStrike" baseline="0" dirty="0" err="1">
                <a:solidFill>
                  <a:srgbClr val="000000"/>
                </a:solidFill>
                <a:latin typeface="+mn-lt"/>
              </a:rPr>
              <a:t>graphia</a:t>
            </a:r>
            <a:r>
              <a:rPr lang="es-AR" sz="2400" b="0" i="0" u="none" strike="noStrike" baseline="0" dirty="0">
                <a:solidFill>
                  <a:srgbClr val="000000"/>
                </a:solidFill>
                <a:latin typeface="+mn-lt"/>
              </a:rPr>
              <a:t>", que significa escritura, y su definición según el diccionario es "Arte de escribir con clave secreta o de un modo enigmático“</a:t>
            </a:r>
          </a:p>
          <a:p>
            <a:pPr algn="l"/>
            <a:endParaRPr lang="es-AR" sz="2400" dirty="0">
              <a:solidFill>
                <a:srgbClr val="000000"/>
              </a:solidFill>
              <a:latin typeface="+mn-lt"/>
            </a:endParaRPr>
          </a:p>
          <a:p>
            <a:pPr algn="l"/>
            <a:endParaRPr lang="es-AR" sz="2400" b="0" i="0" u="none" strike="noStrike" baseline="0" dirty="0">
              <a:solidFill>
                <a:srgbClr val="000000"/>
              </a:solidFill>
              <a:latin typeface="+mn-lt"/>
            </a:endParaRPr>
          </a:p>
          <a:p>
            <a:pPr algn="l"/>
            <a:endParaRPr lang="es-AR" sz="2400" b="0" i="0" u="none" strike="noStrike" baseline="0" dirty="0">
              <a:solidFill>
                <a:srgbClr val="000000"/>
              </a:solidFill>
              <a:latin typeface="+mn-lt"/>
            </a:endParaRPr>
          </a:p>
          <a:p>
            <a:pPr algn="l"/>
            <a:endParaRPr lang="es-AR" sz="2400" b="0" i="0" u="none" strike="noStrike" baseline="0" dirty="0">
              <a:solidFill>
                <a:srgbClr val="000000"/>
              </a:solidFill>
              <a:latin typeface="+mn-lt"/>
            </a:endParaRPr>
          </a:p>
          <a:p>
            <a:r>
              <a:rPr lang="es-AR" sz="2400" dirty="0">
                <a:solidFill>
                  <a:srgbClr val="000000"/>
                </a:solidFill>
                <a:latin typeface="+mn-lt"/>
              </a:rPr>
              <a:t>La criptografía es el desarrollo de un conjunto de técnicas que permiten alterar y modificar mensajes o archivos con el objetivo de que no puedan ser leídos por todos aquellos usuarios que no estén autorizados a hacerlo.</a:t>
            </a:r>
          </a:p>
          <a:p>
            <a:pPr algn="l"/>
            <a:endParaRPr dirty="0"/>
          </a:p>
        </p:txBody>
      </p:sp>
      <p:pic>
        <p:nvPicPr>
          <p:cNvPr id="3" name="Imagen 2">
            <a:extLst>
              <a:ext uri="{FF2B5EF4-FFF2-40B4-BE49-F238E27FC236}">
                <a16:creationId xmlns:a16="http://schemas.microsoft.com/office/drawing/2014/main" id="{575C9E3A-7B42-622F-F27E-3B811DB1E799}"/>
              </a:ext>
            </a:extLst>
          </p:cNvPr>
          <p:cNvPicPr>
            <a:picLocks noChangeAspect="1"/>
          </p:cNvPicPr>
          <p:nvPr/>
        </p:nvPicPr>
        <p:blipFill>
          <a:blip r:embed="rId3"/>
          <a:stretch>
            <a:fillRect/>
          </a:stretch>
        </p:blipFill>
        <p:spPr>
          <a:xfrm>
            <a:off x="4365198" y="3392129"/>
            <a:ext cx="3257550" cy="14001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3"/>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ct val="64516"/>
              <a:buNone/>
            </a:pPr>
            <a:r>
              <a:rPr lang="es-ES" sz="2800" dirty="0"/>
              <a:t>Criptografía a través de la historia</a:t>
            </a:r>
            <a:endParaRPr dirty="0">
              <a:solidFill>
                <a:schemeClr val="lt1"/>
              </a:solidFill>
            </a:endParaRPr>
          </a:p>
        </p:txBody>
      </p:sp>
      <p:sp>
        <p:nvSpPr>
          <p:cNvPr id="10" name="CuadroTexto 9">
            <a:extLst>
              <a:ext uri="{FF2B5EF4-FFF2-40B4-BE49-F238E27FC236}">
                <a16:creationId xmlns:a16="http://schemas.microsoft.com/office/drawing/2014/main" id="{A04286C7-4FEB-3F53-7B5A-AFE43CF62318}"/>
              </a:ext>
            </a:extLst>
          </p:cNvPr>
          <p:cNvSpPr txBox="1"/>
          <p:nvPr/>
        </p:nvSpPr>
        <p:spPr>
          <a:xfrm>
            <a:off x="190499" y="2119389"/>
            <a:ext cx="5844074" cy="2123658"/>
          </a:xfrm>
          <a:prstGeom prst="rect">
            <a:avLst/>
          </a:prstGeom>
          <a:noFill/>
        </p:spPr>
        <p:txBody>
          <a:bodyPr wrap="square" rtlCol="0">
            <a:spAutoFit/>
          </a:bodyPr>
          <a:lstStyle/>
          <a:p>
            <a:r>
              <a:rPr lang="es-AR" sz="2200" b="1" i="0" u="sng" dirty="0">
                <a:solidFill>
                  <a:srgbClr val="2C2F34"/>
                </a:solidFill>
                <a:effectLst/>
                <a:latin typeface="Arial" panose="020B0604020202020204" pitchFamily="34" charset="0"/>
                <a:cs typeface="Arial" panose="020B0604020202020204" pitchFamily="34" charset="0"/>
              </a:rPr>
              <a:t>Civilización Egipcia:</a:t>
            </a:r>
          </a:p>
          <a:p>
            <a:r>
              <a:rPr lang="es-AR" sz="2200" dirty="0">
                <a:solidFill>
                  <a:srgbClr val="2C2F34"/>
                </a:solidFill>
                <a:latin typeface="Arial" panose="020B0604020202020204" pitchFamily="34" charset="0"/>
                <a:cs typeface="Arial" panose="020B0604020202020204" pitchFamily="34" charset="0"/>
              </a:rPr>
              <a:t>Escritura </a:t>
            </a:r>
            <a:r>
              <a:rPr lang="es-AR" sz="2200" dirty="0" err="1">
                <a:solidFill>
                  <a:srgbClr val="2C2F34"/>
                </a:solidFill>
                <a:latin typeface="Arial" panose="020B0604020202020204" pitchFamily="34" charset="0"/>
                <a:cs typeface="Arial" panose="020B0604020202020204" pitchFamily="34" charset="0"/>
              </a:rPr>
              <a:t>Jeroglifica</a:t>
            </a:r>
            <a:r>
              <a:rPr lang="es-AR" sz="2200" dirty="0">
                <a:solidFill>
                  <a:srgbClr val="2C2F34"/>
                </a:solidFill>
                <a:latin typeface="Arial" panose="020B0604020202020204" pitchFamily="34" charset="0"/>
                <a:cs typeface="Arial" panose="020B0604020202020204" pitchFamily="34" charset="0"/>
              </a:rPr>
              <a:t>: Aparece en el 3000 A.C. Representó los primeros precedentes de cifrado, se tiene conocimiento que procedió del antiguo Egipto y data aproximadamente del 1900 A.C.</a:t>
            </a:r>
            <a:endParaRPr lang="en-US" sz="2200" dirty="0">
              <a:latin typeface="Arial" panose="020B0604020202020204" pitchFamily="34" charset="0"/>
              <a:cs typeface="Arial" panose="020B0604020202020204" pitchFamily="34" charset="0"/>
            </a:endParaRPr>
          </a:p>
        </p:txBody>
      </p:sp>
      <p:pic>
        <p:nvPicPr>
          <p:cNvPr id="3" name="Imagen 2">
            <a:extLst>
              <a:ext uri="{FF2B5EF4-FFF2-40B4-BE49-F238E27FC236}">
                <a16:creationId xmlns:a16="http://schemas.microsoft.com/office/drawing/2014/main" id="{FADF7D81-FF68-B30A-A47A-BA14717D400A}"/>
              </a:ext>
            </a:extLst>
          </p:cNvPr>
          <p:cNvPicPr>
            <a:picLocks noChangeAspect="1"/>
          </p:cNvPicPr>
          <p:nvPr/>
        </p:nvPicPr>
        <p:blipFill>
          <a:blip r:embed="rId3"/>
          <a:stretch>
            <a:fillRect/>
          </a:stretch>
        </p:blipFill>
        <p:spPr>
          <a:xfrm>
            <a:off x="859366" y="4243047"/>
            <a:ext cx="4899149" cy="2553812"/>
          </a:xfrm>
          <a:prstGeom prst="rect">
            <a:avLst/>
          </a:prstGeom>
        </p:spPr>
      </p:pic>
      <p:sp>
        <p:nvSpPr>
          <p:cNvPr id="4" name="CuadroTexto 3">
            <a:extLst>
              <a:ext uri="{FF2B5EF4-FFF2-40B4-BE49-F238E27FC236}">
                <a16:creationId xmlns:a16="http://schemas.microsoft.com/office/drawing/2014/main" id="{DF32ECF8-E853-564F-1BC3-A9E8FDD38A14}"/>
              </a:ext>
            </a:extLst>
          </p:cNvPr>
          <p:cNvSpPr txBox="1"/>
          <p:nvPr/>
        </p:nvSpPr>
        <p:spPr>
          <a:xfrm>
            <a:off x="6368117" y="2119389"/>
            <a:ext cx="5633384" cy="1785104"/>
          </a:xfrm>
          <a:prstGeom prst="rect">
            <a:avLst/>
          </a:prstGeom>
          <a:noFill/>
        </p:spPr>
        <p:txBody>
          <a:bodyPr wrap="square" rtlCol="0">
            <a:spAutoFit/>
          </a:bodyPr>
          <a:lstStyle/>
          <a:p>
            <a:r>
              <a:rPr lang="es-AR" sz="2200" b="1" i="0" u="sng" dirty="0">
                <a:solidFill>
                  <a:srgbClr val="2C2F34"/>
                </a:solidFill>
                <a:effectLst/>
                <a:latin typeface="Arial" panose="020B0604020202020204" pitchFamily="34" charset="0"/>
                <a:cs typeface="Arial" panose="020B0604020202020204" pitchFamily="34" charset="0"/>
              </a:rPr>
              <a:t>Civilización Mesopotámica:</a:t>
            </a:r>
          </a:p>
          <a:p>
            <a:r>
              <a:rPr lang="es-AR" sz="2200" dirty="0">
                <a:solidFill>
                  <a:srgbClr val="2C2F34"/>
                </a:solidFill>
                <a:latin typeface="Arial" panose="020B0604020202020204" pitchFamily="34" charset="0"/>
                <a:cs typeface="Arial" panose="020B0604020202020204" pitchFamily="34" charset="0"/>
              </a:rPr>
              <a:t>Escritura Cuneiforme: Aparece en el año 3300 A.C. Los escribas de la Antigua Mesopotamia cambiaban signos por otros con la intención de alterar el mensaje </a:t>
            </a:r>
            <a:endParaRPr lang="en-US" sz="2200" dirty="0">
              <a:latin typeface="Arial" panose="020B0604020202020204" pitchFamily="34" charset="0"/>
              <a:cs typeface="Arial" panose="020B0604020202020204" pitchFamily="34" charset="0"/>
            </a:endParaRPr>
          </a:p>
        </p:txBody>
      </p:sp>
      <p:pic>
        <p:nvPicPr>
          <p:cNvPr id="6" name="Imagen 5">
            <a:extLst>
              <a:ext uri="{FF2B5EF4-FFF2-40B4-BE49-F238E27FC236}">
                <a16:creationId xmlns:a16="http://schemas.microsoft.com/office/drawing/2014/main" id="{3C40E4E3-EEB1-23C0-BD78-C295ACE25835}"/>
              </a:ext>
            </a:extLst>
          </p:cNvPr>
          <p:cNvPicPr>
            <a:picLocks noChangeAspect="1"/>
          </p:cNvPicPr>
          <p:nvPr/>
        </p:nvPicPr>
        <p:blipFill>
          <a:blip r:embed="rId4"/>
          <a:stretch>
            <a:fillRect/>
          </a:stretch>
        </p:blipFill>
        <p:spPr>
          <a:xfrm>
            <a:off x="7924801" y="3882090"/>
            <a:ext cx="2705100" cy="291256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3"/>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ct val="64516"/>
              <a:buNone/>
            </a:pPr>
            <a:r>
              <a:rPr lang="es-ES" sz="2800" dirty="0"/>
              <a:t>Criptografía a través de la historia</a:t>
            </a:r>
            <a:endParaRPr dirty="0">
              <a:solidFill>
                <a:schemeClr val="lt1"/>
              </a:solidFill>
            </a:endParaRPr>
          </a:p>
        </p:txBody>
      </p:sp>
      <p:sp>
        <p:nvSpPr>
          <p:cNvPr id="4" name="CuadroTexto 3">
            <a:extLst>
              <a:ext uri="{FF2B5EF4-FFF2-40B4-BE49-F238E27FC236}">
                <a16:creationId xmlns:a16="http://schemas.microsoft.com/office/drawing/2014/main" id="{DF32ECF8-E853-564F-1BC3-A9E8FDD38A14}"/>
              </a:ext>
            </a:extLst>
          </p:cNvPr>
          <p:cNvSpPr txBox="1"/>
          <p:nvPr/>
        </p:nvSpPr>
        <p:spPr>
          <a:xfrm>
            <a:off x="462616" y="2094898"/>
            <a:ext cx="5633384" cy="1446550"/>
          </a:xfrm>
          <a:prstGeom prst="rect">
            <a:avLst/>
          </a:prstGeom>
          <a:noFill/>
        </p:spPr>
        <p:txBody>
          <a:bodyPr wrap="square" rtlCol="0">
            <a:spAutoFit/>
          </a:bodyPr>
          <a:lstStyle/>
          <a:p>
            <a:r>
              <a:rPr lang="es-AR" sz="2200" b="1" i="0" u="sng" dirty="0">
                <a:solidFill>
                  <a:srgbClr val="2C2F34"/>
                </a:solidFill>
                <a:effectLst/>
                <a:latin typeface="Arial" panose="020B0604020202020204" pitchFamily="34" charset="0"/>
                <a:cs typeface="Arial" panose="020B0604020202020204" pitchFamily="34" charset="0"/>
              </a:rPr>
              <a:t>Civilización China:</a:t>
            </a:r>
          </a:p>
          <a:p>
            <a:r>
              <a:rPr lang="es-AR" sz="2200" dirty="0">
                <a:solidFill>
                  <a:srgbClr val="2C2F34"/>
                </a:solidFill>
                <a:latin typeface="Arial" panose="020B0604020202020204" pitchFamily="34" charset="0"/>
                <a:cs typeface="Arial" panose="020B0604020202020204" pitchFamily="34" charset="0"/>
              </a:rPr>
              <a:t>Para los esbozos de ocultamiento usaban la esteganografía de escritura en seda o papiro envuelto en Cera.</a:t>
            </a:r>
            <a:endParaRPr lang="en-US" sz="2200" dirty="0">
              <a:latin typeface="Arial" panose="020B06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B503EEC4-C610-B836-DCFB-9AFADEDB4D34}"/>
              </a:ext>
            </a:extLst>
          </p:cNvPr>
          <p:cNvPicPr>
            <a:picLocks noChangeAspect="1"/>
          </p:cNvPicPr>
          <p:nvPr/>
        </p:nvPicPr>
        <p:blipFill>
          <a:blip r:embed="rId3"/>
          <a:stretch>
            <a:fillRect/>
          </a:stretch>
        </p:blipFill>
        <p:spPr>
          <a:xfrm>
            <a:off x="774233" y="3517403"/>
            <a:ext cx="2921467" cy="3234708"/>
          </a:xfrm>
          <a:prstGeom prst="rect">
            <a:avLst/>
          </a:prstGeom>
        </p:spPr>
      </p:pic>
      <p:sp>
        <p:nvSpPr>
          <p:cNvPr id="9" name="CuadroTexto 8">
            <a:extLst>
              <a:ext uri="{FF2B5EF4-FFF2-40B4-BE49-F238E27FC236}">
                <a16:creationId xmlns:a16="http://schemas.microsoft.com/office/drawing/2014/main" id="{107614EE-A54D-5974-FFC0-EB6AC8B7F923}"/>
              </a:ext>
            </a:extLst>
          </p:cNvPr>
          <p:cNvSpPr txBox="1"/>
          <p:nvPr/>
        </p:nvSpPr>
        <p:spPr>
          <a:xfrm>
            <a:off x="6096000" y="1925621"/>
            <a:ext cx="5633384" cy="1785104"/>
          </a:xfrm>
          <a:prstGeom prst="rect">
            <a:avLst/>
          </a:prstGeom>
          <a:noFill/>
        </p:spPr>
        <p:txBody>
          <a:bodyPr wrap="square" rtlCol="0">
            <a:spAutoFit/>
          </a:bodyPr>
          <a:lstStyle/>
          <a:p>
            <a:r>
              <a:rPr lang="es-AR" sz="2200" b="1" u="sng" dirty="0">
                <a:solidFill>
                  <a:srgbClr val="2C2F34"/>
                </a:solidFill>
                <a:latin typeface="Arial" panose="020B0604020202020204" pitchFamily="34" charset="0"/>
                <a:cs typeface="Arial" panose="020B0604020202020204" pitchFamily="34" charset="0"/>
              </a:rPr>
              <a:t>Civilización India</a:t>
            </a:r>
            <a:r>
              <a:rPr lang="es-AR" sz="2200" b="1" i="0" u="sng" dirty="0">
                <a:solidFill>
                  <a:srgbClr val="2C2F34"/>
                </a:solidFill>
                <a:effectLst/>
                <a:latin typeface="Arial" panose="020B0604020202020204" pitchFamily="34" charset="0"/>
                <a:cs typeface="Arial" panose="020B0604020202020204" pitchFamily="34" charset="0"/>
              </a:rPr>
              <a:t>:</a:t>
            </a:r>
          </a:p>
          <a:p>
            <a:r>
              <a:rPr lang="en-US" sz="2200" dirty="0" err="1">
                <a:latin typeface="Arial" panose="020B0604020202020204" pitchFamily="34" charset="0"/>
                <a:cs typeface="Arial" panose="020B0604020202020204" pitchFamily="34" charset="0"/>
              </a:rPr>
              <a:t>En</a:t>
            </a:r>
            <a:r>
              <a:rPr lang="en-US" sz="2200" dirty="0">
                <a:latin typeface="Arial" panose="020B0604020202020204" pitchFamily="34" charset="0"/>
                <a:cs typeface="Arial" panose="020B0604020202020204" pitchFamily="34" charset="0"/>
              </a:rPr>
              <a:t> la </a:t>
            </a:r>
            <a:r>
              <a:rPr lang="en-US" sz="2200" dirty="0" err="1">
                <a:latin typeface="Arial" panose="020B0604020202020204" pitchFamily="34" charset="0"/>
                <a:cs typeface="Arial" panose="020B0604020202020204" pitchFamily="34" charset="0"/>
              </a:rPr>
              <a:t>cual</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hubo</a:t>
            </a:r>
            <a:r>
              <a:rPr lang="en-US" sz="2200" dirty="0">
                <a:latin typeface="Arial" panose="020B0604020202020204" pitchFamily="34" charset="0"/>
                <a:cs typeface="Arial" panose="020B0604020202020204" pitchFamily="34" charset="0"/>
              </a:rPr>
              <a:t> un Desarrollo </a:t>
            </a:r>
            <a:r>
              <a:rPr lang="en-US" sz="2200" dirty="0" err="1">
                <a:latin typeface="Arial" panose="020B0604020202020204" pitchFamily="34" charset="0"/>
                <a:cs typeface="Arial" panose="020B0604020202020204" pitchFamily="34" charset="0"/>
              </a:rPr>
              <a:t>temprano</a:t>
            </a:r>
            <a:r>
              <a:rPr lang="en-US" sz="2200" dirty="0">
                <a:latin typeface="Arial" panose="020B0604020202020204" pitchFamily="34" charset="0"/>
                <a:cs typeface="Arial" panose="020B0604020202020204" pitchFamily="34" charset="0"/>
              </a:rPr>
              <a:t> del </a:t>
            </a:r>
            <a:r>
              <a:rPr lang="en-US" sz="2200" dirty="0" err="1">
                <a:latin typeface="Arial" panose="020B0604020202020204" pitchFamily="34" charset="0"/>
                <a:cs typeface="Arial" panose="020B0604020202020204" pitchFamily="34" charset="0"/>
              </a:rPr>
              <a:t>cifrado</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recogido</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en</a:t>
            </a:r>
            <a:r>
              <a:rPr lang="en-US" sz="2200" dirty="0">
                <a:latin typeface="Arial" panose="020B0604020202020204" pitchFamily="34" charset="0"/>
                <a:cs typeface="Arial" panose="020B0604020202020204" pitchFamily="34" charset="0"/>
              </a:rPr>
              <a:t> </a:t>
            </a:r>
          </a:p>
          <a:p>
            <a:r>
              <a:rPr lang="en-US" sz="2200" dirty="0" err="1">
                <a:latin typeface="Arial" panose="020B0604020202020204" pitchFamily="34" charset="0"/>
                <a:cs typeface="Arial" panose="020B0604020202020204" pitchFamily="34" charset="0"/>
              </a:rPr>
              <a:t>Artha</a:t>
            </a:r>
            <a:r>
              <a:rPr lang="en-US" sz="2200" dirty="0">
                <a:latin typeface="Arial" panose="020B0604020202020204" pitchFamily="34" charset="0"/>
                <a:cs typeface="Arial" panose="020B0604020202020204" pitchFamily="34" charset="0"/>
              </a:rPr>
              <a:t>-Sastra (Libro de </a:t>
            </a:r>
            <a:r>
              <a:rPr lang="en-US" sz="2200" dirty="0" err="1">
                <a:latin typeface="Arial" panose="020B0604020202020204" pitchFamily="34" charset="0"/>
                <a:cs typeface="Arial" panose="020B0604020202020204" pitchFamily="34" charset="0"/>
              </a:rPr>
              <a:t>estado</a:t>
            </a:r>
            <a:r>
              <a:rPr lang="en-US" sz="2200" dirty="0">
                <a:latin typeface="Arial" panose="020B0604020202020204" pitchFamily="34" charset="0"/>
                <a:cs typeface="Arial" panose="020B0604020202020204" pitchFamily="34" charset="0"/>
              </a:rPr>
              <a:t>) – 300 A.C. </a:t>
            </a:r>
          </a:p>
          <a:p>
            <a:r>
              <a:rPr lang="en-US" sz="2200" dirty="0">
                <a:latin typeface="Arial" panose="020B0604020202020204" pitchFamily="34" charset="0"/>
                <a:cs typeface="Arial" panose="020B0604020202020204" pitchFamily="34" charset="0"/>
              </a:rPr>
              <a:t>Lolita-Vistara(Vida de Buda)</a:t>
            </a:r>
          </a:p>
        </p:txBody>
      </p:sp>
      <p:pic>
        <p:nvPicPr>
          <p:cNvPr id="12" name="Imagen 11">
            <a:extLst>
              <a:ext uri="{FF2B5EF4-FFF2-40B4-BE49-F238E27FC236}">
                <a16:creationId xmlns:a16="http://schemas.microsoft.com/office/drawing/2014/main" id="{24B1D695-64E6-D627-A585-7B4BBB8CF2D7}"/>
              </a:ext>
            </a:extLst>
          </p:cNvPr>
          <p:cNvPicPr>
            <a:picLocks noChangeAspect="1"/>
          </p:cNvPicPr>
          <p:nvPr/>
        </p:nvPicPr>
        <p:blipFill>
          <a:blip r:embed="rId4"/>
          <a:stretch>
            <a:fillRect/>
          </a:stretch>
        </p:blipFill>
        <p:spPr>
          <a:xfrm>
            <a:off x="7035568" y="3710724"/>
            <a:ext cx="3085403" cy="3147275"/>
          </a:xfrm>
          <a:prstGeom prst="rect">
            <a:avLst/>
          </a:prstGeom>
        </p:spPr>
      </p:pic>
    </p:spTree>
    <p:extLst>
      <p:ext uri="{BB962C8B-B14F-4D97-AF65-F5344CB8AC3E}">
        <p14:creationId xmlns:p14="http://schemas.microsoft.com/office/powerpoint/2010/main" val="18789487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3"/>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ct val="64516"/>
              <a:buNone/>
            </a:pPr>
            <a:r>
              <a:rPr lang="es-ES" sz="2800" dirty="0"/>
              <a:t>Criptografía a través de la historia</a:t>
            </a:r>
            <a:endParaRPr dirty="0">
              <a:solidFill>
                <a:schemeClr val="lt1"/>
              </a:solidFill>
            </a:endParaRPr>
          </a:p>
        </p:txBody>
      </p:sp>
      <p:sp>
        <p:nvSpPr>
          <p:cNvPr id="4" name="CuadroTexto 3">
            <a:extLst>
              <a:ext uri="{FF2B5EF4-FFF2-40B4-BE49-F238E27FC236}">
                <a16:creationId xmlns:a16="http://schemas.microsoft.com/office/drawing/2014/main" id="{DF32ECF8-E853-564F-1BC3-A9E8FDD38A14}"/>
              </a:ext>
            </a:extLst>
          </p:cNvPr>
          <p:cNvSpPr txBox="1"/>
          <p:nvPr/>
        </p:nvSpPr>
        <p:spPr>
          <a:xfrm>
            <a:off x="197145" y="1948700"/>
            <a:ext cx="5633384" cy="1446550"/>
          </a:xfrm>
          <a:prstGeom prst="rect">
            <a:avLst/>
          </a:prstGeom>
          <a:noFill/>
        </p:spPr>
        <p:txBody>
          <a:bodyPr wrap="square" rtlCol="0">
            <a:spAutoFit/>
          </a:bodyPr>
          <a:lstStyle/>
          <a:p>
            <a:r>
              <a:rPr lang="es-AR" sz="2200" b="1" i="0" u="sng" dirty="0">
                <a:solidFill>
                  <a:srgbClr val="2C2F34"/>
                </a:solidFill>
                <a:effectLst/>
                <a:latin typeface="Arial" panose="020B0604020202020204" pitchFamily="34" charset="0"/>
                <a:cs typeface="Arial" panose="020B0604020202020204" pitchFamily="34" charset="0"/>
              </a:rPr>
              <a:t>Civilización Grecia:</a:t>
            </a:r>
          </a:p>
          <a:p>
            <a:r>
              <a:rPr lang="es-AR" sz="2200" dirty="0">
                <a:solidFill>
                  <a:srgbClr val="2C2F34"/>
                </a:solidFill>
                <a:latin typeface="Arial" panose="020B0604020202020204" pitchFamily="34" charset="0"/>
                <a:cs typeface="Arial" panose="020B0604020202020204" pitchFamily="34" charset="0"/>
              </a:rPr>
              <a:t>La comunicación secreta se lograba, como en China, ocultando los mensajes aplicando Esteganografía</a:t>
            </a:r>
            <a:endParaRPr lang="en-US" sz="2200" dirty="0">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107614EE-A54D-5974-FFC0-EB6AC8B7F923}"/>
              </a:ext>
            </a:extLst>
          </p:cNvPr>
          <p:cNvSpPr txBox="1"/>
          <p:nvPr/>
        </p:nvSpPr>
        <p:spPr>
          <a:xfrm>
            <a:off x="5830529" y="1879454"/>
            <a:ext cx="5633384" cy="2800767"/>
          </a:xfrm>
          <a:prstGeom prst="rect">
            <a:avLst/>
          </a:prstGeom>
          <a:noFill/>
        </p:spPr>
        <p:txBody>
          <a:bodyPr wrap="square" rtlCol="0">
            <a:spAutoFit/>
          </a:bodyPr>
          <a:lstStyle/>
          <a:p>
            <a:r>
              <a:rPr lang="es-AR" sz="2200" b="1" u="sng" dirty="0">
                <a:solidFill>
                  <a:srgbClr val="2C2F34"/>
                </a:solidFill>
                <a:latin typeface="Arial" panose="020B0604020202020204" pitchFamily="34" charset="0"/>
                <a:cs typeface="Arial" panose="020B0604020202020204" pitchFamily="34" charset="0"/>
              </a:rPr>
              <a:t>Civilización Roma</a:t>
            </a:r>
            <a:r>
              <a:rPr lang="es-AR" sz="2200" b="1" i="0" u="sng" dirty="0">
                <a:solidFill>
                  <a:srgbClr val="2C2F34"/>
                </a:solidFill>
                <a:effectLst/>
                <a:latin typeface="Arial" panose="020B0604020202020204" pitchFamily="34" charset="0"/>
                <a:cs typeface="Arial" panose="020B0604020202020204" pitchFamily="34" charset="0"/>
              </a:rPr>
              <a:t>:</a:t>
            </a:r>
          </a:p>
          <a:p>
            <a:r>
              <a:rPr lang="en-US" sz="2200" dirty="0">
                <a:latin typeface="Arial" panose="020B0604020202020204" pitchFamily="34" charset="0"/>
                <a:cs typeface="Arial" panose="020B0604020202020204" pitchFamily="34" charset="0"/>
              </a:rPr>
              <a:t>Julio Cesar </a:t>
            </a:r>
            <a:r>
              <a:rPr lang="en-US" sz="2200" dirty="0" err="1">
                <a:latin typeface="Arial" panose="020B0604020202020204" pitchFamily="34" charset="0"/>
                <a:cs typeface="Arial" panose="020B0604020202020204" pitchFamily="34" charset="0"/>
              </a:rPr>
              <a:t>en</a:t>
            </a:r>
            <a:r>
              <a:rPr lang="en-US" sz="2200" dirty="0">
                <a:latin typeface="Arial" panose="020B0604020202020204" pitchFamily="34" charset="0"/>
                <a:cs typeface="Arial" panose="020B0604020202020204" pitchFamily="34" charset="0"/>
              </a:rPr>
              <a:t> la Guerra de </a:t>
            </a:r>
            <a:r>
              <a:rPr lang="en-US" sz="2200" dirty="0" err="1">
                <a:latin typeface="Arial" panose="020B0604020202020204" pitchFamily="34" charset="0"/>
                <a:cs typeface="Arial" panose="020B0604020202020204" pitchFamily="34" charset="0"/>
              </a:rPr>
              <a:t>Galias</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enviaba</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mensajes</a:t>
            </a:r>
            <a:r>
              <a:rPr lang="en-US" sz="2200" dirty="0">
                <a:latin typeface="Arial" panose="020B0604020202020204" pitchFamily="34" charset="0"/>
                <a:cs typeface="Arial" panose="020B0604020202020204" pitchFamily="34" charset="0"/>
              </a:rPr>
              <a:t> a sus generals </a:t>
            </a:r>
            <a:r>
              <a:rPr lang="en-US" sz="2200" dirty="0" err="1">
                <a:latin typeface="Arial" panose="020B0604020202020204" pitchFamily="34" charset="0"/>
                <a:cs typeface="Arial" panose="020B0604020202020204" pitchFamily="34" charset="0"/>
              </a:rPr>
              <a:t>cambiando</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letras</a:t>
            </a:r>
            <a:r>
              <a:rPr lang="en-US" sz="2200" dirty="0">
                <a:latin typeface="Arial" panose="020B0604020202020204" pitchFamily="34" charset="0"/>
                <a:cs typeface="Arial" panose="020B0604020202020204" pitchFamily="34" charset="0"/>
              </a:rPr>
              <a:t> Latinas </a:t>
            </a:r>
            <a:r>
              <a:rPr lang="en-US" sz="2200" dirty="0" err="1">
                <a:latin typeface="Arial" panose="020B0604020202020204" pitchFamily="34" charset="0"/>
                <a:cs typeface="Arial" panose="020B0604020202020204" pitchFamily="34" charset="0"/>
              </a:rPr>
              <a:t>por</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griegas</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Utilizo</a:t>
            </a:r>
            <a:r>
              <a:rPr lang="en-US" sz="2200" dirty="0">
                <a:latin typeface="Arial" panose="020B0604020202020204" pitchFamily="34" charset="0"/>
                <a:cs typeface="Arial" panose="020B0604020202020204" pitchFamily="34" charset="0"/>
              </a:rPr>
              <a:t> la </a:t>
            </a:r>
            <a:r>
              <a:rPr lang="en-US" sz="2200" dirty="0" err="1">
                <a:latin typeface="Arial" panose="020B0604020202020204" pitchFamily="34" charset="0"/>
                <a:cs typeface="Arial" panose="020B0604020202020204" pitchFamily="34" charset="0"/>
              </a:rPr>
              <a:t>escritura</a:t>
            </a:r>
            <a:r>
              <a:rPr lang="en-US" sz="2200" dirty="0">
                <a:latin typeface="Arial" panose="020B0604020202020204" pitchFamily="34" charset="0"/>
                <a:cs typeface="Arial" panose="020B0604020202020204" pitchFamily="34" charset="0"/>
              </a:rPr>
              <a:t> secreta tan </a:t>
            </a:r>
            <a:r>
              <a:rPr lang="en-US" sz="2200" dirty="0" err="1">
                <a:latin typeface="Arial" panose="020B0604020202020204" pitchFamily="34" charset="0"/>
                <a:cs typeface="Arial" panose="020B0604020202020204" pitchFamily="34" charset="0"/>
              </a:rPr>
              <a:t>frecuentemente</a:t>
            </a:r>
            <a:r>
              <a:rPr lang="en-US" sz="2200" dirty="0">
                <a:latin typeface="Arial" panose="020B0604020202020204" pitchFamily="34" charset="0"/>
                <a:cs typeface="Arial" panose="020B0604020202020204" pitchFamily="34" charset="0"/>
              </a:rPr>
              <a:t> que Valerio </a:t>
            </a:r>
            <a:r>
              <a:rPr lang="en-US" sz="2200" dirty="0" err="1">
                <a:latin typeface="Arial" panose="020B0604020202020204" pitchFamily="34" charset="0"/>
                <a:cs typeface="Arial" panose="020B0604020202020204" pitchFamily="34" charset="0"/>
              </a:rPr>
              <a:t>Probo</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escribio</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el</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tratado</a:t>
            </a:r>
            <a:r>
              <a:rPr lang="en-US" sz="2200" dirty="0">
                <a:latin typeface="Arial" panose="020B0604020202020204" pitchFamily="34" charset="0"/>
                <a:cs typeface="Arial" panose="020B0604020202020204" pitchFamily="34" charset="0"/>
              </a:rPr>
              <a:t> del Desarrollo del </a:t>
            </a:r>
            <a:r>
              <a:rPr lang="en-US" sz="2200" dirty="0" err="1">
                <a:latin typeface="Arial" panose="020B0604020202020204" pitchFamily="34" charset="0"/>
                <a:cs typeface="Arial" panose="020B0604020202020204" pitchFamily="34" charset="0"/>
              </a:rPr>
              <a:t>cifrado</a:t>
            </a:r>
            <a:r>
              <a:rPr lang="en-US" sz="2200" dirty="0">
                <a:latin typeface="Arial" panose="020B0604020202020204" pitchFamily="34" charset="0"/>
                <a:cs typeface="Arial" panose="020B0604020202020204" pitchFamily="34" charset="0"/>
              </a:rPr>
              <a:t>. Fuel </a:t>
            </a:r>
            <a:r>
              <a:rPr lang="en-US" sz="2200" dirty="0" err="1">
                <a:latin typeface="Arial" panose="020B0604020202020204" pitchFamily="34" charset="0"/>
                <a:cs typeface="Arial" panose="020B0604020202020204" pitchFamily="34" charset="0"/>
              </a:rPr>
              <a:t>el</a:t>
            </a:r>
            <a:r>
              <a:rPr lang="en-US" sz="2200" dirty="0">
                <a:latin typeface="Arial" panose="020B0604020202020204" pitchFamily="34" charset="0"/>
                <a:cs typeface="Arial" panose="020B0604020202020204" pitchFamily="34" charset="0"/>
              </a:rPr>
              <a:t> primer </a:t>
            </a:r>
            <a:r>
              <a:rPr lang="en-US" sz="2200" dirty="0" err="1">
                <a:latin typeface="Arial" panose="020B0604020202020204" pitchFamily="34" charset="0"/>
                <a:cs typeface="Arial" panose="020B0604020202020204" pitchFamily="34" charset="0"/>
              </a:rPr>
              <a:t>libro</a:t>
            </a:r>
            <a:r>
              <a:rPr lang="en-US" sz="2200" dirty="0">
                <a:latin typeface="Arial" panose="020B0604020202020204" pitchFamily="34" charset="0"/>
                <a:cs typeface="Arial" panose="020B0604020202020204" pitchFamily="34" charset="0"/>
              </a:rPr>
              <a:t> de </a:t>
            </a:r>
            <a:r>
              <a:rPr lang="en-US" sz="2200" dirty="0" err="1">
                <a:latin typeface="Arial" panose="020B0604020202020204" pitchFamily="34" charset="0"/>
                <a:cs typeface="Arial" panose="020B0604020202020204" pitchFamily="34" charset="0"/>
              </a:rPr>
              <a:t>criptografía</a:t>
            </a:r>
            <a:r>
              <a:rPr lang="en-US" sz="2200" dirty="0">
                <a:latin typeface="Arial" panose="020B0604020202020204" pitchFamily="34" charset="0"/>
                <a:cs typeface="Arial" panose="020B0604020202020204" pitchFamily="34" charset="0"/>
              </a:rPr>
              <a:t> de la </a:t>
            </a:r>
            <a:r>
              <a:rPr lang="en-US" sz="2200" dirty="0" err="1">
                <a:latin typeface="Arial" panose="020B0604020202020204" pitchFamily="34" charset="0"/>
                <a:cs typeface="Arial" panose="020B0604020202020204" pitchFamily="34" charset="0"/>
              </a:rPr>
              <a:t>actualidad</a:t>
            </a:r>
            <a:r>
              <a:rPr lang="en-US" sz="2200" dirty="0">
                <a:latin typeface="Arial" panose="020B0604020202020204" pitchFamily="34" charset="0"/>
                <a:cs typeface="Arial" panose="020B0604020202020204" pitchFamily="34" charset="0"/>
              </a:rPr>
              <a:t>.</a:t>
            </a:r>
          </a:p>
        </p:txBody>
      </p:sp>
      <p:pic>
        <p:nvPicPr>
          <p:cNvPr id="3" name="Imagen 2">
            <a:extLst>
              <a:ext uri="{FF2B5EF4-FFF2-40B4-BE49-F238E27FC236}">
                <a16:creationId xmlns:a16="http://schemas.microsoft.com/office/drawing/2014/main" id="{EEBBA144-A9AC-BDE1-B3B2-DA2B7B19EB1F}"/>
              </a:ext>
            </a:extLst>
          </p:cNvPr>
          <p:cNvPicPr>
            <a:picLocks noChangeAspect="1"/>
          </p:cNvPicPr>
          <p:nvPr/>
        </p:nvPicPr>
        <p:blipFill>
          <a:blip r:embed="rId3"/>
          <a:stretch>
            <a:fillRect/>
          </a:stretch>
        </p:blipFill>
        <p:spPr>
          <a:xfrm>
            <a:off x="1259660" y="3355499"/>
            <a:ext cx="2751901" cy="3561399"/>
          </a:xfrm>
          <a:prstGeom prst="rect">
            <a:avLst/>
          </a:prstGeom>
        </p:spPr>
      </p:pic>
      <p:pic>
        <p:nvPicPr>
          <p:cNvPr id="10" name="Imagen 9">
            <a:extLst>
              <a:ext uri="{FF2B5EF4-FFF2-40B4-BE49-F238E27FC236}">
                <a16:creationId xmlns:a16="http://schemas.microsoft.com/office/drawing/2014/main" id="{6E9A44DA-3407-FD93-4F5C-F8544910463A}"/>
              </a:ext>
            </a:extLst>
          </p:cNvPr>
          <p:cNvPicPr>
            <a:picLocks noChangeAspect="1"/>
          </p:cNvPicPr>
          <p:nvPr/>
        </p:nvPicPr>
        <p:blipFill>
          <a:blip r:embed="rId4"/>
          <a:stretch>
            <a:fillRect/>
          </a:stretch>
        </p:blipFill>
        <p:spPr>
          <a:xfrm>
            <a:off x="7948338" y="4321277"/>
            <a:ext cx="3529823" cy="2536723"/>
          </a:xfrm>
          <a:prstGeom prst="rect">
            <a:avLst/>
          </a:prstGeom>
        </p:spPr>
      </p:pic>
    </p:spTree>
    <p:extLst>
      <p:ext uri="{BB962C8B-B14F-4D97-AF65-F5344CB8AC3E}">
        <p14:creationId xmlns:p14="http://schemas.microsoft.com/office/powerpoint/2010/main" val="24993758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3"/>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ct val="64516"/>
              <a:buNone/>
            </a:pPr>
            <a:r>
              <a:rPr lang="es-ES" sz="2800" dirty="0"/>
              <a:t>Criptografía a través de la historia</a:t>
            </a:r>
            <a:endParaRPr dirty="0">
              <a:solidFill>
                <a:schemeClr val="lt1"/>
              </a:solidFill>
            </a:endParaRPr>
          </a:p>
        </p:txBody>
      </p:sp>
      <p:pic>
        <p:nvPicPr>
          <p:cNvPr id="8" name="Imagen 7">
            <a:extLst>
              <a:ext uri="{FF2B5EF4-FFF2-40B4-BE49-F238E27FC236}">
                <a16:creationId xmlns:a16="http://schemas.microsoft.com/office/drawing/2014/main" id="{AFAC4783-F949-993E-7DFC-BE27EAEA13B9}"/>
              </a:ext>
            </a:extLst>
          </p:cNvPr>
          <p:cNvPicPr>
            <a:picLocks noChangeAspect="1"/>
          </p:cNvPicPr>
          <p:nvPr/>
        </p:nvPicPr>
        <p:blipFill>
          <a:blip r:embed="rId3"/>
          <a:stretch>
            <a:fillRect/>
          </a:stretch>
        </p:blipFill>
        <p:spPr>
          <a:xfrm>
            <a:off x="5807403" y="3628104"/>
            <a:ext cx="5956044" cy="3050656"/>
          </a:xfrm>
          <a:prstGeom prst="rect">
            <a:avLst/>
          </a:prstGeom>
        </p:spPr>
      </p:pic>
      <p:sp>
        <p:nvSpPr>
          <p:cNvPr id="9" name="CuadroTexto 8">
            <a:extLst>
              <a:ext uri="{FF2B5EF4-FFF2-40B4-BE49-F238E27FC236}">
                <a16:creationId xmlns:a16="http://schemas.microsoft.com/office/drawing/2014/main" id="{107614EE-A54D-5974-FFC0-EB6AC8B7F923}"/>
              </a:ext>
            </a:extLst>
          </p:cNvPr>
          <p:cNvSpPr txBox="1"/>
          <p:nvPr/>
        </p:nvSpPr>
        <p:spPr>
          <a:xfrm>
            <a:off x="457200" y="2094898"/>
            <a:ext cx="11582400" cy="3785652"/>
          </a:xfrm>
          <a:prstGeom prst="rect">
            <a:avLst/>
          </a:prstGeom>
          <a:noFill/>
        </p:spPr>
        <p:txBody>
          <a:bodyPr wrap="square" rtlCol="0">
            <a:spAutoFit/>
          </a:bodyPr>
          <a:lstStyle/>
          <a:p>
            <a:r>
              <a:rPr lang="es-AR" sz="2400" b="1" i="0" u="sng" dirty="0" err="1">
                <a:solidFill>
                  <a:srgbClr val="2C2F34"/>
                </a:solidFill>
                <a:effectLst/>
                <a:latin typeface="Arial" panose="020B0604020202020204" pitchFamily="34" charset="0"/>
                <a:cs typeface="Arial" panose="020B0604020202020204" pitchFamily="34" charset="0"/>
              </a:rPr>
              <a:t>Escitala</a:t>
            </a:r>
            <a:r>
              <a:rPr lang="es-AR" sz="2400" b="1" i="0" u="sng" dirty="0">
                <a:solidFill>
                  <a:srgbClr val="2C2F34"/>
                </a:solidFill>
                <a:effectLst/>
                <a:latin typeface="Arial" panose="020B0604020202020204" pitchFamily="34" charset="0"/>
                <a:cs typeface="Arial" panose="020B0604020202020204" pitchFamily="34" charset="0"/>
              </a:rPr>
              <a:t> Espartana:</a:t>
            </a:r>
          </a:p>
          <a:p>
            <a:r>
              <a:rPr lang="es-AR" sz="2400" dirty="0">
                <a:solidFill>
                  <a:srgbClr val="2C2F34"/>
                </a:solidFill>
                <a:latin typeface="Arial" panose="020B0604020202020204" pitchFamily="34" charset="0"/>
                <a:cs typeface="Arial" panose="020B0604020202020204" pitchFamily="34" charset="0"/>
              </a:rPr>
              <a:t>Este método consistía en usar una vara (</a:t>
            </a:r>
            <a:r>
              <a:rPr lang="es-AR" sz="2400" dirty="0" err="1">
                <a:solidFill>
                  <a:srgbClr val="2C2F34"/>
                </a:solidFill>
                <a:latin typeface="Arial" panose="020B0604020202020204" pitchFamily="34" charset="0"/>
                <a:cs typeface="Arial" panose="020B0604020202020204" pitchFamily="34" charset="0"/>
              </a:rPr>
              <a:t>escítala</a:t>
            </a:r>
            <a:r>
              <a:rPr lang="es-AR" sz="2400" dirty="0">
                <a:solidFill>
                  <a:srgbClr val="2C2F34"/>
                </a:solidFill>
                <a:latin typeface="Arial" panose="020B0604020202020204" pitchFamily="34" charset="0"/>
                <a:cs typeface="Arial" panose="020B0604020202020204" pitchFamily="34" charset="0"/>
              </a:rPr>
              <a:t>), enroscar una cinta de cuero o papiro, y escribir en forma longitudinal.</a:t>
            </a:r>
          </a:p>
          <a:p>
            <a:r>
              <a:rPr lang="es-AR" sz="2400" dirty="0">
                <a:solidFill>
                  <a:srgbClr val="2C2F34"/>
                </a:solidFill>
                <a:latin typeface="Arial" panose="020B0604020202020204" pitchFamily="34" charset="0"/>
                <a:cs typeface="Arial" panose="020B0604020202020204" pitchFamily="34" charset="0"/>
              </a:rPr>
              <a:t>Por ultimo se desenrollaba la cinta contenida con varias letras sin sentido y se enviaba a un mensajero. Lo importante era el diámetro de </a:t>
            </a:r>
          </a:p>
          <a:p>
            <a:r>
              <a:rPr lang="es-AR" sz="2400" dirty="0">
                <a:solidFill>
                  <a:srgbClr val="2C2F34"/>
                </a:solidFill>
                <a:latin typeface="Arial" panose="020B0604020202020204" pitchFamily="34" charset="0"/>
                <a:cs typeface="Arial" panose="020B0604020202020204" pitchFamily="34" charset="0"/>
              </a:rPr>
              <a:t>la Vara para descifrar correctamente.</a:t>
            </a:r>
          </a:p>
          <a:p>
            <a:r>
              <a:rPr lang="es-AR" sz="2400" dirty="0">
                <a:solidFill>
                  <a:srgbClr val="2C2F34"/>
                </a:solidFill>
                <a:latin typeface="Arial" panose="020B0604020202020204" pitchFamily="34" charset="0"/>
                <a:cs typeface="Arial" panose="020B0604020202020204" pitchFamily="34" charset="0"/>
              </a:rPr>
              <a:t>El receptor usaba la vara y podía </a:t>
            </a:r>
          </a:p>
          <a:p>
            <a:r>
              <a:rPr lang="es-AR" sz="2400" dirty="0">
                <a:solidFill>
                  <a:srgbClr val="2C2F34"/>
                </a:solidFill>
                <a:latin typeface="Arial" panose="020B0604020202020204" pitchFamily="34" charset="0"/>
                <a:cs typeface="Arial" panose="020B0604020202020204" pitchFamily="34" charset="0"/>
              </a:rPr>
              <a:t>descifrar el mensaje</a:t>
            </a:r>
          </a:p>
          <a:p>
            <a:r>
              <a:rPr lang="es-AR" sz="2400" dirty="0">
                <a:solidFill>
                  <a:srgbClr val="2C2F34"/>
                </a:solidFill>
                <a:latin typeface="Arial" panose="020B0604020202020204" pitchFamily="34" charset="0"/>
                <a:cs typeface="Arial" panose="020B0604020202020204" pitchFamily="34" charset="0"/>
              </a:rPr>
              <a:t>enviado.</a:t>
            </a:r>
          </a:p>
          <a:p>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189759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3"/>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ct val="64516"/>
              <a:buNone/>
            </a:pPr>
            <a:r>
              <a:rPr lang="es-ES" sz="2800" dirty="0"/>
              <a:t>Criptografía a través de la historia</a:t>
            </a:r>
            <a:endParaRPr dirty="0">
              <a:solidFill>
                <a:schemeClr val="lt1"/>
              </a:solidFill>
            </a:endParaRPr>
          </a:p>
        </p:txBody>
      </p:sp>
      <p:sp>
        <p:nvSpPr>
          <p:cNvPr id="9" name="CuadroTexto 8">
            <a:extLst>
              <a:ext uri="{FF2B5EF4-FFF2-40B4-BE49-F238E27FC236}">
                <a16:creationId xmlns:a16="http://schemas.microsoft.com/office/drawing/2014/main" id="{107614EE-A54D-5974-FFC0-EB6AC8B7F923}"/>
              </a:ext>
            </a:extLst>
          </p:cNvPr>
          <p:cNvSpPr txBox="1"/>
          <p:nvPr/>
        </p:nvSpPr>
        <p:spPr>
          <a:xfrm>
            <a:off x="457200" y="2094898"/>
            <a:ext cx="11582400" cy="830997"/>
          </a:xfrm>
          <a:prstGeom prst="rect">
            <a:avLst/>
          </a:prstGeom>
          <a:noFill/>
        </p:spPr>
        <p:txBody>
          <a:bodyPr wrap="square" rtlCol="0">
            <a:spAutoFit/>
          </a:bodyPr>
          <a:lstStyle/>
          <a:p>
            <a:r>
              <a:rPr lang="es-AR" sz="2400" b="1" i="0" u="sng" dirty="0" err="1">
                <a:solidFill>
                  <a:srgbClr val="2C2F34"/>
                </a:solidFill>
                <a:effectLst/>
                <a:latin typeface="Arial" panose="020B0604020202020204" pitchFamily="34" charset="0"/>
                <a:cs typeface="Arial" panose="020B0604020202020204" pitchFamily="34" charset="0"/>
              </a:rPr>
              <a:t>Escitala</a:t>
            </a:r>
            <a:r>
              <a:rPr lang="es-AR" sz="2400" b="1" i="0" u="sng" dirty="0">
                <a:solidFill>
                  <a:srgbClr val="2C2F34"/>
                </a:solidFill>
                <a:effectLst/>
                <a:latin typeface="Arial" panose="020B0604020202020204" pitchFamily="34" charset="0"/>
                <a:cs typeface="Arial" panose="020B0604020202020204" pitchFamily="34" charset="0"/>
              </a:rPr>
              <a:t> Espartana:</a:t>
            </a:r>
          </a:p>
          <a:p>
            <a:endParaRPr lang="en-US" sz="2400" dirty="0">
              <a:latin typeface="Arial" panose="020B0604020202020204" pitchFamily="34" charset="0"/>
              <a:cs typeface="Arial" panose="020B0604020202020204" pitchFamily="34" charset="0"/>
            </a:endParaRPr>
          </a:p>
        </p:txBody>
      </p:sp>
      <p:pic>
        <p:nvPicPr>
          <p:cNvPr id="3" name="Imagen 2">
            <a:extLst>
              <a:ext uri="{FF2B5EF4-FFF2-40B4-BE49-F238E27FC236}">
                <a16:creationId xmlns:a16="http://schemas.microsoft.com/office/drawing/2014/main" id="{E0965A12-556D-5218-7673-28361B0A827B}"/>
              </a:ext>
            </a:extLst>
          </p:cNvPr>
          <p:cNvPicPr>
            <a:picLocks noChangeAspect="1"/>
          </p:cNvPicPr>
          <p:nvPr/>
        </p:nvPicPr>
        <p:blipFill>
          <a:blip r:embed="rId3"/>
          <a:stretch>
            <a:fillRect/>
          </a:stretch>
        </p:blipFill>
        <p:spPr>
          <a:xfrm>
            <a:off x="4792764" y="2851863"/>
            <a:ext cx="6667260" cy="2792823"/>
          </a:xfrm>
          <a:prstGeom prst="rect">
            <a:avLst/>
          </a:prstGeom>
        </p:spPr>
      </p:pic>
      <p:sp>
        <p:nvSpPr>
          <p:cNvPr id="4" name="CuadroTexto 3">
            <a:extLst>
              <a:ext uri="{FF2B5EF4-FFF2-40B4-BE49-F238E27FC236}">
                <a16:creationId xmlns:a16="http://schemas.microsoft.com/office/drawing/2014/main" id="{7D4160EE-F948-C24A-8207-9543A4076046}"/>
              </a:ext>
            </a:extLst>
          </p:cNvPr>
          <p:cNvSpPr txBox="1"/>
          <p:nvPr/>
        </p:nvSpPr>
        <p:spPr>
          <a:xfrm>
            <a:off x="457200" y="2851863"/>
            <a:ext cx="4630994" cy="2862322"/>
          </a:xfrm>
          <a:prstGeom prst="rect">
            <a:avLst/>
          </a:prstGeom>
          <a:noFill/>
        </p:spPr>
        <p:txBody>
          <a:bodyPr wrap="square" rtlCol="0">
            <a:spAutoFit/>
          </a:bodyPr>
          <a:lstStyle/>
          <a:p>
            <a:r>
              <a:rPr lang="es-AR" sz="2000" dirty="0"/>
              <a:t>Al ser una cinta, se leía el siguiente Mensaje:</a:t>
            </a:r>
          </a:p>
          <a:p>
            <a:r>
              <a:rPr lang="es-AR" sz="2000" dirty="0"/>
              <a:t>M= AACSNIICTCOAINLFLARAAEBS</a:t>
            </a:r>
          </a:p>
          <a:p>
            <a:endParaRPr lang="es-AR" sz="2000" dirty="0"/>
          </a:p>
          <a:p>
            <a:r>
              <a:rPr lang="es-AR" sz="2000" dirty="0"/>
              <a:t>AL colocar en la </a:t>
            </a:r>
            <a:r>
              <a:rPr lang="es-AR" sz="2000" dirty="0" err="1"/>
              <a:t>escítala</a:t>
            </a:r>
            <a:r>
              <a:rPr lang="es-AR" sz="2000" dirty="0"/>
              <a:t> la cinta y siempre que se mantenga el diámetro</a:t>
            </a:r>
          </a:p>
          <a:p>
            <a:r>
              <a:rPr lang="es-AR" sz="2000" dirty="0"/>
              <a:t>Tanto en el emisor como en el receptor, el mensaje se leería así:</a:t>
            </a:r>
          </a:p>
          <a:p>
            <a:r>
              <a:rPr lang="es-AR" sz="2000" dirty="0"/>
              <a:t>ASI_CIFRABAN_CON_LA_ESCITALA</a:t>
            </a:r>
            <a:endParaRPr lang="en-US" sz="2000" dirty="0"/>
          </a:p>
        </p:txBody>
      </p:sp>
    </p:spTree>
    <p:extLst>
      <p:ext uri="{BB962C8B-B14F-4D97-AF65-F5344CB8AC3E}">
        <p14:creationId xmlns:p14="http://schemas.microsoft.com/office/powerpoint/2010/main" val="3964610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3"/>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ct val="64516"/>
              <a:buNone/>
            </a:pPr>
            <a:r>
              <a:rPr lang="es-ES" sz="2800" dirty="0"/>
              <a:t>Métodos </a:t>
            </a:r>
            <a:r>
              <a:rPr lang="es-ES" sz="2800" dirty="0" err="1"/>
              <a:t>monoalfabetos</a:t>
            </a:r>
            <a:r>
              <a:rPr lang="es-ES" sz="2800" dirty="0"/>
              <a:t> – Cifrado Cesar</a:t>
            </a:r>
            <a:endParaRPr dirty="0">
              <a:solidFill>
                <a:schemeClr val="lt1"/>
              </a:solidFill>
            </a:endParaRPr>
          </a:p>
        </p:txBody>
      </p:sp>
      <p:sp>
        <p:nvSpPr>
          <p:cNvPr id="10" name="CuadroTexto 9">
            <a:extLst>
              <a:ext uri="{FF2B5EF4-FFF2-40B4-BE49-F238E27FC236}">
                <a16:creationId xmlns:a16="http://schemas.microsoft.com/office/drawing/2014/main" id="{A04286C7-4FEB-3F53-7B5A-AFE43CF62318}"/>
              </a:ext>
            </a:extLst>
          </p:cNvPr>
          <p:cNvSpPr txBox="1"/>
          <p:nvPr/>
        </p:nvSpPr>
        <p:spPr>
          <a:xfrm>
            <a:off x="449451" y="2053377"/>
            <a:ext cx="11029616" cy="4493538"/>
          </a:xfrm>
          <a:prstGeom prst="rect">
            <a:avLst/>
          </a:prstGeom>
          <a:noFill/>
        </p:spPr>
        <p:txBody>
          <a:bodyPr wrap="square" rtlCol="0">
            <a:spAutoFit/>
          </a:bodyPr>
          <a:lstStyle/>
          <a:p>
            <a:r>
              <a:rPr lang="en-US" sz="2200" b="1" i="0" u="none" strike="noStrike" baseline="0" dirty="0" err="1">
                <a:solidFill>
                  <a:srgbClr val="000000"/>
                </a:solidFill>
                <a:latin typeface="+mn-lt"/>
              </a:rPr>
              <a:t>Cifrado</a:t>
            </a:r>
            <a:r>
              <a:rPr lang="en-US" sz="2200" b="1" i="0" u="none" strike="noStrike" baseline="0" dirty="0">
                <a:solidFill>
                  <a:srgbClr val="000000"/>
                </a:solidFill>
                <a:latin typeface="+mn-lt"/>
              </a:rPr>
              <a:t> César </a:t>
            </a:r>
            <a:endParaRPr lang="en-US" sz="2200" b="0" i="0" u="none" strike="noStrike" baseline="0" dirty="0">
              <a:solidFill>
                <a:srgbClr val="000000"/>
              </a:solidFill>
              <a:latin typeface="+mn-lt"/>
            </a:endParaRPr>
          </a:p>
          <a:p>
            <a:r>
              <a:rPr lang="es-AR" sz="2200" b="0" i="0" u="none" strike="noStrike" baseline="0" dirty="0">
                <a:solidFill>
                  <a:srgbClr val="000000"/>
                </a:solidFill>
                <a:latin typeface="+mn-lt"/>
              </a:rPr>
              <a:t>El </a:t>
            </a:r>
            <a:r>
              <a:rPr lang="es-AR" sz="2200" b="1" i="0" u="none" strike="noStrike" baseline="0" dirty="0">
                <a:solidFill>
                  <a:srgbClr val="000000"/>
                </a:solidFill>
                <a:latin typeface="+mn-lt"/>
              </a:rPr>
              <a:t>cifrado César </a:t>
            </a:r>
            <a:r>
              <a:rPr lang="es-AR" sz="2200" b="0" i="0" u="none" strike="noStrike" baseline="0" dirty="0">
                <a:solidFill>
                  <a:srgbClr val="000000"/>
                </a:solidFill>
                <a:latin typeface="+mn-lt"/>
              </a:rPr>
              <a:t>es uno de los primeros métodos de cifrado conocidos históricamente. Julio César lo usó para enviar órdenes a sus generales en los campos de batalla. Consistía en escribir el mensaje con un alfabeto que estaba formado por las letras del alfabeto latino normal desplazadas tres posiciones a la derecha. </a:t>
            </a:r>
          </a:p>
          <a:p>
            <a:endParaRPr lang="es-AR" sz="2200" dirty="0">
              <a:latin typeface="+mn-lt"/>
              <a:cs typeface="Arial" panose="020B0604020202020204" pitchFamily="34" charset="0"/>
            </a:endParaRPr>
          </a:p>
          <a:p>
            <a:endParaRPr lang="es-AR" sz="2200" b="0" i="0" dirty="0">
              <a:solidFill>
                <a:srgbClr val="2C2F34"/>
              </a:solidFill>
              <a:latin typeface="+mn-lt"/>
              <a:cs typeface="Arial" panose="020B0604020202020204" pitchFamily="34" charset="0"/>
            </a:endParaRPr>
          </a:p>
          <a:p>
            <a:endParaRPr lang="es-AR" sz="2200" dirty="0">
              <a:solidFill>
                <a:srgbClr val="2C2F34"/>
              </a:solidFill>
              <a:latin typeface="+mn-lt"/>
              <a:cs typeface="Arial" panose="020B0604020202020204" pitchFamily="34" charset="0"/>
            </a:endParaRPr>
          </a:p>
          <a:p>
            <a:endParaRPr lang="es-AR" sz="2200" b="0" i="0" dirty="0">
              <a:solidFill>
                <a:srgbClr val="2C2F34"/>
              </a:solidFill>
              <a:latin typeface="+mn-lt"/>
              <a:cs typeface="Arial" panose="020B0604020202020204" pitchFamily="34" charset="0"/>
            </a:endParaRPr>
          </a:p>
          <a:p>
            <a:endParaRPr lang="es-AR" sz="2200" dirty="0">
              <a:solidFill>
                <a:srgbClr val="2C2F34"/>
              </a:solidFill>
              <a:latin typeface="+mn-lt"/>
              <a:cs typeface="Arial" panose="020B0604020202020204" pitchFamily="34" charset="0"/>
            </a:endParaRPr>
          </a:p>
          <a:p>
            <a:endParaRPr lang="es-AR" sz="2200" b="0" i="0" dirty="0">
              <a:solidFill>
                <a:srgbClr val="2C2F34"/>
              </a:solidFill>
              <a:latin typeface="+mn-lt"/>
              <a:cs typeface="Arial" panose="020B0604020202020204" pitchFamily="34" charset="0"/>
            </a:endParaRPr>
          </a:p>
          <a:p>
            <a:endParaRPr lang="es-AR" sz="2200" dirty="0">
              <a:solidFill>
                <a:srgbClr val="2C2F34"/>
              </a:solidFill>
              <a:latin typeface="+mn-lt"/>
              <a:cs typeface="Arial" panose="020B0604020202020204" pitchFamily="34" charset="0"/>
            </a:endParaRPr>
          </a:p>
          <a:p>
            <a:r>
              <a:rPr lang="es-AR" sz="2200" b="0" i="0" dirty="0">
                <a:solidFill>
                  <a:srgbClr val="2C2F34"/>
                </a:solidFill>
                <a:latin typeface="+mn-lt"/>
                <a:cs typeface="Arial" panose="020B0604020202020204" pitchFamily="34" charset="0"/>
              </a:rPr>
              <a:t>Desencriptar lo siguiente: </a:t>
            </a:r>
            <a:r>
              <a:rPr lang="en-US" sz="1800" b="0" i="0" u="none" strike="noStrike" baseline="0" dirty="0">
                <a:solidFill>
                  <a:srgbClr val="000000"/>
                </a:solidFill>
              </a:rPr>
              <a:t>DWDFDUDÑDODPHFHU </a:t>
            </a:r>
            <a:endParaRPr lang="es-AR" sz="2200" b="0" i="0" dirty="0">
              <a:solidFill>
                <a:srgbClr val="2C2F34"/>
              </a:solidFill>
              <a:latin typeface="+mn-lt"/>
              <a:cs typeface="Arial" panose="020B0604020202020204" pitchFamily="34" charset="0"/>
            </a:endParaRPr>
          </a:p>
        </p:txBody>
      </p:sp>
      <p:pic>
        <p:nvPicPr>
          <p:cNvPr id="4" name="Imagen 3">
            <a:extLst>
              <a:ext uri="{FF2B5EF4-FFF2-40B4-BE49-F238E27FC236}">
                <a16:creationId xmlns:a16="http://schemas.microsoft.com/office/drawing/2014/main" id="{04401979-D765-DAF8-E16A-99EA555DE8BD}"/>
              </a:ext>
            </a:extLst>
          </p:cNvPr>
          <p:cNvPicPr>
            <a:picLocks noChangeAspect="1"/>
          </p:cNvPicPr>
          <p:nvPr/>
        </p:nvPicPr>
        <p:blipFill>
          <a:blip r:embed="rId3"/>
          <a:stretch>
            <a:fillRect/>
          </a:stretch>
        </p:blipFill>
        <p:spPr>
          <a:xfrm>
            <a:off x="1961536" y="4091143"/>
            <a:ext cx="8391832" cy="805321"/>
          </a:xfrm>
          <a:prstGeom prst="rect">
            <a:avLst/>
          </a:prstGeom>
        </p:spPr>
      </p:pic>
      <p:pic>
        <p:nvPicPr>
          <p:cNvPr id="6" name="Imagen 5">
            <a:extLst>
              <a:ext uri="{FF2B5EF4-FFF2-40B4-BE49-F238E27FC236}">
                <a16:creationId xmlns:a16="http://schemas.microsoft.com/office/drawing/2014/main" id="{7C2D7FB5-C8CA-0243-E174-8213500A2F67}"/>
              </a:ext>
            </a:extLst>
          </p:cNvPr>
          <p:cNvPicPr>
            <a:picLocks noChangeAspect="1"/>
          </p:cNvPicPr>
          <p:nvPr/>
        </p:nvPicPr>
        <p:blipFill>
          <a:blip r:embed="rId4"/>
          <a:stretch>
            <a:fillRect/>
          </a:stretch>
        </p:blipFill>
        <p:spPr>
          <a:xfrm>
            <a:off x="1961536" y="5079128"/>
            <a:ext cx="8391832" cy="755235"/>
          </a:xfrm>
          <a:prstGeom prst="rect">
            <a:avLst/>
          </a:prstGeom>
        </p:spPr>
      </p:pic>
    </p:spTree>
    <p:extLst>
      <p:ext uri="{BB962C8B-B14F-4D97-AF65-F5344CB8AC3E}">
        <p14:creationId xmlns:p14="http://schemas.microsoft.com/office/powerpoint/2010/main" val="27283774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3"/>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ct val="64516"/>
              <a:buNone/>
            </a:pPr>
            <a:r>
              <a:rPr lang="es-ES" sz="2800" dirty="0"/>
              <a:t>Métodos </a:t>
            </a:r>
            <a:r>
              <a:rPr lang="es-ES" sz="2800" dirty="0" err="1"/>
              <a:t>monoalfabetos</a:t>
            </a:r>
            <a:r>
              <a:rPr lang="es-ES" sz="2800" dirty="0"/>
              <a:t> – Cifrado por sustitución</a:t>
            </a:r>
            <a:endParaRPr dirty="0">
              <a:solidFill>
                <a:schemeClr val="lt1"/>
              </a:solidFill>
            </a:endParaRPr>
          </a:p>
        </p:txBody>
      </p:sp>
      <p:sp>
        <p:nvSpPr>
          <p:cNvPr id="10" name="CuadroTexto 9">
            <a:extLst>
              <a:ext uri="{FF2B5EF4-FFF2-40B4-BE49-F238E27FC236}">
                <a16:creationId xmlns:a16="http://schemas.microsoft.com/office/drawing/2014/main" id="{A04286C7-4FEB-3F53-7B5A-AFE43CF62318}"/>
              </a:ext>
            </a:extLst>
          </p:cNvPr>
          <p:cNvSpPr txBox="1"/>
          <p:nvPr/>
        </p:nvSpPr>
        <p:spPr>
          <a:xfrm>
            <a:off x="449451" y="2053377"/>
            <a:ext cx="11029616" cy="1723549"/>
          </a:xfrm>
          <a:prstGeom prst="rect">
            <a:avLst/>
          </a:prstGeom>
          <a:noFill/>
        </p:spPr>
        <p:txBody>
          <a:bodyPr wrap="square" rtlCol="0">
            <a:spAutoFit/>
          </a:bodyPr>
          <a:lstStyle/>
          <a:p>
            <a:r>
              <a:rPr lang="en-US" sz="2200" b="1" i="0" u="none" strike="noStrike" baseline="0" dirty="0" err="1">
                <a:solidFill>
                  <a:schemeClr val="tx1"/>
                </a:solidFill>
                <a:latin typeface="+mn-lt"/>
              </a:rPr>
              <a:t>Cifrado</a:t>
            </a:r>
            <a:r>
              <a:rPr lang="en-US" sz="2200" b="1" i="0" u="none" strike="noStrike" baseline="0" dirty="0">
                <a:solidFill>
                  <a:schemeClr val="tx1"/>
                </a:solidFill>
                <a:latin typeface="+mn-lt"/>
              </a:rPr>
              <a:t> </a:t>
            </a:r>
            <a:r>
              <a:rPr lang="en-US" sz="2200" b="1" dirty="0">
                <a:solidFill>
                  <a:schemeClr val="tx1"/>
                </a:solidFill>
                <a:latin typeface="+mn-lt"/>
              </a:rPr>
              <a:t>ROT-13</a:t>
            </a:r>
          </a:p>
          <a:p>
            <a:r>
              <a:rPr lang="es-AR" sz="2200" b="0" i="0" dirty="0">
                <a:solidFill>
                  <a:schemeClr val="tx1"/>
                </a:solidFill>
                <a:effectLst/>
                <a:latin typeface="+mn-lt"/>
              </a:rPr>
              <a:t>El </a:t>
            </a:r>
            <a:r>
              <a:rPr lang="es-AR" sz="2200" b="0" i="0" u="none" strike="noStrike" dirty="0">
                <a:solidFill>
                  <a:schemeClr val="tx1"/>
                </a:solidFill>
                <a:effectLst/>
                <a:latin typeface="+mn-lt"/>
                <a:hlinkClick r:id="rId3" tooltip="ROT13">
                  <a:extLst>
                    <a:ext uri="{A12FA001-AC4F-418D-AE19-62706E023703}">
                      <ahyp:hlinkClr xmlns:ahyp="http://schemas.microsoft.com/office/drawing/2018/hyperlinkcolor" val="tx"/>
                    </a:ext>
                  </a:extLst>
                </a:hlinkClick>
              </a:rPr>
              <a:t>cifrado ROT13</a:t>
            </a:r>
            <a:r>
              <a:rPr lang="es-AR" sz="2200" b="0" i="0" dirty="0">
                <a:solidFill>
                  <a:schemeClr val="tx1"/>
                </a:solidFill>
                <a:effectLst/>
                <a:latin typeface="+mn-lt"/>
              </a:rPr>
              <a:t> o ROT-13 es similar al </a:t>
            </a:r>
            <a:r>
              <a:rPr lang="es-AR" sz="2200" b="0" i="0" u="none" strike="noStrike" dirty="0">
                <a:solidFill>
                  <a:schemeClr val="tx1"/>
                </a:solidFill>
                <a:effectLst/>
                <a:latin typeface="+mn-lt"/>
                <a:hlinkClick r:id="rId4" tooltip="Cifrado César">
                  <a:extLst>
                    <a:ext uri="{A12FA001-AC4F-418D-AE19-62706E023703}">
                      <ahyp:hlinkClr xmlns:ahyp="http://schemas.microsoft.com/office/drawing/2018/hyperlinkcolor" val="tx"/>
                    </a:ext>
                  </a:extLst>
                </a:hlinkClick>
              </a:rPr>
              <a:t>cifrado César</a:t>
            </a:r>
            <a:r>
              <a:rPr lang="es-AR" sz="2200" b="0" i="0" dirty="0">
                <a:solidFill>
                  <a:schemeClr val="tx1"/>
                </a:solidFill>
                <a:effectLst/>
                <a:latin typeface="+mn-lt"/>
              </a:rPr>
              <a:t> pero en lugar de tener un desplazamiento de tres, utiliza un desplazamiento de </a:t>
            </a:r>
            <a:r>
              <a:rPr lang="es-AR" sz="2200" b="1" i="0" dirty="0">
                <a:solidFill>
                  <a:schemeClr val="tx1"/>
                </a:solidFill>
                <a:effectLst/>
                <a:latin typeface="+mn-lt"/>
              </a:rPr>
              <a:t>trece</a:t>
            </a:r>
            <a:r>
              <a:rPr lang="es-AR" sz="2200" b="0" i="0" dirty="0">
                <a:solidFill>
                  <a:schemeClr val="tx1"/>
                </a:solidFill>
                <a:effectLst/>
                <a:latin typeface="+mn-lt"/>
              </a:rPr>
              <a:t>. Por tanto también es de </a:t>
            </a:r>
            <a:r>
              <a:rPr lang="es-AR" sz="2200" b="1" i="0" dirty="0">
                <a:solidFill>
                  <a:schemeClr val="tx1"/>
                </a:solidFill>
                <a:effectLst/>
                <a:latin typeface="+mn-lt"/>
              </a:rPr>
              <a:t>alfabeto desplazado</a:t>
            </a:r>
            <a:r>
              <a:rPr lang="es-AR" sz="2200" b="0" i="0" dirty="0">
                <a:solidFill>
                  <a:schemeClr val="tx1"/>
                </a:solidFill>
                <a:effectLst/>
                <a:latin typeface="+mn-lt"/>
              </a:rPr>
              <a:t>.</a:t>
            </a:r>
          </a:p>
          <a:p>
            <a:endParaRPr lang="en-US" sz="1800" b="0" i="0" u="none" strike="noStrike" baseline="0" dirty="0">
              <a:solidFill>
                <a:srgbClr val="000000"/>
              </a:solidFill>
              <a:latin typeface="Times New Roman" panose="02020603050405020304" pitchFamily="18" charset="0"/>
            </a:endParaRPr>
          </a:p>
        </p:txBody>
      </p:sp>
      <p:pic>
        <p:nvPicPr>
          <p:cNvPr id="3" name="Imagen 2">
            <a:extLst>
              <a:ext uri="{FF2B5EF4-FFF2-40B4-BE49-F238E27FC236}">
                <a16:creationId xmlns:a16="http://schemas.microsoft.com/office/drawing/2014/main" id="{BBDE58CE-1609-E5E0-9700-008F632B7707}"/>
              </a:ext>
            </a:extLst>
          </p:cNvPr>
          <p:cNvPicPr>
            <a:picLocks noChangeAspect="1"/>
          </p:cNvPicPr>
          <p:nvPr/>
        </p:nvPicPr>
        <p:blipFill>
          <a:blip r:embed="rId5"/>
          <a:stretch>
            <a:fillRect/>
          </a:stretch>
        </p:blipFill>
        <p:spPr>
          <a:xfrm>
            <a:off x="3057409" y="3429000"/>
            <a:ext cx="5105775" cy="3206676"/>
          </a:xfrm>
          <a:prstGeom prst="rect">
            <a:avLst/>
          </a:prstGeom>
        </p:spPr>
      </p:pic>
    </p:spTree>
    <p:extLst>
      <p:ext uri="{BB962C8B-B14F-4D97-AF65-F5344CB8AC3E}">
        <p14:creationId xmlns:p14="http://schemas.microsoft.com/office/powerpoint/2010/main" val="13843144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3"/>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ct val="64516"/>
              <a:buNone/>
            </a:pPr>
            <a:r>
              <a:rPr lang="es-ES" sz="2800" dirty="0"/>
              <a:t>Métodos </a:t>
            </a:r>
            <a:r>
              <a:rPr lang="es-ES" sz="2800" dirty="0" err="1"/>
              <a:t>monoalfabetos</a:t>
            </a:r>
            <a:r>
              <a:rPr lang="es-ES" sz="2800" dirty="0"/>
              <a:t> – Por Frecuencias</a:t>
            </a:r>
            <a:endParaRPr dirty="0">
              <a:solidFill>
                <a:schemeClr val="lt1"/>
              </a:solidFill>
            </a:endParaRPr>
          </a:p>
        </p:txBody>
      </p:sp>
      <p:sp>
        <p:nvSpPr>
          <p:cNvPr id="10" name="CuadroTexto 9">
            <a:extLst>
              <a:ext uri="{FF2B5EF4-FFF2-40B4-BE49-F238E27FC236}">
                <a16:creationId xmlns:a16="http://schemas.microsoft.com/office/drawing/2014/main" id="{A04286C7-4FEB-3F53-7B5A-AFE43CF62318}"/>
              </a:ext>
            </a:extLst>
          </p:cNvPr>
          <p:cNvSpPr txBox="1"/>
          <p:nvPr/>
        </p:nvSpPr>
        <p:spPr>
          <a:xfrm>
            <a:off x="449451" y="2053377"/>
            <a:ext cx="11029616" cy="1785104"/>
          </a:xfrm>
          <a:prstGeom prst="rect">
            <a:avLst/>
          </a:prstGeom>
          <a:noFill/>
        </p:spPr>
        <p:txBody>
          <a:bodyPr wrap="square" rtlCol="0">
            <a:spAutoFit/>
          </a:bodyPr>
          <a:lstStyle/>
          <a:p>
            <a:r>
              <a:rPr lang="es-AR" sz="2200" b="0" i="0" u="none" strike="noStrike" baseline="0" dirty="0">
                <a:solidFill>
                  <a:srgbClr val="000000"/>
                </a:solidFill>
                <a:latin typeface="+mn-lt"/>
              </a:rPr>
              <a:t>La letra que más aparece en Castellano es la E. Parece lógico que la letra más frecuente en el texto codificado sea aquella que corresponde con la E. Emparejando las frecuencias relativas de aparición de cada símbolo en el mensaje cifrado con el histograma de frecuencias del idioma en el que se supone está el texto claro, podremos averiguar fácilmente la clave. </a:t>
            </a:r>
            <a:endParaRPr lang="en-US" sz="2200" b="0" i="0" u="none" strike="noStrike" baseline="0" dirty="0">
              <a:solidFill>
                <a:srgbClr val="000000"/>
              </a:solidFill>
              <a:latin typeface="+mn-lt"/>
            </a:endParaRPr>
          </a:p>
        </p:txBody>
      </p:sp>
      <p:pic>
        <p:nvPicPr>
          <p:cNvPr id="4" name="Imagen 3">
            <a:extLst>
              <a:ext uri="{FF2B5EF4-FFF2-40B4-BE49-F238E27FC236}">
                <a16:creationId xmlns:a16="http://schemas.microsoft.com/office/drawing/2014/main" id="{7B2561E7-0760-226A-D3A1-0964C8C0EDD3}"/>
              </a:ext>
            </a:extLst>
          </p:cNvPr>
          <p:cNvPicPr>
            <a:picLocks noChangeAspect="1"/>
          </p:cNvPicPr>
          <p:nvPr/>
        </p:nvPicPr>
        <p:blipFill>
          <a:blip r:embed="rId3"/>
          <a:stretch>
            <a:fillRect/>
          </a:stretch>
        </p:blipFill>
        <p:spPr>
          <a:xfrm>
            <a:off x="449451" y="3838481"/>
            <a:ext cx="11161358" cy="3019519"/>
          </a:xfrm>
          <a:prstGeom prst="rect">
            <a:avLst/>
          </a:prstGeom>
        </p:spPr>
      </p:pic>
    </p:spTree>
    <p:extLst>
      <p:ext uri="{BB962C8B-B14F-4D97-AF65-F5344CB8AC3E}">
        <p14:creationId xmlns:p14="http://schemas.microsoft.com/office/powerpoint/2010/main" val="23855151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3"/>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ct val="64516"/>
              <a:buNone/>
            </a:pPr>
            <a:r>
              <a:rPr lang="es-ES" sz="2800" dirty="0"/>
              <a:t>Métodos </a:t>
            </a:r>
            <a:r>
              <a:rPr lang="es-ES" dirty="0" err="1"/>
              <a:t>poli</a:t>
            </a:r>
            <a:r>
              <a:rPr lang="es-ES" sz="2800" dirty="0" err="1"/>
              <a:t>alfabéticos</a:t>
            </a:r>
            <a:r>
              <a:rPr lang="es-ES" sz="2800" dirty="0"/>
              <a:t> – </a:t>
            </a:r>
            <a:r>
              <a:rPr lang="es-ES" sz="2800" dirty="0" err="1"/>
              <a:t>Polybios</a:t>
            </a:r>
            <a:endParaRPr dirty="0">
              <a:solidFill>
                <a:schemeClr val="lt1"/>
              </a:solidFill>
            </a:endParaRPr>
          </a:p>
        </p:txBody>
      </p:sp>
      <p:pic>
        <p:nvPicPr>
          <p:cNvPr id="6" name="Imagen 5">
            <a:extLst>
              <a:ext uri="{FF2B5EF4-FFF2-40B4-BE49-F238E27FC236}">
                <a16:creationId xmlns:a16="http://schemas.microsoft.com/office/drawing/2014/main" id="{B122FEAF-5C69-05B6-4783-13253FB83FF3}"/>
              </a:ext>
            </a:extLst>
          </p:cNvPr>
          <p:cNvPicPr>
            <a:picLocks noChangeAspect="1"/>
          </p:cNvPicPr>
          <p:nvPr/>
        </p:nvPicPr>
        <p:blipFill>
          <a:blip r:embed="rId3"/>
          <a:stretch>
            <a:fillRect/>
          </a:stretch>
        </p:blipFill>
        <p:spPr>
          <a:xfrm>
            <a:off x="4273038" y="1942360"/>
            <a:ext cx="7918962" cy="4915640"/>
          </a:xfrm>
          <a:prstGeom prst="rect">
            <a:avLst/>
          </a:prstGeom>
        </p:spPr>
      </p:pic>
      <p:sp>
        <p:nvSpPr>
          <p:cNvPr id="7" name="CuadroTexto 6">
            <a:extLst>
              <a:ext uri="{FF2B5EF4-FFF2-40B4-BE49-F238E27FC236}">
                <a16:creationId xmlns:a16="http://schemas.microsoft.com/office/drawing/2014/main" id="{32A4E36A-4E06-28DB-6DEA-23B9B379A561}"/>
              </a:ext>
            </a:extLst>
          </p:cNvPr>
          <p:cNvSpPr txBox="1"/>
          <p:nvPr/>
        </p:nvSpPr>
        <p:spPr>
          <a:xfrm>
            <a:off x="368710" y="2359742"/>
            <a:ext cx="3687096" cy="3970318"/>
          </a:xfrm>
          <a:prstGeom prst="rect">
            <a:avLst/>
          </a:prstGeom>
          <a:noFill/>
        </p:spPr>
        <p:txBody>
          <a:bodyPr wrap="square" rtlCol="0">
            <a:spAutoFit/>
          </a:bodyPr>
          <a:lstStyle/>
          <a:p>
            <a:r>
              <a:rPr lang="es-AR" sz="1800" dirty="0"/>
              <a:t>Este método se le atribuye al historiador griego </a:t>
            </a:r>
            <a:r>
              <a:rPr lang="es-AR" sz="1800" b="1" dirty="0" err="1"/>
              <a:t>Polybios</a:t>
            </a:r>
            <a:r>
              <a:rPr lang="es-AR" sz="1800" dirty="0"/>
              <a:t>.</a:t>
            </a:r>
          </a:p>
          <a:p>
            <a:endParaRPr lang="es-AR" sz="1800" dirty="0"/>
          </a:p>
          <a:p>
            <a:r>
              <a:rPr lang="es-AR" sz="1800" dirty="0"/>
              <a:t>El sistema de cifrado consiste en hacer corresponder a una letra de alfabeto con un par de letras que indicaban fila y columna en la que se encontraba en un recuadro de 5 x 5 = 25 caracteres .</a:t>
            </a:r>
          </a:p>
          <a:p>
            <a:r>
              <a:rPr lang="es-AR" sz="1800" dirty="0"/>
              <a:t>Se muestra una tabla de cifrado de </a:t>
            </a:r>
            <a:r>
              <a:rPr lang="es-AR" sz="1800" dirty="0" err="1"/>
              <a:t>Polybios</a:t>
            </a:r>
            <a:r>
              <a:rPr lang="es-AR" sz="1800" dirty="0"/>
              <a:t> adaptada al castellano con un conjunto de letras A,B,C,D,E y con números 1,2,3,4 y 5.</a:t>
            </a:r>
            <a:endParaRPr lang="en-US" sz="1800" dirty="0"/>
          </a:p>
        </p:txBody>
      </p:sp>
    </p:spTree>
    <p:extLst>
      <p:ext uri="{BB962C8B-B14F-4D97-AF65-F5344CB8AC3E}">
        <p14:creationId xmlns:p14="http://schemas.microsoft.com/office/powerpoint/2010/main" val="12959239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3"/>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ct val="64516"/>
              <a:buNone/>
            </a:pPr>
            <a:r>
              <a:rPr lang="es-ES" sz="2800" dirty="0"/>
              <a:t>Métodos </a:t>
            </a:r>
            <a:r>
              <a:rPr lang="es-ES" sz="2800" dirty="0" err="1"/>
              <a:t>polialfabéticos</a:t>
            </a:r>
            <a:r>
              <a:rPr lang="es-ES" sz="2800" dirty="0"/>
              <a:t> – </a:t>
            </a:r>
            <a:r>
              <a:rPr lang="es-ES" sz="2800" dirty="0" err="1"/>
              <a:t>Vigénere</a:t>
            </a:r>
            <a:endParaRPr dirty="0">
              <a:solidFill>
                <a:schemeClr val="lt1"/>
              </a:solidFill>
            </a:endParaRPr>
          </a:p>
        </p:txBody>
      </p:sp>
      <p:pic>
        <p:nvPicPr>
          <p:cNvPr id="3" name="Imagen 2">
            <a:extLst>
              <a:ext uri="{FF2B5EF4-FFF2-40B4-BE49-F238E27FC236}">
                <a16:creationId xmlns:a16="http://schemas.microsoft.com/office/drawing/2014/main" id="{108D4EF0-A0F9-15B3-2792-57E7D4E7037A}"/>
              </a:ext>
            </a:extLst>
          </p:cNvPr>
          <p:cNvPicPr>
            <a:picLocks noChangeAspect="1"/>
          </p:cNvPicPr>
          <p:nvPr/>
        </p:nvPicPr>
        <p:blipFill>
          <a:blip r:embed="rId3"/>
          <a:stretch>
            <a:fillRect/>
          </a:stretch>
        </p:blipFill>
        <p:spPr>
          <a:xfrm>
            <a:off x="2858729" y="1997249"/>
            <a:ext cx="6474541" cy="4752975"/>
          </a:xfrm>
          <a:prstGeom prst="rect">
            <a:avLst/>
          </a:prstGeom>
        </p:spPr>
      </p:pic>
    </p:spTree>
    <p:extLst>
      <p:ext uri="{BB962C8B-B14F-4D97-AF65-F5344CB8AC3E}">
        <p14:creationId xmlns:p14="http://schemas.microsoft.com/office/powerpoint/2010/main" val="28731215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3"/>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ct val="64516"/>
              <a:buNone/>
            </a:pPr>
            <a:r>
              <a:rPr lang="es-ES" sz="2800" dirty="0"/>
              <a:t>Métodos </a:t>
            </a:r>
            <a:r>
              <a:rPr lang="es-ES" sz="2800" dirty="0" err="1"/>
              <a:t>polialfabéticos</a:t>
            </a:r>
            <a:r>
              <a:rPr lang="es-ES" sz="2800" dirty="0"/>
              <a:t> – </a:t>
            </a:r>
            <a:r>
              <a:rPr lang="es-ES" sz="2800" dirty="0" err="1"/>
              <a:t>Vigénere</a:t>
            </a:r>
            <a:endParaRPr dirty="0">
              <a:solidFill>
                <a:schemeClr val="lt1"/>
              </a:solidFill>
            </a:endParaRPr>
          </a:p>
        </p:txBody>
      </p:sp>
      <p:sp>
        <p:nvSpPr>
          <p:cNvPr id="5" name="CuadroTexto 4">
            <a:extLst>
              <a:ext uri="{FF2B5EF4-FFF2-40B4-BE49-F238E27FC236}">
                <a16:creationId xmlns:a16="http://schemas.microsoft.com/office/drawing/2014/main" id="{BD87E30D-32B9-46C0-57D6-621DFD70ED3B}"/>
              </a:ext>
            </a:extLst>
          </p:cNvPr>
          <p:cNvSpPr txBox="1"/>
          <p:nvPr/>
        </p:nvSpPr>
        <p:spPr>
          <a:xfrm>
            <a:off x="439993" y="2025908"/>
            <a:ext cx="11312013" cy="4832092"/>
          </a:xfrm>
          <a:prstGeom prst="rect">
            <a:avLst/>
          </a:prstGeom>
          <a:noFill/>
        </p:spPr>
        <p:txBody>
          <a:bodyPr wrap="square" rtlCol="0">
            <a:spAutoFit/>
          </a:bodyPr>
          <a:lstStyle/>
          <a:p>
            <a:r>
              <a:rPr lang="es-AR" sz="2200" dirty="0"/>
              <a:t>El Sistema de cifrado de </a:t>
            </a:r>
            <a:r>
              <a:rPr lang="es-AR" sz="2200" dirty="0" err="1"/>
              <a:t>Vigénere</a:t>
            </a:r>
            <a:r>
              <a:rPr lang="es-AR" sz="2200" dirty="0"/>
              <a:t> (en honor al criptógrafo francés) es un sistema </a:t>
            </a:r>
            <a:r>
              <a:rPr lang="es-AR" sz="2200" dirty="0" err="1"/>
              <a:t>polialfabético</a:t>
            </a:r>
            <a:r>
              <a:rPr lang="es-AR" sz="2200" dirty="0"/>
              <a:t> de sustitución múltiple.</a:t>
            </a:r>
          </a:p>
          <a:p>
            <a:r>
              <a:rPr lang="es-AR" sz="2200" dirty="0"/>
              <a:t>Estos sistemas aparecieron para sustituir a los </a:t>
            </a:r>
            <a:r>
              <a:rPr lang="es-AR" sz="2200" dirty="0" err="1"/>
              <a:t>monoalfabéticos</a:t>
            </a:r>
            <a:r>
              <a:rPr lang="es-AR" sz="2200" dirty="0"/>
              <a:t>. Utiliza como elemento principal una tabla llamada Tabla de </a:t>
            </a:r>
            <a:r>
              <a:rPr lang="es-AR" sz="2200" dirty="0" err="1"/>
              <a:t>Vigénere</a:t>
            </a:r>
            <a:r>
              <a:rPr lang="es-AR" sz="2200" dirty="0"/>
              <a:t>, que aplica una </a:t>
            </a:r>
            <a:r>
              <a:rPr lang="es-AR" sz="2200" dirty="0" err="1"/>
              <a:t>matríz</a:t>
            </a:r>
            <a:r>
              <a:rPr lang="es-AR" sz="2200" dirty="0"/>
              <a:t> cuadrada.</a:t>
            </a:r>
          </a:p>
          <a:p>
            <a:r>
              <a:rPr lang="es-AR" sz="2200" dirty="0"/>
              <a:t>Para utilizarla se utilizará con el mensaje y la clave, separando bloques del tamaño de la clave:</a:t>
            </a:r>
          </a:p>
          <a:p>
            <a:endParaRPr lang="es-AR" sz="2200" dirty="0"/>
          </a:p>
          <a:p>
            <a:r>
              <a:rPr lang="es-AR" sz="2200" dirty="0" err="1"/>
              <a:t>Mje</a:t>
            </a:r>
            <a:r>
              <a:rPr lang="es-AR" sz="2200" dirty="0"/>
              <a:t>: “La abrumadora soledad del programador”</a:t>
            </a:r>
          </a:p>
          <a:p>
            <a:r>
              <a:rPr lang="es-AR" sz="2200" dirty="0"/>
              <a:t>Clave: prueba</a:t>
            </a:r>
          </a:p>
          <a:p>
            <a:endParaRPr lang="es-AR" sz="2200" dirty="0"/>
          </a:p>
          <a:p>
            <a:r>
              <a:rPr lang="es-AR" sz="2200" dirty="0" err="1"/>
              <a:t>Laabru</a:t>
            </a:r>
            <a:r>
              <a:rPr lang="es-AR" sz="2200" dirty="0"/>
              <a:t>		madora	</a:t>
            </a:r>
            <a:r>
              <a:rPr lang="es-AR" sz="2200" dirty="0" err="1"/>
              <a:t>soleda</a:t>
            </a:r>
            <a:r>
              <a:rPr lang="es-AR" sz="2200" dirty="0"/>
              <a:t>		</a:t>
            </a:r>
            <a:r>
              <a:rPr lang="es-AR" sz="2200" dirty="0" err="1"/>
              <a:t>ddelpr</a:t>
            </a:r>
            <a:r>
              <a:rPr lang="es-AR" sz="2200" dirty="0"/>
              <a:t>		</a:t>
            </a:r>
            <a:r>
              <a:rPr lang="es-AR" sz="2200" dirty="0" err="1"/>
              <a:t>ograma</a:t>
            </a:r>
            <a:r>
              <a:rPr lang="es-AR" sz="2200" dirty="0"/>
              <a:t>	</a:t>
            </a:r>
            <a:r>
              <a:rPr lang="es-AR" sz="2200" dirty="0" err="1"/>
              <a:t>dor</a:t>
            </a:r>
            <a:endParaRPr lang="es-AR" sz="2200" dirty="0"/>
          </a:p>
          <a:p>
            <a:r>
              <a:rPr lang="es-AR" sz="2200" dirty="0"/>
              <a:t>prueba		prueba		prueba		prueba		prueba		</a:t>
            </a:r>
            <a:r>
              <a:rPr lang="es-AR" sz="2200" dirty="0" err="1"/>
              <a:t>pru</a:t>
            </a:r>
            <a:endParaRPr lang="es-AR" sz="2200" dirty="0"/>
          </a:p>
          <a:p>
            <a:r>
              <a:rPr lang="es-AR" sz="2200" dirty="0" err="1"/>
              <a:t>Arufsu</a:t>
            </a:r>
            <a:r>
              <a:rPr lang="es-AR" sz="2200" dirty="0"/>
              <a:t>		</a:t>
            </a:r>
            <a:r>
              <a:rPr lang="es-AR" sz="2200" dirty="0" err="1"/>
              <a:t>brxssa</a:t>
            </a:r>
            <a:r>
              <a:rPr lang="es-AR" sz="2200" dirty="0"/>
              <a:t>		</a:t>
            </a:r>
            <a:r>
              <a:rPr lang="es-AR" sz="2200" dirty="0" err="1"/>
              <a:t>hffiea</a:t>
            </a:r>
            <a:r>
              <a:rPr lang="es-AR" sz="2200" dirty="0"/>
              <a:t>		</a:t>
            </a:r>
            <a:r>
              <a:rPr lang="es-AR" sz="2200" dirty="0" err="1"/>
              <a:t>suypqr</a:t>
            </a:r>
            <a:r>
              <a:rPr lang="es-AR" sz="2200" dirty="0"/>
              <a:t>		</a:t>
            </a:r>
            <a:r>
              <a:rPr lang="es-AR" sz="2200" dirty="0" err="1"/>
              <a:t>dxlena</a:t>
            </a:r>
            <a:r>
              <a:rPr lang="es-AR" sz="2200" dirty="0"/>
              <a:t>		</a:t>
            </a:r>
            <a:r>
              <a:rPr lang="es-AR" sz="2200" dirty="0" err="1"/>
              <a:t>sfl</a:t>
            </a:r>
            <a:endParaRPr lang="es-AR" sz="2200" dirty="0"/>
          </a:p>
          <a:p>
            <a:endParaRPr lang="en-US" sz="2200" dirty="0"/>
          </a:p>
        </p:txBody>
      </p:sp>
    </p:spTree>
    <p:extLst>
      <p:ext uri="{BB962C8B-B14F-4D97-AF65-F5344CB8AC3E}">
        <p14:creationId xmlns:p14="http://schemas.microsoft.com/office/powerpoint/2010/main" val="14416712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3"/>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ct val="64516"/>
              <a:buNone/>
            </a:pPr>
            <a:r>
              <a:rPr lang="es-ES" sz="2800" dirty="0"/>
              <a:t>Algoritmos simétricos más utilizados</a:t>
            </a:r>
            <a:endParaRPr dirty="0">
              <a:solidFill>
                <a:schemeClr val="lt1"/>
              </a:solidFill>
            </a:endParaRPr>
          </a:p>
        </p:txBody>
      </p:sp>
      <p:sp>
        <p:nvSpPr>
          <p:cNvPr id="5" name="CuadroTexto 4">
            <a:extLst>
              <a:ext uri="{FF2B5EF4-FFF2-40B4-BE49-F238E27FC236}">
                <a16:creationId xmlns:a16="http://schemas.microsoft.com/office/drawing/2014/main" id="{BD87E30D-32B9-46C0-57D6-621DFD70ED3B}"/>
              </a:ext>
            </a:extLst>
          </p:cNvPr>
          <p:cNvSpPr txBox="1"/>
          <p:nvPr/>
        </p:nvSpPr>
        <p:spPr>
          <a:xfrm>
            <a:off x="439993" y="2025908"/>
            <a:ext cx="11312013" cy="4647426"/>
          </a:xfrm>
          <a:prstGeom prst="rect">
            <a:avLst/>
          </a:prstGeom>
          <a:noFill/>
        </p:spPr>
        <p:txBody>
          <a:bodyPr wrap="square" rtlCol="0">
            <a:spAutoFit/>
          </a:bodyPr>
          <a:lstStyle/>
          <a:p>
            <a:r>
              <a:rPr lang="es-AR" sz="2200" dirty="0">
                <a:solidFill>
                  <a:schemeClr val="tx1"/>
                </a:solidFill>
                <a:latin typeface="+mn-lt"/>
              </a:rPr>
              <a:t>Algoritmos simétricos más utilizados:</a:t>
            </a:r>
          </a:p>
          <a:p>
            <a:r>
              <a:rPr lang="es-AR" sz="2200" dirty="0">
                <a:solidFill>
                  <a:schemeClr val="tx1"/>
                </a:solidFill>
                <a:effectLst/>
                <a:latin typeface="+mn-lt"/>
              </a:rPr>
              <a:t>Los algoritmos simétricos más conocidos son más rápidos que los algoritmos de clave publica más conocidos.</a:t>
            </a:r>
          </a:p>
          <a:p>
            <a:r>
              <a:rPr lang="es-AR" sz="2200" dirty="0">
                <a:solidFill>
                  <a:schemeClr val="tx1"/>
                </a:solidFill>
                <a:effectLst/>
                <a:latin typeface="+mn-lt"/>
              </a:rPr>
              <a:t>Por lo tanto, se prefieren al procesar grandes cantidades de datos. Algunos de los algoritmos simétricos más comunes son RC4, Triple DES y </a:t>
            </a:r>
            <a:r>
              <a:rPr lang="es-AR" sz="2200" dirty="0" err="1">
                <a:solidFill>
                  <a:schemeClr val="tx1"/>
                </a:solidFill>
                <a:effectLst/>
                <a:latin typeface="+mn-lt"/>
              </a:rPr>
              <a:t>Advance</a:t>
            </a:r>
            <a:r>
              <a:rPr lang="es-AR" sz="2200" dirty="0">
                <a:solidFill>
                  <a:schemeClr val="tx1"/>
                </a:solidFill>
                <a:effectLst/>
                <a:latin typeface="+mn-lt"/>
              </a:rPr>
              <a:t> </a:t>
            </a:r>
            <a:r>
              <a:rPr lang="es-AR" sz="2200" dirty="0" err="1">
                <a:solidFill>
                  <a:schemeClr val="tx1"/>
                </a:solidFill>
                <a:effectLst/>
                <a:latin typeface="+mn-lt"/>
              </a:rPr>
              <a:t>Encryption</a:t>
            </a:r>
            <a:r>
              <a:rPr lang="es-AR" sz="2200" dirty="0">
                <a:solidFill>
                  <a:schemeClr val="tx1"/>
                </a:solidFill>
                <a:effectLst/>
                <a:latin typeface="+mn-lt"/>
              </a:rPr>
              <a:t> Standard(AES). </a:t>
            </a:r>
          </a:p>
          <a:p>
            <a:endParaRPr lang="es-AR" sz="2200" dirty="0">
              <a:solidFill>
                <a:schemeClr val="tx1"/>
              </a:solidFill>
              <a:latin typeface="+mn-lt"/>
            </a:endParaRPr>
          </a:p>
          <a:p>
            <a:endParaRPr lang="es-AR" sz="2200" dirty="0">
              <a:solidFill>
                <a:schemeClr val="tx1"/>
              </a:solidFill>
              <a:latin typeface="+mn-lt"/>
            </a:endParaRPr>
          </a:p>
          <a:p>
            <a:r>
              <a:rPr lang="es-AR" sz="1200" dirty="0"/>
              <a:t>Algoritmo de secuencia RC4</a:t>
            </a:r>
          </a:p>
          <a:p>
            <a:r>
              <a:rPr lang="es-AR" sz="1200" dirty="0"/>
              <a:t>Algoritmo de cifrado de datos basado en el cifrado de flujo simétrico RC4. RC4 se especifica mediante PROV_RSA_FULL tipos de proveedor. </a:t>
            </a:r>
            <a:r>
              <a:rPr lang="es-AR" sz="1200" dirty="0" err="1"/>
              <a:t>CryptoAPI</a:t>
            </a:r>
            <a:r>
              <a:rPr lang="es-AR" sz="1200" dirty="0"/>
              <a:t> hace referencia a este algoritmo por su identificador (CALG_RC4), nombre (RC4) y clase (ALG_CLASS_DATA_ENCRYPT).</a:t>
            </a:r>
          </a:p>
          <a:p>
            <a:endParaRPr lang="en-US" sz="1200" dirty="0"/>
          </a:p>
          <a:p>
            <a:r>
              <a:rPr lang="es-AR" sz="1200" dirty="0"/>
              <a:t>Estándar de cifrado de datos</a:t>
            </a:r>
          </a:p>
          <a:p>
            <a:r>
              <a:rPr lang="es-AR" sz="1200" dirty="0"/>
              <a:t>(DES) Cifrado de bloques que cifra los datos en bloques de 64 bits. DES es un algoritmo simétrico que usa el mismo algoritmo y clave para el cifrado y el descifrado.</a:t>
            </a:r>
          </a:p>
          <a:p>
            <a:r>
              <a:rPr lang="es-AR" sz="1200" dirty="0"/>
              <a:t>Desarrollado a principios de la década de 1970, DES también se conoce como DEA (algoritmo de cifrado de datos) por ANSI y el DEA-1 por ISO.</a:t>
            </a:r>
          </a:p>
          <a:p>
            <a:endParaRPr lang="es-AR" sz="1200" dirty="0"/>
          </a:p>
          <a:p>
            <a:r>
              <a:rPr lang="es-AR" sz="1200" dirty="0"/>
              <a:t>Estándar de cifrado avanzado</a:t>
            </a:r>
          </a:p>
          <a:p>
            <a:r>
              <a:rPr lang="es-AR" sz="1200" dirty="0"/>
              <a:t>(AES) Algoritmo criptográfico especificado por el Instituto Nacional de Estándares y Tecnología (NIST) para proteger la información confidencial.</a:t>
            </a:r>
            <a:endParaRPr lang="en-US" sz="1200" dirty="0"/>
          </a:p>
        </p:txBody>
      </p:sp>
    </p:spTree>
    <p:extLst>
      <p:ext uri="{BB962C8B-B14F-4D97-AF65-F5344CB8AC3E}">
        <p14:creationId xmlns:p14="http://schemas.microsoft.com/office/powerpoint/2010/main" val="5912051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3"/>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ct val="64516"/>
              <a:buNone/>
            </a:pPr>
            <a:r>
              <a:rPr lang="es-ES" sz="2800" dirty="0"/>
              <a:t>Criptografía asimétrica</a:t>
            </a:r>
            <a:endParaRPr dirty="0">
              <a:solidFill>
                <a:schemeClr val="lt1"/>
              </a:solidFill>
            </a:endParaRPr>
          </a:p>
        </p:txBody>
      </p:sp>
      <p:sp>
        <p:nvSpPr>
          <p:cNvPr id="5" name="CuadroTexto 4">
            <a:extLst>
              <a:ext uri="{FF2B5EF4-FFF2-40B4-BE49-F238E27FC236}">
                <a16:creationId xmlns:a16="http://schemas.microsoft.com/office/drawing/2014/main" id="{BD87E30D-32B9-46C0-57D6-621DFD70ED3B}"/>
              </a:ext>
            </a:extLst>
          </p:cNvPr>
          <p:cNvSpPr txBox="1"/>
          <p:nvPr/>
        </p:nvSpPr>
        <p:spPr>
          <a:xfrm>
            <a:off x="439993" y="2011159"/>
            <a:ext cx="11312013" cy="4493538"/>
          </a:xfrm>
          <a:prstGeom prst="rect">
            <a:avLst/>
          </a:prstGeom>
          <a:noFill/>
        </p:spPr>
        <p:txBody>
          <a:bodyPr wrap="square" rtlCol="0">
            <a:spAutoFit/>
          </a:bodyPr>
          <a:lstStyle/>
          <a:p>
            <a:pPr algn="l"/>
            <a:r>
              <a:rPr lang="es-AR" sz="2200" b="0" i="0" dirty="0">
                <a:solidFill>
                  <a:srgbClr val="333333"/>
                </a:solidFill>
                <a:effectLst/>
                <a:latin typeface="+mj-lt"/>
              </a:rPr>
              <a:t>La </a:t>
            </a:r>
            <a:r>
              <a:rPr lang="es-AR" sz="2200" b="1" i="0" dirty="0">
                <a:solidFill>
                  <a:srgbClr val="333333"/>
                </a:solidFill>
                <a:effectLst/>
                <a:latin typeface="+mj-lt"/>
              </a:rPr>
              <a:t>criptografía asimétrica es</a:t>
            </a:r>
            <a:r>
              <a:rPr lang="es-AR" sz="2200" b="0" i="0" dirty="0">
                <a:solidFill>
                  <a:srgbClr val="333333"/>
                </a:solidFill>
                <a:effectLst/>
                <a:latin typeface="+mj-lt"/>
              </a:rPr>
              <a:t> </a:t>
            </a:r>
            <a:r>
              <a:rPr lang="es-AR" sz="2200" b="1" i="0" dirty="0">
                <a:solidFill>
                  <a:srgbClr val="333333"/>
                </a:solidFill>
                <a:effectLst/>
                <a:latin typeface="+mj-lt"/>
              </a:rPr>
              <a:t>uno de los tipos de criptografía informática</a:t>
            </a:r>
            <a:r>
              <a:rPr lang="es-AR" sz="2200" b="0" i="0" dirty="0">
                <a:solidFill>
                  <a:srgbClr val="333333"/>
                </a:solidFill>
                <a:effectLst/>
                <a:latin typeface="+mj-lt"/>
              </a:rPr>
              <a:t> y una de las</a:t>
            </a:r>
            <a:r>
              <a:rPr lang="es-AR" sz="2200" b="1" i="0" dirty="0">
                <a:solidFill>
                  <a:srgbClr val="333333"/>
                </a:solidFill>
                <a:effectLst/>
                <a:latin typeface="+mj-lt"/>
              </a:rPr>
              <a:t> técnicas de criptografía más potentes</a:t>
            </a:r>
            <a:r>
              <a:rPr lang="es-AR" sz="2200" b="0" i="0" dirty="0">
                <a:solidFill>
                  <a:srgbClr val="333333"/>
                </a:solidFill>
                <a:effectLst/>
                <a:latin typeface="+mj-lt"/>
              </a:rPr>
              <a:t> diseñadas en base al uso de una fórmula matemática muy compleja para crear un par de claves</a:t>
            </a:r>
            <a:r>
              <a:rPr lang="es-AR" sz="2200" i="0" dirty="0">
                <a:solidFill>
                  <a:srgbClr val="333333"/>
                </a:solidFill>
                <a:effectLst/>
                <a:latin typeface="+mj-lt"/>
              </a:rPr>
              <a:t>:</a:t>
            </a:r>
            <a:r>
              <a:rPr lang="es-AR" sz="2200" b="1" i="0" dirty="0">
                <a:solidFill>
                  <a:srgbClr val="333333"/>
                </a:solidFill>
                <a:effectLst/>
                <a:latin typeface="+mj-lt"/>
              </a:rPr>
              <a:t> la clave privada y la clave pública</a:t>
            </a:r>
            <a:r>
              <a:rPr lang="es-AR" sz="2200" b="0" i="0" dirty="0">
                <a:solidFill>
                  <a:srgbClr val="333333"/>
                </a:solidFill>
                <a:effectLst/>
                <a:latin typeface="+mj-lt"/>
              </a:rPr>
              <a:t>. </a:t>
            </a:r>
          </a:p>
          <a:p>
            <a:pPr algn="l"/>
            <a:r>
              <a:rPr lang="es-AR" sz="2200" b="0" i="0" dirty="0">
                <a:solidFill>
                  <a:srgbClr val="333333"/>
                </a:solidFill>
                <a:effectLst/>
                <a:latin typeface="+mj-lt"/>
              </a:rPr>
              <a:t>A través de estas claves se establece un canal de comunicación seguro entre las partes, en el que tanto el emisor como el receptor deben usar criptografía asimétrica con un mismo algoritmo definido, que les permitirá crear un juego de claves único e irrepetible para cada uno.</a:t>
            </a:r>
          </a:p>
          <a:p>
            <a:pPr algn="l"/>
            <a:r>
              <a:rPr lang="es-AR" sz="2200" b="0" i="0" dirty="0">
                <a:solidFill>
                  <a:srgbClr val="333333"/>
                </a:solidFill>
                <a:effectLst/>
                <a:latin typeface="+mj-lt"/>
              </a:rPr>
              <a:t>En ese proceso de comunicación, el emisor y el receptor comparten entre ellos sus claves públicas; estas claves cifrarán posteriormente los mensajes que intercambien entre ellos. Y las claves privadas descifrarán esos mensajes para poder ver su contenido. Este proceso hace imposible que un tercero puede interferir en la comunicación y ver el contenido los mensajes.</a:t>
            </a:r>
          </a:p>
        </p:txBody>
      </p:sp>
    </p:spTree>
    <p:extLst>
      <p:ext uri="{BB962C8B-B14F-4D97-AF65-F5344CB8AC3E}">
        <p14:creationId xmlns:p14="http://schemas.microsoft.com/office/powerpoint/2010/main" val="20930004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3"/>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ct val="64516"/>
              <a:buNone/>
            </a:pPr>
            <a:r>
              <a:rPr lang="es-ES" sz="2800" dirty="0"/>
              <a:t>Criptografía asimétrica</a:t>
            </a:r>
            <a:endParaRPr dirty="0">
              <a:solidFill>
                <a:schemeClr val="lt1"/>
              </a:solidFill>
            </a:endParaRPr>
          </a:p>
        </p:txBody>
      </p:sp>
      <p:pic>
        <p:nvPicPr>
          <p:cNvPr id="3" name="Imagen 2">
            <a:extLst>
              <a:ext uri="{FF2B5EF4-FFF2-40B4-BE49-F238E27FC236}">
                <a16:creationId xmlns:a16="http://schemas.microsoft.com/office/drawing/2014/main" id="{87F67663-8E40-AE7D-CA06-CB05CE445E75}"/>
              </a:ext>
            </a:extLst>
          </p:cNvPr>
          <p:cNvPicPr>
            <a:picLocks noChangeAspect="1"/>
          </p:cNvPicPr>
          <p:nvPr/>
        </p:nvPicPr>
        <p:blipFill>
          <a:blip r:embed="rId3"/>
          <a:stretch>
            <a:fillRect/>
          </a:stretch>
        </p:blipFill>
        <p:spPr>
          <a:xfrm>
            <a:off x="581193" y="2612197"/>
            <a:ext cx="5273917" cy="2997457"/>
          </a:xfrm>
          <a:prstGeom prst="rect">
            <a:avLst/>
          </a:prstGeom>
        </p:spPr>
      </p:pic>
      <p:pic>
        <p:nvPicPr>
          <p:cNvPr id="6" name="Imagen 5">
            <a:extLst>
              <a:ext uri="{FF2B5EF4-FFF2-40B4-BE49-F238E27FC236}">
                <a16:creationId xmlns:a16="http://schemas.microsoft.com/office/drawing/2014/main" id="{97C99879-299C-0EC4-1A95-45D2A6673FBE}"/>
              </a:ext>
            </a:extLst>
          </p:cNvPr>
          <p:cNvPicPr>
            <a:picLocks noChangeAspect="1"/>
          </p:cNvPicPr>
          <p:nvPr/>
        </p:nvPicPr>
        <p:blipFill>
          <a:blip r:embed="rId4"/>
          <a:stretch>
            <a:fillRect/>
          </a:stretch>
        </p:blipFill>
        <p:spPr>
          <a:xfrm>
            <a:off x="6096000" y="2142554"/>
            <a:ext cx="5534025" cy="3467100"/>
          </a:xfrm>
          <a:prstGeom prst="rect">
            <a:avLst/>
          </a:prstGeom>
        </p:spPr>
      </p:pic>
    </p:spTree>
    <p:extLst>
      <p:ext uri="{BB962C8B-B14F-4D97-AF65-F5344CB8AC3E}">
        <p14:creationId xmlns:p14="http://schemas.microsoft.com/office/powerpoint/2010/main" val="21530602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3"/>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ct val="64516"/>
              <a:buNone/>
            </a:pPr>
            <a:r>
              <a:rPr lang="es-ES" sz="2800" dirty="0"/>
              <a:t>Firma Digital</a:t>
            </a:r>
            <a:endParaRPr dirty="0">
              <a:solidFill>
                <a:schemeClr val="lt1"/>
              </a:solidFill>
            </a:endParaRPr>
          </a:p>
        </p:txBody>
      </p:sp>
      <p:pic>
        <p:nvPicPr>
          <p:cNvPr id="3" name="Imagen 2">
            <a:extLst>
              <a:ext uri="{FF2B5EF4-FFF2-40B4-BE49-F238E27FC236}">
                <a16:creationId xmlns:a16="http://schemas.microsoft.com/office/drawing/2014/main" id="{8FD7A5BE-7236-A4EA-6079-EDD988B38386}"/>
              </a:ext>
            </a:extLst>
          </p:cNvPr>
          <p:cNvPicPr>
            <a:picLocks noChangeAspect="1"/>
          </p:cNvPicPr>
          <p:nvPr/>
        </p:nvPicPr>
        <p:blipFill>
          <a:blip r:embed="rId3"/>
          <a:stretch>
            <a:fillRect/>
          </a:stretch>
        </p:blipFill>
        <p:spPr>
          <a:xfrm>
            <a:off x="2091812" y="2011159"/>
            <a:ext cx="8008373" cy="4603010"/>
          </a:xfrm>
          <a:prstGeom prst="rect">
            <a:avLst/>
          </a:prstGeom>
        </p:spPr>
      </p:pic>
    </p:spTree>
    <p:extLst>
      <p:ext uri="{BB962C8B-B14F-4D97-AF65-F5344CB8AC3E}">
        <p14:creationId xmlns:p14="http://schemas.microsoft.com/office/powerpoint/2010/main" val="24346820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3"/>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ct val="64516"/>
              <a:buNone/>
            </a:pPr>
            <a:r>
              <a:rPr lang="es-ES" dirty="0">
                <a:solidFill>
                  <a:schemeClr val="lt1"/>
                </a:solidFill>
              </a:rPr>
              <a:t>Firma Digital</a:t>
            </a:r>
            <a:endParaRPr dirty="0">
              <a:solidFill>
                <a:schemeClr val="lt1"/>
              </a:solidFill>
            </a:endParaRPr>
          </a:p>
        </p:txBody>
      </p:sp>
      <p:sp>
        <p:nvSpPr>
          <p:cNvPr id="5" name="CuadroTexto 4">
            <a:extLst>
              <a:ext uri="{FF2B5EF4-FFF2-40B4-BE49-F238E27FC236}">
                <a16:creationId xmlns:a16="http://schemas.microsoft.com/office/drawing/2014/main" id="{BD87E30D-32B9-46C0-57D6-621DFD70ED3B}"/>
              </a:ext>
            </a:extLst>
          </p:cNvPr>
          <p:cNvSpPr txBox="1"/>
          <p:nvPr/>
        </p:nvSpPr>
        <p:spPr>
          <a:xfrm>
            <a:off x="439993" y="2011159"/>
            <a:ext cx="11312013" cy="4493538"/>
          </a:xfrm>
          <a:prstGeom prst="rect">
            <a:avLst/>
          </a:prstGeom>
          <a:noFill/>
        </p:spPr>
        <p:txBody>
          <a:bodyPr wrap="square" rtlCol="0">
            <a:spAutoFit/>
          </a:bodyPr>
          <a:lstStyle/>
          <a:p>
            <a:r>
              <a:rPr lang="en-US" sz="2200" b="1" i="0" u="none" strike="noStrike" baseline="0" dirty="0">
                <a:solidFill>
                  <a:srgbClr val="000000"/>
                </a:solidFill>
                <a:latin typeface="+mj-lt"/>
              </a:rPr>
              <a:t>FIRMA DIGITAL </a:t>
            </a:r>
          </a:p>
          <a:p>
            <a:endParaRPr lang="en-US" sz="2200" b="0" i="0" u="none" strike="noStrike" baseline="0" dirty="0">
              <a:solidFill>
                <a:srgbClr val="000000"/>
              </a:solidFill>
              <a:latin typeface="+mj-lt"/>
            </a:endParaRPr>
          </a:p>
          <a:p>
            <a:r>
              <a:rPr lang="es-AR" sz="2200" b="0" i="0" u="none" strike="noStrike" baseline="0" dirty="0">
                <a:solidFill>
                  <a:srgbClr val="000000"/>
                </a:solidFill>
                <a:latin typeface="+mj-lt"/>
              </a:rPr>
              <a:t>Supongamos que </a:t>
            </a:r>
            <a:r>
              <a:rPr lang="es-AR" sz="2200" b="0" i="1" u="none" strike="noStrike" baseline="0" dirty="0">
                <a:solidFill>
                  <a:srgbClr val="000000"/>
                </a:solidFill>
                <a:latin typeface="+mj-lt"/>
              </a:rPr>
              <a:t>A </a:t>
            </a:r>
            <a:r>
              <a:rPr lang="es-AR" sz="2200" b="0" i="0" u="none" strike="noStrike" baseline="0" dirty="0">
                <a:solidFill>
                  <a:srgbClr val="000000"/>
                </a:solidFill>
                <a:latin typeface="+mj-lt"/>
              </a:rPr>
              <a:t>quiere enviar un mensaje a </a:t>
            </a:r>
            <a:r>
              <a:rPr lang="es-AR" sz="2200" b="0" i="1" u="none" strike="noStrike" baseline="0" dirty="0">
                <a:solidFill>
                  <a:srgbClr val="000000"/>
                </a:solidFill>
                <a:latin typeface="+mj-lt"/>
              </a:rPr>
              <a:t>B</a:t>
            </a:r>
            <a:r>
              <a:rPr lang="es-AR" sz="2200" b="0" i="0" u="none" strike="noStrike" baseline="0" dirty="0">
                <a:solidFill>
                  <a:srgbClr val="000000"/>
                </a:solidFill>
                <a:latin typeface="+mj-lt"/>
              </a:rPr>
              <a:t>. Este mensaje puede ir cifrado o no, pero </a:t>
            </a:r>
            <a:r>
              <a:rPr lang="es-AR" sz="2200" b="0" i="1" u="none" strike="noStrike" baseline="0" dirty="0">
                <a:solidFill>
                  <a:srgbClr val="000000"/>
                </a:solidFill>
                <a:latin typeface="+mj-lt"/>
              </a:rPr>
              <a:t>A </a:t>
            </a:r>
            <a:r>
              <a:rPr lang="es-AR" sz="2200" b="0" i="0" u="none" strike="noStrike" baseline="0" dirty="0">
                <a:solidFill>
                  <a:srgbClr val="000000"/>
                </a:solidFill>
                <a:latin typeface="+mj-lt"/>
              </a:rPr>
              <a:t>está interesado en "firmar" el mensaje de forma que </a:t>
            </a:r>
            <a:r>
              <a:rPr lang="es-AR" sz="2200" b="0" i="1" u="none" strike="noStrike" baseline="0" dirty="0">
                <a:solidFill>
                  <a:srgbClr val="000000"/>
                </a:solidFill>
                <a:latin typeface="+mj-lt"/>
              </a:rPr>
              <a:t>B </a:t>
            </a:r>
            <a:r>
              <a:rPr lang="es-AR" sz="2200" b="0" i="0" u="none" strike="noStrike" baseline="0" dirty="0">
                <a:solidFill>
                  <a:srgbClr val="000000"/>
                </a:solidFill>
                <a:latin typeface="+mj-lt"/>
              </a:rPr>
              <a:t>pueda estar seguro que el mensaje que le llega ha sido originado por </a:t>
            </a:r>
            <a:r>
              <a:rPr lang="es-AR" sz="2200" b="0" i="1" u="none" strike="noStrike" baseline="0" dirty="0">
                <a:solidFill>
                  <a:srgbClr val="000000"/>
                </a:solidFill>
                <a:latin typeface="+mj-lt"/>
              </a:rPr>
              <a:t>A </a:t>
            </a:r>
            <a:r>
              <a:rPr lang="es-AR" sz="2200" b="0" i="0" u="none" strike="noStrike" baseline="0" dirty="0">
                <a:solidFill>
                  <a:srgbClr val="000000"/>
                </a:solidFill>
                <a:latin typeface="+mj-lt"/>
              </a:rPr>
              <a:t>y no por ninguna otra entidad. Los pasos que </a:t>
            </a:r>
            <a:r>
              <a:rPr lang="es-AR" sz="2200" b="0" i="1" u="none" strike="noStrike" baseline="0" dirty="0">
                <a:solidFill>
                  <a:srgbClr val="000000"/>
                </a:solidFill>
                <a:latin typeface="+mj-lt"/>
              </a:rPr>
              <a:t>A </a:t>
            </a:r>
            <a:r>
              <a:rPr lang="es-AR" sz="2200" b="0" i="0" u="none" strike="noStrike" baseline="0" dirty="0">
                <a:solidFill>
                  <a:srgbClr val="000000"/>
                </a:solidFill>
                <a:latin typeface="+mj-lt"/>
              </a:rPr>
              <a:t>seguirá son: </a:t>
            </a:r>
          </a:p>
          <a:p>
            <a:r>
              <a:rPr lang="es-AR" sz="2200" b="0" i="0" u="none" strike="noStrike" baseline="0" dirty="0">
                <a:solidFill>
                  <a:srgbClr val="000000"/>
                </a:solidFill>
                <a:latin typeface="+mj-lt"/>
              </a:rPr>
              <a:t>1. Crea un resumen (</a:t>
            </a:r>
            <a:r>
              <a:rPr lang="es-AR" sz="2200" b="0" i="1" u="none" strike="noStrike" baseline="0" dirty="0" err="1">
                <a:solidFill>
                  <a:srgbClr val="000000"/>
                </a:solidFill>
                <a:latin typeface="+mj-lt"/>
              </a:rPr>
              <a:t>digest</a:t>
            </a:r>
            <a:r>
              <a:rPr lang="es-AR" sz="2200" b="0" i="0" u="none" strike="noStrike" baseline="0" dirty="0">
                <a:solidFill>
                  <a:srgbClr val="000000"/>
                </a:solidFill>
                <a:latin typeface="+mj-lt"/>
              </a:rPr>
              <a:t>) del mensaje que quiere enviar, utilizando una función </a:t>
            </a:r>
            <a:r>
              <a:rPr lang="es-AR" sz="2200" b="0" i="1" u="none" strike="noStrike" baseline="0" dirty="0">
                <a:solidFill>
                  <a:srgbClr val="000000"/>
                </a:solidFill>
                <a:latin typeface="+mj-lt"/>
              </a:rPr>
              <a:t>hash </a:t>
            </a:r>
            <a:endParaRPr lang="es-AR" sz="2200" b="0" i="0" u="none" strike="noStrike" baseline="0" dirty="0">
              <a:solidFill>
                <a:srgbClr val="000000"/>
              </a:solidFill>
              <a:latin typeface="+mj-lt"/>
            </a:endParaRPr>
          </a:p>
          <a:p>
            <a:r>
              <a:rPr lang="es-AR" sz="2200" b="0" i="0" u="none" strike="noStrike" baseline="0" dirty="0">
                <a:solidFill>
                  <a:srgbClr val="000000"/>
                </a:solidFill>
                <a:latin typeface="+mj-lt"/>
              </a:rPr>
              <a:t>2. Representa este resumen como un entero M entre 0 y n-1 </a:t>
            </a:r>
          </a:p>
          <a:p>
            <a:r>
              <a:rPr lang="en-US" sz="2200" b="0" i="0" u="none" strike="noStrike" baseline="0" dirty="0">
                <a:solidFill>
                  <a:srgbClr val="000000"/>
                </a:solidFill>
                <a:latin typeface="+mj-lt"/>
              </a:rPr>
              <a:t>3. </a:t>
            </a:r>
            <a:r>
              <a:rPr lang="en-US" sz="2200" b="0" i="0" u="none" strike="noStrike" baseline="0" dirty="0" err="1">
                <a:solidFill>
                  <a:srgbClr val="000000"/>
                </a:solidFill>
                <a:latin typeface="+mj-lt"/>
              </a:rPr>
              <a:t>Usa</a:t>
            </a:r>
            <a:r>
              <a:rPr lang="en-US" sz="2200" b="0" i="0" u="none" strike="noStrike" baseline="0" dirty="0">
                <a:solidFill>
                  <a:srgbClr val="000000"/>
                </a:solidFill>
                <a:latin typeface="+mj-lt"/>
              </a:rPr>
              <a:t> </a:t>
            </a:r>
            <a:r>
              <a:rPr lang="en-US" sz="2200" b="0" i="0" u="none" strike="noStrike" baseline="0" dirty="0" err="1">
                <a:solidFill>
                  <a:srgbClr val="000000"/>
                </a:solidFill>
                <a:latin typeface="+mj-lt"/>
              </a:rPr>
              <a:t>su</a:t>
            </a:r>
            <a:r>
              <a:rPr lang="en-US" sz="2200" b="0" i="0" u="none" strike="noStrike" baseline="0" dirty="0">
                <a:solidFill>
                  <a:srgbClr val="000000"/>
                </a:solidFill>
                <a:latin typeface="+mj-lt"/>
              </a:rPr>
              <a:t> </a:t>
            </a:r>
            <a:r>
              <a:rPr lang="en-US" sz="2200" b="0" i="0" u="none" strike="noStrike" baseline="0" dirty="0" err="1">
                <a:solidFill>
                  <a:srgbClr val="000000"/>
                </a:solidFill>
                <a:latin typeface="+mj-lt"/>
              </a:rPr>
              <a:t>propia</a:t>
            </a:r>
            <a:r>
              <a:rPr lang="en-US" sz="2200" b="0" i="0" u="none" strike="noStrike" baseline="0" dirty="0">
                <a:solidFill>
                  <a:srgbClr val="000000"/>
                </a:solidFill>
                <a:latin typeface="+mj-lt"/>
              </a:rPr>
              <a:t> clave </a:t>
            </a:r>
            <a:r>
              <a:rPr lang="en-US" sz="2200" b="0" i="0" u="none" strike="noStrike" baseline="0" dirty="0" err="1">
                <a:solidFill>
                  <a:srgbClr val="000000"/>
                </a:solidFill>
                <a:latin typeface="+mj-lt"/>
              </a:rPr>
              <a:t>privada</a:t>
            </a:r>
            <a:r>
              <a:rPr lang="en-US" sz="2200" b="0" i="0" u="none" strike="noStrike" baseline="0" dirty="0">
                <a:solidFill>
                  <a:srgbClr val="000000"/>
                </a:solidFill>
                <a:latin typeface="+mj-lt"/>
              </a:rPr>
              <a:t> (</a:t>
            </a:r>
            <a:r>
              <a:rPr lang="en-US" sz="2200" b="0" i="0" u="none" strike="noStrike" baseline="0" dirty="0" err="1">
                <a:solidFill>
                  <a:srgbClr val="000000"/>
                </a:solidFill>
                <a:latin typeface="+mj-lt"/>
              </a:rPr>
              <a:t>dA,nA</a:t>
            </a:r>
            <a:r>
              <a:rPr lang="en-US" sz="2200" b="0" i="0" u="none" strike="noStrike" baseline="0" dirty="0">
                <a:solidFill>
                  <a:srgbClr val="000000"/>
                </a:solidFill>
                <a:latin typeface="+mj-lt"/>
              </a:rPr>
              <a:t>) para </a:t>
            </a:r>
            <a:r>
              <a:rPr lang="en-US" sz="2200" b="0" i="0" u="none" strike="noStrike" baseline="0" dirty="0" err="1">
                <a:solidFill>
                  <a:srgbClr val="000000"/>
                </a:solidFill>
                <a:latin typeface="+mj-lt"/>
              </a:rPr>
              <a:t>computar</a:t>
            </a:r>
            <a:r>
              <a:rPr lang="en-US" sz="2200" b="0" i="0" u="none" strike="noStrike" baseline="0" dirty="0">
                <a:solidFill>
                  <a:srgbClr val="000000"/>
                </a:solidFill>
                <a:latin typeface="+mj-lt"/>
              </a:rPr>
              <a:t> la </a:t>
            </a:r>
            <a:r>
              <a:rPr lang="en-US" sz="2200" b="0" i="0" u="none" strike="noStrike" baseline="0" dirty="0" err="1">
                <a:solidFill>
                  <a:srgbClr val="000000"/>
                </a:solidFill>
                <a:latin typeface="+mj-lt"/>
              </a:rPr>
              <a:t>firma</a:t>
            </a:r>
            <a:r>
              <a:rPr lang="en-US" sz="2200" b="0" i="0" u="none" strike="noStrike" baseline="0" dirty="0">
                <a:solidFill>
                  <a:srgbClr val="000000"/>
                </a:solidFill>
                <a:latin typeface="+mj-lt"/>
              </a:rPr>
              <a:t> S= (M)</a:t>
            </a:r>
            <a:r>
              <a:rPr lang="en-US" sz="2200" b="0" i="0" u="none" strike="noStrike" baseline="0" dirty="0" err="1">
                <a:solidFill>
                  <a:srgbClr val="000000"/>
                </a:solidFill>
                <a:latin typeface="+mj-lt"/>
              </a:rPr>
              <a:t>dA</a:t>
            </a:r>
            <a:r>
              <a:rPr lang="en-US" sz="2200" b="0" i="0" u="none" strike="noStrike" baseline="0" dirty="0">
                <a:solidFill>
                  <a:srgbClr val="000000"/>
                </a:solidFill>
                <a:latin typeface="+mj-lt"/>
              </a:rPr>
              <a:t> mod </a:t>
            </a:r>
            <a:r>
              <a:rPr lang="en-US" sz="2200" b="0" i="0" u="none" strike="noStrike" baseline="0" dirty="0" err="1">
                <a:solidFill>
                  <a:srgbClr val="000000"/>
                </a:solidFill>
                <a:latin typeface="+mj-lt"/>
              </a:rPr>
              <a:t>nA</a:t>
            </a:r>
            <a:r>
              <a:rPr lang="en-US" sz="2200" b="0" i="0" u="none" strike="noStrike" baseline="0" dirty="0">
                <a:solidFill>
                  <a:srgbClr val="000000"/>
                </a:solidFill>
                <a:latin typeface="+mj-lt"/>
              </a:rPr>
              <a:t> </a:t>
            </a:r>
          </a:p>
          <a:p>
            <a:r>
              <a:rPr lang="es-AR" sz="2200" b="0" i="0" u="none" strike="noStrike" baseline="0" dirty="0">
                <a:solidFill>
                  <a:srgbClr val="000000"/>
                </a:solidFill>
                <a:latin typeface="+mj-lt"/>
              </a:rPr>
              <a:t>4. Envía esa firma S al receptor </a:t>
            </a:r>
            <a:r>
              <a:rPr lang="es-AR" sz="2200" b="0" i="1" u="none" strike="noStrike" baseline="0" dirty="0">
                <a:solidFill>
                  <a:srgbClr val="000000"/>
                </a:solidFill>
                <a:latin typeface="+mj-lt"/>
              </a:rPr>
              <a:t>B </a:t>
            </a:r>
            <a:r>
              <a:rPr lang="es-AR" sz="2200" b="0" i="0" u="none" strike="noStrike" baseline="0" dirty="0">
                <a:solidFill>
                  <a:srgbClr val="000000"/>
                </a:solidFill>
                <a:latin typeface="+mj-lt"/>
              </a:rPr>
              <a:t>conjuntamente con el mensaje original (que puede ir cifrado o no, según se quiera). Evidentemente, la firma S no podrá ser manipulada por nadie una vez generada, porque si se cambia un sólo bit de la firma fallaría la verificación de ésta en destino. </a:t>
            </a:r>
          </a:p>
        </p:txBody>
      </p:sp>
    </p:spTree>
    <p:extLst>
      <p:ext uri="{BB962C8B-B14F-4D97-AF65-F5344CB8AC3E}">
        <p14:creationId xmlns:p14="http://schemas.microsoft.com/office/powerpoint/2010/main" val="36770779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3"/>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ct val="64516"/>
              <a:buNone/>
            </a:pPr>
            <a:r>
              <a:rPr lang="es-ES" dirty="0">
                <a:solidFill>
                  <a:schemeClr val="lt1"/>
                </a:solidFill>
              </a:rPr>
              <a:t>Firma Digital - Verificación</a:t>
            </a:r>
            <a:endParaRPr dirty="0">
              <a:solidFill>
                <a:schemeClr val="lt1"/>
              </a:solidFill>
            </a:endParaRPr>
          </a:p>
        </p:txBody>
      </p:sp>
      <p:sp>
        <p:nvSpPr>
          <p:cNvPr id="5" name="CuadroTexto 4">
            <a:extLst>
              <a:ext uri="{FF2B5EF4-FFF2-40B4-BE49-F238E27FC236}">
                <a16:creationId xmlns:a16="http://schemas.microsoft.com/office/drawing/2014/main" id="{BD87E30D-32B9-46C0-57D6-621DFD70ED3B}"/>
              </a:ext>
            </a:extLst>
          </p:cNvPr>
          <p:cNvSpPr txBox="1"/>
          <p:nvPr/>
        </p:nvSpPr>
        <p:spPr>
          <a:xfrm>
            <a:off x="439993" y="2011159"/>
            <a:ext cx="11312013" cy="4493538"/>
          </a:xfrm>
          <a:prstGeom prst="rect">
            <a:avLst/>
          </a:prstGeom>
          <a:noFill/>
        </p:spPr>
        <p:txBody>
          <a:bodyPr wrap="square" rtlCol="0">
            <a:spAutoFit/>
          </a:bodyPr>
          <a:lstStyle/>
          <a:p>
            <a:r>
              <a:rPr lang="en-US" sz="2200" b="1" i="0" u="none" strike="noStrike" baseline="0" dirty="0">
                <a:solidFill>
                  <a:srgbClr val="000000"/>
                </a:solidFill>
                <a:latin typeface="+mj-lt"/>
              </a:rPr>
              <a:t>VERIFICACIÓN DE FIRMA DIGITAL </a:t>
            </a:r>
          </a:p>
          <a:p>
            <a:endParaRPr lang="en-US" sz="2200" b="0" i="0" u="none" strike="noStrike" baseline="0" dirty="0">
              <a:solidFill>
                <a:srgbClr val="000000"/>
              </a:solidFill>
              <a:latin typeface="+mj-lt"/>
            </a:endParaRPr>
          </a:p>
          <a:p>
            <a:r>
              <a:rPr lang="es-AR" sz="2200" b="0" i="0" u="none" strike="noStrike" baseline="0" dirty="0">
                <a:solidFill>
                  <a:srgbClr val="000000"/>
                </a:solidFill>
                <a:latin typeface="+mj-lt"/>
              </a:rPr>
              <a:t>Cuando </a:t>
            </a:r>
            <a:r>
              <a:rPr lang="es-AR" sz="2200" b="0" i="1" u="none" strike="noStrike" baseline="0" dirty="0">
                <a:solidFill>
                  <a:srgbClr val="000000"/>
                </a:solidFill>
                <a:latin typeface="+mj-lt"/>
              </a:rPr>
              <a:t>B </a:t>
            </a:r>
            <a:r>
              <a:rPr lang="es-AR" sz="2200" b="0" i="0" u="none" strike="noStrike" baseline="0" dirty="0">
                <a:solidFill>
                  <a:srgbClr val="000000"/>
                </a:solidFill>
                <a:latin typeface="+mj-lt"/>
              </a:rPr>
              <a:t>recibe la firma S y el mensaje de </a:t>
            </a:r>
            <a:r>
              <a:rPr lang="es-AR" sz="2200" b="0" i="1" u="none" strike="noStrike" baseline="0" dirty="0">
                <a:solidFill>
                  <a:srgbClr val="000000"/>
                </a:solidFill>
                <a:latin typeface="+mj-lt"/>
              </a:rPr>
              <a:t>A</a:t>
            </a:r>
            <a:r>
              <a:rPr lang="es-AR" sz="2200" b="0" i="0" u="none" strike="noStrike" baseline="0" dirty="0">
                <a:solidFill>
                  <a:srgbClr val="000000"/>
                </a:solidFill>
                <a:latin typeface="+mj-lt"/>
              </a:rPr>
              <a:t>, sigue estos pasos: </a:t>
            </a:r>
          </a:p>
          <a:p>
            <a:r>
              <a:rPr lang="es-AR" sz="2200" b="0" i="0" u="none" strike="noStrike" baseline="0" dirty="0">
                <a:solidFill>
                  <a:srgbClr val="000000"/>
                </a:solidFill>
                <a:latin typeface="+mj-lt"/>
              </a:rPr>
              <a:t>1. Utiliza la clave publica del remitente </a:t>
            </a:r>
            <a:r>
              <a:rPr lang="es-AR" sz="2200" b="0" i="1" u="none" strike="noStrike" baseline="0" dirty="0">
                <a:solidFill>
                  <a:srgbClr val="000000"/>
                </a:solidFill>
                <a:latin typeface="+mj-lt"/>
              </a:rPr>
              <a:t>A </a:t>
            </a:r>
            <a:r>
              <a:rPr lang="es-AR" sz="2200" b="0" i="0" u="none" strike="noStrike" baseline="0" dirty="0">
                <a:solidFill>
                  <a:srgbClr val="000000"/>
                </a:solidFill>
                <a:latin typeface="+mj-lt"/>
              </a:rPr>
              <a:t>para computar V = (S)</a:t>
            </a:r>
            <a:r>
              <a:rPr lang="es-AR" sz="2200" b="0" i="0" u="none" strike="noStrike" baseline="0" dirty="0" err="1">
                <a:solidFill>
                  <a:srgbClr val="000000"/>
                </a:solidFill>
                <a:latin typeface="+mj-lt"/>
              </a:rPr>
              <a:t>eA</a:t>
            </a:r>
            <a:r>
              <a:rPr lang="es-AR" sz="2200" b="0" i="0" u="none" strike="noStrike" baseline="0" dirty="0">
                <a:solidFill>
                  <a:srgbClr val="000000"/>
                </a:solidFill>
                <a:latin typeface="+mj-lt"/>
              </a:rPr>
              <a:t> mod </a:t>
            </a:r>
            <a:r>
              <a:rPr lang="es-AR" sz="2200" b="0" i="0" u="none" strike="noStrike" baseline="0" dirty="0" err="1">
                <a:solidFill>
                  <a:srgbClr val="000000"/>
                </a:solidFill>
                <a:latin typeface="+mj-lt"/>
              </a:rPr>
              <a:t>nA</a:t>
            </a:r>
            <a:r>
              <a:rPr lang="es-AR" sz="2200" b="0" i="0" u="none" strike="noStrike" baseline="0" dirty="0">
                <a:solidFill>
                  <a:srgbClr val="000000"/>
                </a:solidFill>
                <a:latin typeface="+mj-lt"/>
              </a:rPr>
              <a:t> </a:t>
            </a:r>
          </a:p>
          <a:p>
            <a:r>
              <a:rPr lang="es-AR" sz="2200" b="0" i="0" u="none" strike="noStrike" baseline="0" dirty="0">
                <a:solidFill>
                  <a:srgbClr val="000000"/>
                </a:solidFill>
                <a:latin typeface="+mj-lt"/>
              </a:rPr>
              <a:t>2. Del entero V obtiene el resumen </a:t>
            </a:r>
            <a:r>
              <a:rPr lang="es-AR" sz="2200" b="0" i="1" u="none" strike="noStrike" baseline="0" dirty="0">
                <a:solidFill>
                  <a:srgbClr val="000000"/>
                </a:solidFill>
                <a:latin typeface="+mj-lt"/>
              </a:rPr>
              <a:t>r </a:t>
            </a:r>
            <a:r>
              <a:rPr lang="es-AR" sz="2200" b="0" i="0" u="none" strike="noStrike" baseline="0" dirty="0">
                <a:solidFill>
                  <a:srgbClr val="000000"/>
                </a:solidFill>
                <a:latin typeface="+mj-lt"/>
              </a:rPr>
              <a:t>del mensaje tal y como fue computado por </a:t>
            </a:r>
            <a:r>
              <a:rPr lang="es-AR" sz="2200" b="0" i="1" u="none" strike="noStrike" baseline="0" dirty="0">
                <a:solidFill>
                  <a:srgbClr val="000000"/>
                </a:solidFill>
                <a:latin typeface="+mj-lt"/>
              </a:rPr>
              <a:t>A </a:t>
            </a:r>
            <a:endParaRPr lang="es-AR" sz="2200" b="0" i="0" u="none" strike="noStrike" baseline="0" dirty="0">
              <a:solidFill>
                <a:srgbClr val="000000"/>
              </a:solidFill>
              <a:latin typeface="+mj-lt"/>
            </a:endParaRPr>
          </a:p>
          <a:p>
            <a:r>
              <a:rPr lang="es-AR" sz="2200" b="0" i="0" u="none" strike="noStrike" baseline="0" dirty="0">
                <a:solidFill>
                  <a:srgbClr val="000000"/>
                </a:solidFill>
                <a:latin typeface="+mj-lt"/>
              </a:rPr>
              <a:t>3. Paralelamente, computa un resumen </a:t>
            </a:r>
            <a:r>
              <a:rPr lang="es-AR" sz="2200" b="0" i="1" u="none" strike="noStrike" baseline="0" dirty="0">
                <a:solidFill>
                  <a:srgbClr val="000000"/>
                </a:solidFill>
                <a:latin typeface="+mj-lt"/>
              </a:rPr>
              <a:t>r' </a:t>
            </a:r>
            <a:r>
              <a:rPr lang="es-AR" sz="2200" b="0" i="0" u="none" strike="noStrike" baseline="0" dirty="0">
                <a:solidFill>
                  <a:srgbClr val="000000"/>
                </a:solidFill>
                <a:latin typeface="+mj-lt"/>
              </a:rPr>
              <a:t>del mensaje que le ha llegado utilizando la función </a:t>
            </a:r>
            <a:r>
              <a:rPr lang="es-AR" sz="2200" b="0" i="1" u="none" strike="noStrike" baseline="0" dirty="0">
                <a:solidFill>
                  <a:srgbClr val="000000"/>
                </a:solidFill>
                <a:latin typeface="+mj-lt"/>
              </a:rPr>
              <a:t>hash </a:t>
            </a:r>
            <a:r>
              <a:rPr lang="es-AR" sz="2200" b="0" i="0" u="none" strike="noStrike" baseline="0" dirty="0">
                <a:solidFill>
                  <a:srgbClr val="000000"/>
                </a:solidFill>
                <a:latin typeface="+mj-lt"/>
              </a:rPr>
              <a:t>correspondiente </a:t>
            </a:r>
          </a:p>
          <a:p>
            <a:r>
              <a:rPr lang="es-AR" sz="2200" b="0" i="0" u="none" strike="noStrike" baseline="0" dirty="0">
                <a:solidFill>
                  <a:srgbClr val="000000"/>
                </a:solidFill>
                <a:latin typeface="+mj-lt"/>
              </a:rPr>
              <a:t>4. Si ambos resúmenes </a:t>
            </a:r>
            <a:r>
              <a:rPr lang="es-AR" sz="2200" b="0" i="1" u="none" strike="noStrike" baseline="0" dirty="0">
                <a:solidFill>
                  <a:srgbClr val="000000"/>
                </a:solidFill>
                <a:latin typeface="+mj-lt"/>
              </a:rPr>
              <a:t>r </a:t>
            </a:r>
            <a:r>
              <a:rPr lang="es-AR" sz="2200" b="0" i="0" u="none" strike="noStrike" baseline="0" dirty="0">
                <a:solidFill>
                  <a:srgbClr val="000000"/>
                </a:solidFill>
                <a:latin typeface="+mj-lt"/>
              </a:rPr>
              <a:t>y </a:t>
            </a:r>
            <a:r>
              <a:rPr lang="es-AR" sz="2200" b="0" i="1" u="none" strike="noStrike" baseline="0" dirty="0">
                <a:solidFill>
                  <a:srgbClr val="000000"/>
                </a:solidFill>
                <a:latin typeface="+mj-lt"/>
              </a:rPr>
              <a:t>r' </a:t>
            </a:r>
            <a:r>
              <a:rPr lang="es-AR" sz="2200" b="0" i="0" u="none" strike="noStrike" baseline="0" dirty="0">
                <a:solidFill>
                  <a:srgbClr val="000000"/>
                </a:solidFill>
                <a:latin typeface="+mj-lt"/>
              </a:rPr>
              <a:t>coinciden, entonces queda verificada la firma. Entonces puede asegurarse que el mensaje solo ha podido ser originado </a:t>
            </a:r>
          </a:p>
          <a:p>
            <a:endParaRPr lang="en-US" sz="2200" b="0" i="0" u="none" strike="noStrike" baseline="0" dirty="0">
              <a:solidFill>
                <a:srgbClr val="000000"/>
              </a:solidFill>
              <a:latin typeface="+mj-lt"/>
            </a:endParaRPr>
          </a:p>
          <a:p>
            <a:endParaRPr lang="en-US" sz="2200" b="0" i="0" u="none" strike="noStrike" baseline="0" dirty="0">
              <a:solidFill>
                <a:srgbClr val="000000"/>
              </a:solidFill>
              <a:latin typeface="+mj-lt"/>
            </a:endParaRPr>
          </a:p>
          <a:p>
            <a:r>
              <a:rPr lang="es-AR" sz="2200" b="0" i="0" u="none" strike="noStrike" baseline="0" dirty="0">
                <a:solidFill>
                  <a:srgbClr val="000000"/>
                </a:solidFill>
                <a:latin typeface="+mj-lt"/>
              </a:rPr>
              <a:t>por </a:t>
            </a:r>
            <a:r>
              <a:rPr lang="es-AR" sz="2200" b="0" i="1" u="none" strike="noStrike" baseline="0" dirty="0">
                <a:solidFill>
                  <a:srgbClr val="000000"/>
                </a:solidFill>
                <a:latin typeface="+mj-lt"/>
              </a:rPr>
              <a:t>A </a:t>
            </a:r>
            <a:r>
              <a:rPr lang="es-AR" sz="2200" b="0" i="0" u="none" strike="noStrike" baseline="0" dirty="0">
                <a:solidFill>
                  <a:srgbClr val="000000"/>
                </a:solidFill>
                <a:latin typeface="+mj-lt"/>
              </a:rPr>
              <a:t>y además el mensaje ha llegado </a:t>
            </a:r>
            <a:r>
              <a:rPr lang="es-AR" sz="2200" b="1" i="0" u="none" strike="noStrike" baseline="0" dirty="0">
                <a:solidFill>
                  <a:srgbClr val="000000"/>
                </a:solidFill>
                <a:latin typeface="+mj-lt"/>
              </a:rPr>
              <a:t>íntegramente </a:t>
            </a:r>
            <a:r>
              <a:rPr lang="es-AR" sz="2200" b="0" i="0" u="none" strike="noStrike" baseline="0" dirty="0">
                <a:solidFill>
                  <a:srgbClr val="000000"/>
                </a:solidFill>
                <a:latin typeface="+mj-lt"/>
              </a:rPr>
              <a:t>(sin ver alterado su contenido durante la transmisión por el canal inseguro) hasta </a:t>
            </a:r>
            <a:r>
              <a:rPr lang="es-AR" sz="2200" b="0" i="1" u="none" strike="noStrike" baseline="0" dirty="0">
                <a:solidFill>
                  <a:srgbClr val="000000"/>
                </a:solidFill>
                <a:latin typeface="+mj-lt"/>
              </a:rPr>
              <a:t>B</a:t>
            </a:r>
            <a:r>
              <a:rPr lang="es-AR" sz="2200" b="0" i="0" u="none" strike="noStrike" baseline="0" dirty="0">
                <a:solidFill>
                  <a:srgbClr val="000000"/>
                </a:solidFill>
                <a:latin typeface="+mj-lt"/>
              </a:rPr>
              <a:t>. </a:t>
            </a:r>
          </a:p>
        </p:txBody>
      </p:sp>
    </p:spTree>
    <p:extLst>
      <p:ext uri="{BB962C8B-B14F-4D97-AF65-F5344CB8AC3E}">
        <p14:creationId xmlns:p14="http://schemas.microsoft.com/office/powerpoint/2010/main" val="29294886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3"/>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ct val="64516"/>
              <a:buNone/>
            </a:pPr>
            <a:r>
              <a:rPr lang="es-ES" dirty="0">
                <a:solidFill>
                  <a:schemeClr val="lt1"/>
                </a:solidFill>
              </a:rPr>
              <a:t>Diferencias entre criptografía Simétrica y Asimétrica</a:t>
            </a:r>
            <a:endParaRPr dirty="0">
              <a:solidFill>
                <a:schemeClr val="lt1"/>
              </a:solidFill>
            </a:endParaRPr>
          </a:p>
        </p:txBody>
      </p:sp>
      <p:sp>
        <p:nvSpPr>
          <p:cNvPr id="5" name="CuadroTexto 4">
            <a:extLst>
              <a:ext uri="{FF2B5EF4-FFF2-40B4-BE49-F238E27FC236}">
                <a16:creationId xmlns:a16="http://schemas.microsoft.com/office/drawing/2014/main" id="{BD87E30D-32B9-46C0-57D6-621DFD70ED3B}"/>
              </a:ext>
            </a:extLst>
          </p:cNvPr>
          <p:cNvSpPr txBox="1"/>
          <p:nvPr/>
        </p:nvSpPr>
        <p:spPr>
          <a:xfrm>
            <a:off x="439993" y="2011159"/>
            <a:ext cx="11312013" cy="4154984"/>
          </a:xfrm>
          <a:prstGeom prst="rect">
            <a:avLst/>
          </a:prstGeom>
          <a:noFill/>
        </p:spPr>
        <p:txBody>
          <a:bodyPr wrap="square" rtlCol="0">
            <a:spAutoFit/>
          </a:bodyPr>
          <a:lstStyle/>
          <a:p>
            <a:r>
              <a:rPr lang="es-AR" sz="2200" b="0" i="0" dirty="0">
                <a:solidFill>
                  <a:srgbClr val="333333"/>
                </a:solidFill>
                <a:effectLst/>
                <a:latin typeface="+mn-lt"/>
              </a:rPr>
              <a:t>La diferencia principal es que </a:t>
            </a:r>
            <a:r>
              <a:rPr lang="es-AR" sz="2200" b="1" i="0" dirty="0">
                <a:solidFill>
                  <a:srgbClr val="333333"/>
                </a:solidFill>
                <a:effectLst/>
                <a:latin typeface="+mn-lt"/>
              </a:rPr>
              <a:t>el cifrado simétrico utiliza una</a:t>
            </a:r>
            <a:r>
              <a:rPr lang="es-AR" sz="2200" b="0" i="0" dirty="0">
                <a:solidFill>
                  <a:srgbClr val="333333"/>
                </a:solidFill>
                <a:effectLst/>
                <a:latin typeface="+mn-lt"/>
              </a:rPr>
              <a:t> </a:t>
            </a:r>
            <a:r>
              <a:rPr lang="es-AR" sz="2200" b="1" i="0" dirty="0">
                <a:solidFill>
                  <a:srgbClr val="333333"/>
                </a:solidFill>
                <a:effectLst/>
                <a:latin typeface="+mn-lt"/>
              </a:rPr>
              <a:t>única clave</a:t>
            </a:r>
            <a:r>
              <a:rPr lang="es-AR" sz="2200" b="0" i="0" dirty="0">
                <a:solidFill>
                  <a:srgbClr val="333333"/>
                </a:solidFill>
                <a:effectLst/>
                <a:latin typeface="+mn-lt"/>
              </a:rPr>
              <a:t>. Por ejemplo, para enviar un correo electrónico a otra persona ciframos ese mensaje con una llave. Cuando llega al destinatario, éste tiene que usar esa misma clave para descifrarlo y poder leerlo.</a:t>
            </a:r>
            <a:endParaRPr lang="es-AR" sz="2200" dirty="0">
              <a:solidFill>
                <a:srgbClr val="333333"/>
              </a:solidFill>
              <a:latin typeface="+mn-lt"/>
            </a:endParaRPr>
          </a:p>
          <a:p>
            <a:r>
              <a:rPr lang="es-AR" sz="2200" dirty="0">
                <a:solidFill>
                  <a:srgbClr val="333333"/>
                </a:solidFill>
                <a:latin typeface="+mj-lt"/>
              </a:rPr>
              <a:t>En cambio, el cifrado asimétrico utiliza dos claves. Una de ellas va a ser privada, mientras que la otra es pública. La clave pública va a encargarse de cifrar el mensaje de ese correo. La privada la va a utilizar el destinatario para descifrar el mensaje.</a:t>
            </a:r>
          </a:p>
          <a:p>
            <a:pPr algn="l"/>
            <a:r>
              <a:rPr lang="es-AR" sz="2200" b="0" i="0" dirty="0">
                <a:solidFill>
                  <a:srgbClr val="333333"/>
                </a:solidFill>
                <a:effectLst/>
                <a:latin typeface="+mj-lt"/>
              </a:rPr>
              <a:t>Otra diferencia es la </a:t>
            </a:r>
            <a:r>
              <a:rPr lang="es-AR" sz="2200" b="1" i="0" dirty="0">
                <a:solidFill>
                  <a:srgbClr val="333333"/>
                </a:solidFill>
                <a:effectLst/>
                <a:latin typeface="+mj-lt"/>
              </a:rPr>
              <a:t>longitud de las claves</a:t>
            </a:r>
            <a:r>
              <a:rPr lang="es-AR" sz="2200" b="0" i="0" dirty="0">
                <a:solidFill>
                  <a:srgbClr val="333333"/>
                </a:solidFill>
                <a:effectLst/>
                <a:latin typeface="+mj-lt"/>
              </a:rPr>
              <a:t>. En el caso de la simétrica, puede ser más corta que la asimétrica, que necesitan tener una mayor longitud</a:t>
            </a:r>
          </a:p>
          <a:p>
            <a:pPr algn="l"/>
            <a:r>
              <a:rPr lang="es-AR" sz="2200" b="0" i="0" dirty="0">
                <a:solidFill>
                  <a:srgbClr val="333333"/>
                </a:solidFill>
                <a:effectLst/>
                <a:latin typeface="+mj-lt"/>
              </a:rPr>
              <a:t>El tipo de algoritmos que se utiliza varía según el tipo de cifrado. En el caso del simétrico, utiliza algoritmos como AES, DES, 3DES o RC4. Respecto al asimétrico, usa algoritmos como DSA o RSA.</a:t>
            </a:r>
          </a:p>
        </p:txBody>
      </p:sp>
    </p:spTree>
    <p:extLst>
      <p:ext uri="{BB962C8B-B14F-4D97-AF65-F5344CB8AC3E}">
        <p14:creationId xmlns:p14="http://schemas.microsoft.com/office/powerpoint/2010/main" val="30281528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8"/>
        <p:cNvGrpSpPr/>
        <p:nvPr/>
      </p:nvGrpSpPr>
      <p:grpSpPr>
        <a:xfrm>
          <a:off x="0" y="0"/>
          <a:ext cx="0" cy="0"/>
          <a:chOff x="0" y="0"/>
          <a:chExt cx="0" cy="0"/>
        </a:xfrm>
      </p:grpSpPr>
      <p:sp>
        <p:nvSpPr>
          <p:cNvPr id="239" name="Google Shape;239;p6"/>
          <p:cNvSpPr/>
          <p:nvPr/>
        </p:nvSpPr>
        <p:spPr>
          <a:xfrm>
            <a:off x="0" y="1"/>
            <a:ext cx="12191999"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240" name="Google Shape;240;p6" descr="Números digitales"/>
          <p:cNvPicPr preferRelativeResize="0"/>
          <p:nvPr/>
        </p:nvPicPr>
        <p:blipFill rotWithShape="1">
          <a:blip r:embed="rId3">
            <a:alphaModFix/>
          </a:blip>
          <a:srcRect l="2189" r="9640" b="1"/>
          <a:stretch/>
        </p:blipFill>
        <p:spPr>
          <a:xfrm>
            <a:off x="446534" y="723899"/>
            <a:ext cx="7498616" cy="5676901"/>
          </a:xfrm>
          <a:prstGeom prst="rect">
            <a:avLst/>
          </a:prstGeom>
          <a:noFill/>
          <a:ln>
            <a:noFill/>
          </a:ln>
        </p:spPr>
      </p:pic>
      <p:sp>
        <p:nvSpPr>
          <p:cNvPr id="241" name="Google Shape;241;p6"/>
          <p:cNvSpPr/>
          <p:nvPr/>
        </p:nvSpPr>
        <p:spPr>
          <a:xfrm>
            <a:off x="8042147" y="723899"/>
            <a:ext cx="3703320" cy="5666666"/>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 name="Google Shape;242;p6"/>
          <p:cNvSpPr txBox="1">
            <a:spLocks noGrp="1"/>
          </p:cNvSpPr>
          <p:nvPr>
            <p:ph type="ctrTitle"/>
          </p:nvPr>
        </p:nvSpPr>
        <p:spPr>
          <a:xfrm>
            <a:off x="8296275" y="1419226"/>
            <a:ext cx="3081576" cy="1746762"/>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rgbClr val="FFFFFF"/>
              </a:buClr>
              <a:buSzPts val="3600"/>
              <a:buFont typeface="Gill Sans"/>
              <a:buNone/>
            </a:pPr>
            <a:r>
              <a:rPr lang="es-ES">
                <a:solidFill>
                  <a:srgbClr val="FFFFFF"/>
                </a:solidFill>
              </a:rPr>
              <a:t>GRACIAS</a:t>
            </a:r>
            <a:endParaRPr/>
          </a:p>
        </p:txBody>
      </p:sp>
      <p:grpSp>
        <p:nvGrpSpPr>
          <p:cNvPr id="243" name="Google Shape;243;p6"/>
          <p:cNvGrpSpPr/>
          <p:nvPr/>
        </p:nvGrpSpPr>
        <p:grpSpPr>
          <a:xfrm>
            <a:off x="446534" y="453643"/>
            <a:ext cx="11298933" cy="98554"/>
            <a:chOff x="446534" y="453643"/>
            <a:chExt cx="11298933" cy="98554"/>
          </a:xfrm>
        </p:grpSpPr>
        <p:sp>
          <p:nvSpPr>
            <p:cNvPr id="244" name="Google Shape;244;p6"/>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 name="Google Shape;245;p6"/>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 name="Google Shape;246;p6"/>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47" name="Google Shape;247;p6"/>
          <p:cNvSpPr txBox="1">
            <a:spLocks noGrp="1"/>
          </p:cNvSpPr>
          <p:nvPr>
            <p:ph type="subTitle" idx="1"/>
          </p:nvPr>
        </p:nvSpPr>
        <p:spPr>
          <a:xfrm>
            <a:off x="581194" y="2495445"/>
            <a:ext cx="10993546" cy="590321"/>
          </a:xfrm>
          <a:prstGeom prst="rect">
            <a:avLst/>
          </a:prstGeom>
          <a:noFill/>
          <a:ln>
            <a:noFill/>
          </a:ln>
        </p:spPr>
        <p:txBody>
          <a:bodyPr spcFirstLastPara="1" wrap="square" lIns="91425" tIns="45700" rIns="91425" bIns="45700" anchor="t" anchorCtr="0">
            <a:normAutofit/>
          </a:bodyPr>
          <a:lstStyle/>
          <a:p>
            <a:pPr marL="457200" lvl="0" indent="-333756" algn="l" rtl="0">
              <a:lnSpc>
                <a:spcPct val="100000"/>
              </a:lnSpc>
              <a:spcBef>
                <a:spcPts val="320"/>
              </a:spcBef>
              <a:spcAft>
                <a:spcPts val="0"/>
              </a:spcAft>
              <a:buSzPts val="1472"/>
              <a:buNone/>
            </a:pPr>
            <a:endParaRPr/>
          </a:p>
        </p:txBody>
      </p:sp>
    </p:spTree>
  </p:cSld>
  <p:clrMapOvr>
    <a:masterClrMapping/>
  </p:clrMapOvr>
</p:sld>
</file>

<file path=ppt/theme/theme1.xml><?xml version="1.0" encoding="utf-8"?>
<a:theme xmlns:a="http://schemas.openxmlformats.org/drawingml/2006/main" name="Dividen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579</TotalTime>
  <Words>1721</Words>
  <Application>Microsoft Office PowerPoint</Application>
  <PresentationFormat>Panorámica</PresentationFormat>
  <Paragraphs>127</Paragraphs>
  <Slides>23</Slides>
  <Notes>23</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23</vt:i4>
      </vt:variant>
    </vt:vector>
  </HeadingPairs>
  <TitlesOfParts>
    <vt:vector size="29" baseType="lpstr">
      <vt:lpstr>Calibri</vt:lpstr>
      <vt:lpstr>Gill Sans</vt:lpstr>
      <vt:lpstr>Noto Sans Symbols</vt:lpstr>
      <vt:lpstr>Arial</vt:lpstr>
      <vt:lpstr>Times New Roman</vt:lpstr>
      <vt:lpstr>Dividendo</vt:lpstr>
      <vt:lpstr>Seguridad en los Sistemas de Información  UNIVERSIDAD TECNOLÓGICA NACIONAL AÑO 2022</vt:lpstr>
      <vt:lpstr>Seguridad en los Sistemas de Información</vt:lpstr>
      <vt:lpstr>Criptografía</vt:lpstr>
      <vt:lpstr>Bases de Criptografía</vt:lpstr>
      <vt:lpstr>Criptografía a través de la historia</vt:lpstr>
      <vt:lpstr>Criptografía a través de la historia</vt:lpstr>
      <vt:lpstr>Criptografía a través de la historia</vt:lpstr>
      <vt:lpstr>Criptografía a través de la historia</vt:lpstr>
      <vt:lpstr>Criptografía a través de la historia</vt:lpstr>
      <vt:lpstr>Métodos monoalfabetos – Cifrado Cesar</vt:lpstr>
      <vt:lpstr>Métodos monoalfabetos – Cifrado por sustitución</vt:lpstr>
      <vt:lpstr>Métodos monoalfabetos – Por Frecuencias</vt:lpstr>
      <vt:lpstr>Métodos polialfabéticos – Polybios</vt:lpstr>
      <vt:lpstr>Métodos polialfabéticos – Vigénere</vt:lpstr>
      <vt:lpstr>Métodos polialfabéticos – Vigénere</vt:lpstr>
      <vt:lpstr>Algoritmos simétricos más utilizados</vt:lpstr>
      <vt:lpstr>Criptografía asimétrica</vt:lpstr>
      <vt:lpstr>Criptografía asimétrica</vt:lpstr>
      <vt:lpstr>Firma Digital</vt:lpstr>
      <vt:lpstr>Firma Digital</vt:lpstr>
      <vt:lpstr>Firma Digital - Verificación</vt:lpstr>
      <vt:lpstr>Diferencias entre criptografía Simétrica y Asimétrica</vt:lpstr>
      <vt:lpstr>GRACIAS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Seguridad en los Sistemas de Información  UNIVERSIDAD TECNOLÓGICA NACIONAL AÑO 2022</dc:title>
  <dc:creator>Leonardo Arrigoni</dc:creator>
  <cp:lastModifiedBy>Leonardo Arrigoni</cp:lastModifiedBy>
  <cp:revision>31</cp:revision>
  <dcterms:created xsi:type="dcterms:W3CDTF">2022-07-06T23:07:08Z</dcterms:created>
  <dcterms:modified xsi:type="dcterms:W3CDTF">2022-10-24T18:36:55Z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