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8" r:id="rId3"/>
    <p:sldId id="261" r:id="rId4"/>
    <p:sldId id="292" r:id="rId5"/>
    <p:sldId id="293" r:id="rId6"/>
    <p:sldId id="294" r:id="rId7"/>
    <p:sldId id="296" r:id="rId8"/>
    <p:sldId id="298" r:id="rId9"/>
    <p:sldId id="299" r:id="rId10"/>
    <p:sldId id="300" r:id="rId11"/>
    <p:sldId id="301" r:id="rId12"/>
    <p:sldId id="302" r:id="rId13"/>
    <p:sldId id="291" r:id="rId14"/>
    <p:sldId id="303" r:id="rId15"/>
    <p:sldId id="273" r:id="rId16"/>
  </p:sldIdLst>
  <p:sldSz cx="12192000" cy="6858000"/>
  <p:notesSz cx="6858000" cy="9144000"/>
  <p:embeddedFontLst>
    <p:embeddedFont>
      <p:font typeface="Calibri" panose="020F0502020204030204" pitchFamily="34" charset="0"/>
      <p:regular r:id="rId18"/>
      <p:bold r:id="rId19"/>
      <p:italic r:id="rId20"/>
      <p:boldItalic r:id="rId21"/>
    </p:embeddedFont>
    <p:embeddedFont>
      <p:font typeface="Gill Sans" panose="020B0604020202020204" charset="0"/>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2" roundtripDataSignature="AMtx7mgRsv/yEuYVlJLWJEnGbw0W7Gs8F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a:t>
            </a:fld>
            <a:endParaRPr/>
          </a:p>
        </p:txBody>
      </p:sp>
    </p:spTree>
    <p:extLst>
      <p:ext uri="{BB962C8B-B14F-4D97-AF65-F5344CB8AC3E}">
        <p14:creationId xmlns:p14="http://schemas.microsoft.com/office/powerpoint/2010/main" val="4222928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5</a:t>
            </a:fld>
            <a:endParaRPr/>
          </a:p>
        </p:txBody>
      </p:sp>
    </p:spTree>
    <p:extLst>
      <p:ext uri="{BB962C8B-B14F-4D97-AF65-F5344CB8AC3E}">
        <p14:creationId xmlns:p14="http://schemas.microsoft.com/office/powerpoint/2010/main" val="2215658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6</a:t>
            </a:fld>
            <a:endParaRPr/>
          </a:p>
        </p:txBody>
      </p:sp>
    </p:spTree>
    <p:extLst>
      <p:ext uri="{BB962C8B-B14F-4D97-AF65-F5344CB8AC3E}">
        <p14:creationId xmlns:p14="http://schemas.microsoft.com/office/powerpoint/2010/main" val="9656222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7</a:t>
            </a:fld>
            <a:endParaRPr/>
          </a:p>
        </p:txBody>
      </p:sp>
    </p:spTree>
    <p:extLst>
      <p:ext uri="{BB962C8B-B14F-4D97-AF65-F5344CB8AC3E}">
        <p14:creationId xmlns:p14="http://schemas.microsoft.com/office/powerpoint/2010/main" val="2756263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8</a:t>
            </a:fld>
            <a:endParaRPr/>
          </a:p>
        </p:txBody>
      </p:sp>
    </p:spTree>
    <p:extLst>
      <p:ext uri="{BB962C8B-B14F-4D97-AF65-F5344CB8AC3E}">
        <p14:creationId xmlns:p14="http://schemas.microsoft.com/office/powerpoint/2010/main" val="17113445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9</a:t>
            </a:fld>
            <a:endParaRPr/>
          </a:p>
        </p:txBody>
      </p:sp>
    </p:spTree>
    <p:extLst>
      <p:ext uri="{BB962C8B-B14F-4D97-AF65-F5344CB8AC3E}">
        <p14:creationId xmlns:p14="http://schemas.microsoft.com/office/powerpoint/2010/main" val="36850667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10</a:t>
            </a:fld>
            <a:endParaRPr/>
          </a:p>
        </p:txBody>
      </p:sp>
    </p:spTree>
    <p:extLst>
      <p:ext uri="{BB962C8B-B14F-4D97-AF65-F5344CB8AC3E}">
        <p14:creationId xmlns:p14="http://schemas.microsoft.com/office/powerpoint/2010/main" val="3238013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11</a:t>
            </a:fld>
            <a:endParaRPr/>
          </a:p>
        </p:txBody>
      </p:sp>
    </p:spTree>
    <p:extLst>
      <p:ext uri="{BB962C8B-B14F-4D97-AF65-F5344CB8AC3E}">
        <p14:creationId xmlns:p14="http://schemas.microsoft.com/office/powerpoint/2010/main" val="41933529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12</a:t>
            </a:fld>
            <a:endParaRPr/>
          </a:p>
        </p:txBody>
      </p:sp>
    </p:spTree>
    <p:extLst>
      <p:ext uri="{BB962C8B-B14F-4D97-AF65-F5344CB8AC3E}">
        <p14:creationId xmlns:p14="http://schemas.microsoft.com/office/powerpoint/2010/main" val="33113037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13</a:t>
            </a:fld>
            <a:endParaRPr/>
          </a:p>
        </p:txBody>
      </p:sp>
    </p:spTree>
    <p:extLst>
      <p:ext uri="{BB962C8B-B14F-4D97-AF65-F5344CB8AC3E}">
        <p14:creationId xmlns:p14="http://schemas.microsoft.com/office/powerpoint/2010/main" val="28752173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14</a:t>
            </a:fld>
            <a:endParaRPr/>
          </a:p>
        </p:txBody>
      </p:sp>
    </p:spTree>
    <p:extLst>
      <p:ext uri="{BB962C8B-B14F-4D97-AF65-F5344CB8AC3E}">
        <p14:creationId xmlns:p14="http://schemas.microsoft.com/office/powerpoint/2010/main" val="11333000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8"/>
        <p:cNvGrpSpPr/>
        <p:nvPr/>
      </p:nvGrpSpPr>
      <p:grpSpPr>
        <a:xfrm>
          <a:off x="0" y="0"/>
          <a:ext cx="0" cy="0"/>
          <a:chOff x="0" y="0"/>
          <a:chExt cx="0" cy="0"/>
        </a:xfrm>
      </p:grpSpPr>
      <p:sp>
        <p:nvSpPr>
          <p:cNvPr id="19" name="Google Shape;19;p8"/>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8"/>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8"/>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22" name="Google Shape;22;p8"/>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8"/>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2"/>
        <p:cNvGrpSpPr/>
        <p:nvPr/>
      </p:nvGrpSpPr>
      <p:grpSpPr>
        <a:xfrm>
          <a:off x="0" y="0"/>
          <a:ext cx="0" cy="0"/>
          <a:chOff x="0" y="0"/>
          <a:chExt cx="0" cy="0"/>
        </a:xfrm>
      </p:grpSpPr>
      <p:sp>
        <p:nvSpPr>
          <p:cNvPr id="33" name="Google Shape;33;p10"/>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10"/>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36" name="Google Shape;36;p10"/>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37" name="Google Shape;37;p1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40"/>
        <p:cNvGrpSpPr/>
        <p:nvPr/>
      </p:nvGrpSpPr>
      <p:grpSpPr>
        <a:xfrm>
          <a:off x="0" y="0"/>
          <a:ext cx="0" cy="0"/>
          <a:chOff x="0" y="0"/>
          <a:chExt cx="0" cy="0"/>
        </a:xfrm>
      </p:grpSpPr>
      <p:sp>
        <p:nvSpPr>
          <p:cNvPr id="41" name="Google Shape;41;p11"/>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11"/>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1"/>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44" name="Google Shape;44;p1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sp>
        <p:nvSpPr>
          <p:cNvPr id="48" name="Google Shape;48;p12"/>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12"/>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2"/>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1" name="Google Shape;51;p12"/>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2" name="Google Shape;52;p12"/>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3" name="Google Shape;53;p12"/>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4" name="Google Shape;54;p12"/>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2"/>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7"/>
        <p:cNvGrpSpPr/>
        <p:nvPr/>
      </p:nvGrpSpPr>
      <p:grpSpPr>
        <a:xfrm>
          <a:off x="0" y="0"/>
          <a:ext cx="0" cy="0"/>
          <a:chOff x="0" y="0"/>
          <a:chExt cx="0" cy="0"/>
        </a:xfrm>
      </p:grpSpPr>
      <p:sp>
        <p:nvSpPr>
          <p:cNvPr id="58" name="Google Shape;58;p1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61" name="Google Shape;61;p13"/>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13"/>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3"/>
        <p:cNvGrpSpPr/>
        <p:nvPr/>
      </p:nvGrpSpPr>
      <p:grpSpPr>
        <a:xfrm>
          <a:off x="0" y="0"/>
          <a:ext cx="0" cy="0"/>
          <a:chOff x="0" y="0"/>
          <a:chExt cx="0" cy="0"/>
        </a:xfrm>
      </p:grpSpPr>
      <p:sp>
        <p:nvSpPr>
          <p:cNvPr id="64" name="Google Shape;64;p1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7"/>
        <p:cNvGrpSpPr/>
        <p:nvPr/>
      </p:nvGrpSpPr>
      <p:grpSpPr>
        <a:xfrm>
          <a:off x="0" y="0"/>
          <a:ext cx="0" cy="0"/>
          <a:chOff x="0" y="0"/>
          <a:chExt cx="0" cy="0"/>
        </a:xfrm>
      </p:grpSpPr>
      <p:sp>
        <p:nvSpPr>
          <p:cNvPr id="68" name="Google Shape;68;p15"/>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15"/>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71" name="Google Shape;71;p15"/>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2" name="Google Shape;72;p1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n con leyenda" type="picTx">
  <p:cSld name="PICTURE_WITH_CAPTION_TEXT">
    <p:spTree>
      <p:nvGrpSpPr>
        <p:cNvPr id="1" name="Shape 75"/>
        <p:cNvGrpSpPr/>
        <p:nvPr/>
      </p:nvGrpSpPr>
      <p:grpSpPr>
        <a:xfrm>
          <a:off x="0" y="0"/>
          <a:ext cx="0" cy="0"/>
          <a:chOff x="0" y="0"/>
          <a:chExt cx="0" cy="0"/>
        </a:xfrm>
      </p:grpSpPr>
      <p:sp>
        <p:nvSpPr>
          <p:cNvPr id="76" name="Google Shape;76;p16"/>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a:spLocks noGrp="1"/>
          </p:cNvSpPr>
          <p:nvPr>
            <p:ph type="pic" idx="2"/>
          </p:nvPr>
        </p:nvSpPr>
        <p:spPr>
          <a:xfrm>
            <a:off x="447817" y="599725"/>
            <a:ext cx="11290859" cy="3557252"/>
          </a:xfrm>
          <a:prstGeom prst="rect">
            <a:avLst/>
          </a:prstGeom>
          <a:noFill/>
          <a:ln>
            <a:noFill/>
          </a:ln>
        </p:spPr>
      </p:sp>
      <p:sp>
        <p:nvSpPr>
          <p:cNvPr id="78" name="Google Shape;78;p16"/>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9" name="Google Shape;79;p1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2"/>
        <p:cNvGrpSpPr/>
        <p:nvPr/>
      </p:nvGrpSpPr>
      <p:grpSpPr>
        <a:xfrm>
          <a:off x="0" y="0"/>
          <a:ext cx="0" cy="0"/>
          <a:chOff x="0" y="0"/>
          <a:chExt cx="0" cy="0"/>
        </a:xfrm>
      </p:grpSpPr>
      <p:sp>
        <p:nvSpPr>
          <p:cNvPr id="83" name="Google Shape;83;p17"/>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1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7"/>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3"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6" name="Google Shape;86;p1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9"/>
        <p:cNvGrpSpPr/>
        <p:nvPr/>
      </p:nvGrpSpPr>
      <p:grpSpPr>
        <a:xfrm>
          <a:off x="0" y="0"/>
          <a:ext cx="0" cy="0"/>
          <a:chOff x="0" y="0"/>
          <a:chExt cx="0" cy="0"/>
        </a:xfrm>
      </p:grpSpPr>
      <p:sp>
        <p:nvSpPr>
          <p:cNvPr id="90" name="Google Shape;90;p18"/>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18"/>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8"/>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93" name="Google Shape;93;p18"/>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18"/>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18"/>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1" name="Google Shape;11;p7"/>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2" name="Google Shape;12;p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5" name="Google Shape;15;p7"/>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7"/>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7"/>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0"/>
        <p:cNvGrpSpPr/>
        <p:nvPr/>
      </p:nvGrpSpPr>
      <p:grpSpPr>
        <a:xfrm>
          <a:off x="0" y="0"/>
          <a:ext cx="0" cy="0"/>
          <a:chOff x="0" y="0"/>
          <a:chExt cx="0" cy="0"/>
        </a:xfrm>
      </p:grpSpPr>
      <p:sp>
        <p:nvSpPr>
          <p:cNvPr id="101" name="Google Shape;101;p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102" name="Google Shape;102;p1" descr="Conexiones digitales"/>
          <p:cNvPicPr preferRelativeResize="0"/>
          <p:nvPr/>
        </p:nvPicPr>
        <p:blipFill rotWithShape="1">
          <a:blip r:embed="rId3">
            <a:alphaModFix/>
          </a:blip>
          <a:srcRect l="13265" t="9089" r="3502"/>
          <a:stretch/>
        </p:blipFill>
        <p:spPr>
          <a:xfrm>
            <a:off x="20" y="10"/>
            <a:ext cx="12191980" cy="6857990"/>
          </a:xfrm>
          <a:prstGeom prst="rect">
            <a:avLst/>
          </a:prstGeom>
          <a:noFill/>
          <a:ln>
            <a:noFill/>
          </a:ln>
        </p:spPr>
      </p:pic>
      <p:grpSp>
        <p:nvGrpSpPr>
          <p:cNvPr id="103" name="Google Shape;103;p1"/>
          <p:cNvGrpSpPr/>
          <p:nvPr/>
        </p:nvGrpSpPr>
        <p:grpSpPr>
          <a:xfrm>
            <a:off x="446534" y="453643"/>
            <a:ext cx="11298933" cy="98554"/>
            <a:chOff x="446534" y="453643"/>
            <a:chExt cx="11298933" cy="98554"/>
          </a:xfrm>
        </p:grpSpPr>
        <p:sp>
          <p:nvSpPr>
            <p:cNvPr id="104" name="Google Shape;104;p1"/>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1"/>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7" name="Google Shape;107;p1"/>
          <p:cNvSpPr/>
          <p:nvPr/>
        </p:nvSpPr>
        <p:spPr>
          <a:xfrm>
            <a:off x="446534" y="5864656"/>
            <a:ext cx="11260667" cy="595931"/>
          </a:xfrm>
          <a:prstGeom prst="rect">
            <a:avLst/>
          </a:prstGeom>
          <a:solidFill>
            <a:schemeClr val="accent1">
              <a:alpha val="96078"/>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1"/>
          <p:cNvSpPr txBox="1">
            <a:spLocks noGrp="1"/>
          </p:cNvSpPr>
          <p:nvPr>
            <p:ph type="ctrTitle"/>
          </p:nvPr>
        </p:nvSpPr>
        <p:spPr>
          <a:xfrm>
            <a:off x="581191" y="4572000"/>
            <a:ext cx="10993549" cy="895244"/>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4500"/>
              <a:buFont typeface="Gill Sans"/>
              <a:buNone/>
            </a:pPr>
            <a:r>
              <a:rPr lang="es-ES" sz="4500">
                <a:solidFill>
                  <a:schemeClr val="lt1"/>
                </a:solidFill>
              </a:rPr>
              <a:t>Seguridad en los Sistemas de Información  </a:t>
            </a:r>
            <a:r>
              <a:rPr lang="es-ES" sz="4000">
                <a:solidFill>
                  <a:schemeClr val="lt1"/>
                </a:solidFill>
              </a:rPr>
              <a:t>UNIVERSIDAD TECNOLÓGICA NACIONAL </a:t>
            </a:r>
            <a:r>
              <a:rPr lang="es-ES" sz="4500">
                <a:solidFill>
                  <a:schemeClr val="lt1"/>
                </a:solidFill>
              </a:rPr>
              <a:t>AÑO 2022</a:t>
            </a:r>
            <a:endParaRPr sz="4500">
              <a:solidFill>
                <a:schemeClr val="lt1"/>
              </a:solidFill>
            </a:endParaRPr>
          </a:p>
        </p:txBody>
      </p:sp>
      <p:sp>
        <p:nvSpPr>
          <p:cNvPr id="109" name="Google Shape;109;p1"/>
          <p:cNvSpPr txBox="1">
            <a:spLocks noGrp="1"/>
          </p:cNvSpPr>
          <p:nvPr>
            <p:ph type="subTitle" idx="1"/>
          </p:nvPr>
        </p:nvSpPr>
        <p:spPr>
          <a:xfrm>
            <a:off x="580094" y="5896821"/>
            <a:ext cx="10993546" cy="48482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r>
              <a:rPr lang="es-ES" sz="2400">
                <a:solidFill>
                  <a:schemeClr val="lt1"/>
                </a:solidFill>
              </a:rPr>
              <a:t>ING. LEONARDO MATIAS ARRIGONI</a:t>
            </a:r>
            <a:endParaRPr sz="24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2"/>
        <p:cNvGrpSpPr/>
        <p:nvPr/>
      </p:nvGrpSpPr>
      <p:grpSpPr>
        <a:xfrm>
          <a:off x="0" y="0"/>
          <a:ext cx="0" cy="0"/>
          <a:chOff x="0" y="0"/>
          <a:chExt cx="0" cy="0"/>
        </a:xfrm>
      </p:grpSpPr>
      <p:pic>
        <p:nvPicPr>
          <p:cNvPr id="133" name="Google Shape;133;p3"/>
          <p:cNvPicPr preferRelativeResize="0"/>
          <p:nvPr/>
        </p:nvPicPr>
        <p:blipFill rotWithShape="1">
          <a:blip r:embed="rId3">
            <a:alphaModFix/>
          </a:blip>
          <a:srcRect/>
          <a:stretch/>
        </p:blipFill>
        <p:spPr>
          <a:xfrm>
            <a:off x="731519" y="1971148"/>
            <a:ext cx="10879289" cy="4404853"/>
          </a:xfrm>
          <a:prstGeom prst="rect">
            <a:avLst/>
          </a:prstGeom>
          <a:noFill/>
          <a:ln>
            <a:noFill/>
          </a:ln>
        </p:spPr>
      </p:pic>
      <p:sp>
        <p:nvSpPr>
          <p:cNvPr id="134" name="Google Shape;134;p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3200"/>
              <a:buFont typeface="Gill Sans"/>
              <a:buNone/>
            </a:pPr>
            <a:r>
              <a:rPr lang="es-ES" sz="3200"/>
              <a:t>Seguridad en los Sistemas de Información</a:t>
            </a:r>
            <a:endParaRPr sz="3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21"/>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3200"/>
              <a:buFont typeface="Gill Sans"/>
              <a:buNone/>
            </a:pPr>
            <a:r>
              <a:rPr lang="es-ES" sz="3200" dirty="0" err="1"/>
              <a:t>Hardening</a:t>
            </a:r>
            <a:endParaRPr sz="3200" dirty="0"/>
          </a:p>
        </p:txBody>
      </p:sp>
      <p:sp>
        <p:nvSpPr>
          <p:cNvPr id="4" name="CuadroTexto 3">
            <a:extLst>
              <a:ext uri="{FF2B5EF4-FFF2-40B4-BE49-F238E27FC236}">
                <a16:creationId xmlns:a16="http://schemas.microsoft.com/office/drawing/2014/main" id="{7946F147-B6AA-2300-0D63-BF1947B05CE9}"/>
              </a:ext>
            </a:extLst>
          </p:cNvPr>
          <p:cNvSpPr txBox="1"/>
          <p:nvPr/>
        </p:nvSpPr>
        <p:spPr>
          <a:xfrm>
            <a:off x="581192" y="2305616"/>
            <a:ext cx="11029615" cy="2048318"/>
          </a:xfrm>
          <a:prstGeom prst="rect">
            <a:avLst/>
          </a:prstGeom>
          <a:noFill/>
        </p:spPr>
        <p:txBody>
          <a:bodyPr wrap="square">
            <a:spAutoFit/>
          </a:bodyPr>
          <a:lstStyle/>
          <a:p>
            <a:pPr>
              <a:lnSpc>
                <a:spcPct val="107000"/>
              </a:lnSpc>
              <a:spcAft>
                <a:spcPts val="800"/>
              </a:spcAft>
            </a:pPr>
            <a:r>
              <a:rPr lang="es-AR" sz="24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Hardening</a:t>
            </a:r>
            <a:r>
              <a:rPr lang="es-AR"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(palabra en inglés que significa endurecimiento) en seguridad informática es el proceso de asegurar un sistema mediante la reducción de vulnerabilidades en el mismo, esto se logra eliminando software, servicios, usuarios, </a:t>
            </a:r>
            <a:r>
              <a:rPr lang="es-AR" sz="24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etc</a:t>
            </a:r>
            <a:r>
              <a:rPr lang="es-AR"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innecesarios en el sistema; así como cerrando puertos que tampoco estén en uso además de otros métodos y técnicas que veremos.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21"/>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3200"/>
              <a:buFont typeface="Gill Sans"/>
              <a:buNone/>
            </a:pPr>
            <a:r>
              <a:rPr lang="es-ES" sz="3200" dirty="0" err="1"/>
              <a:t>Hardening</a:t>
            </a:r>
            <a:r>
              <a:rPr lang="es-ES" sz="3200" dirty="0"/>
              <a:t> - Configuración</a:t>
            </a:r>
            <a:endParaRPr sz="3200" dirty="0"/>
          </a:p>
        </p:txBody>
      </p:sp>
      <p:sp>
        <p:nvSpPr>
          <p:cNvPr id="4" name="CuadroTexto 3">
            <a:extLst>
              <a:ext uri="{FF2B5EF4-FFF2-40B4-BE49-F238E27FC236}">
                <a16:creationId xmlns:a16="http://schemas.microsoft.com/office/drawing/2014/main" id="{7946F147-B6AA-2300-0D63-BF1947B05CE9}"/>
              </a:ext>
            </a:extLst>
          </p:cNvPr>
          <p:cNvSpPr txBox="1"/>
          <p:nvPr/>
        </p:nvSpPr>
        <p:spPr>
          <a:xfrm>
            <a:off x="581192" y="2305616"/>
            <a:ext cx="11029615" cy="3233834"/>
          </a:xfrm>
          <a:prstGeom prst="rect">
            <a:avLst/>
          </a:prstGeom>
          <a:noFill/>
        </p:spPr>
        <p:txBody>
          <a:bodyPr wrap="square">
            <a:spAutoFit/>
          </a:bodyPr>
          <a:lstStyle/>
          <a:p>
            <a:pPr>
              <a:lnSpc>
                <a:spcPct val="107000"/>
              </a:lnSpc>
              <a:spcAft>
                <a:spcPts val="800"/>
              </a:spcAft>
            </a:pPr>
            <a:r>
              <a:rPr lang="es-AR"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Configuraciones necesarias para protegerse de posibles ataques físicos o de hardware de la máquina. Entre otras actividades, destacan el </a:t>
            </a:r>
            <a:r>
              <a:rPr lang="es-AR" sz="24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upgrade</a:t>
            </a:r>
            <a:r>
              <a:rPr lang="es-AR"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de firmware, el establecimiento de contraseñas complejas para el arranque del equipo y la configuración de la BIOS, la </a:t>
            </a:r>
            <a:r>
              <a:rPr lang="es-AR" sz="24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deshabilitación</a:t>
            </a:r>
            <a:r>
              <a:rPr lang="es-AR"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de inicio de sistema para cualquier unidad que no sea el disco duro principal, y en casos de servidores, la </a:t>
            </a:r>
            <a:r>
              <a:rPr lang="es-AR" sz="24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deshabilitación</a:t>
            </a:r>
            <a:r>
              <a:rPr lang="es-AR"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de dispositivos ópticos, </a:t>
            </a:r>
            <a:r>
              <a:rPr lang="es-AR" sz="24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usb</a:t>
            </a:r>
            <a:r>
              <a:rPr lang="es-AR"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o similares, para evitar cualquier entrada de malware desde un medio de almacenamiento externo.</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98894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21"/>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3200"/>
              <a:buFont typeface="Gill Sans"/>
              <a:buNone/>
            </a:pPr>
            <a:r>
              <a:rPr lang="es-ES" sz="3200" dirty="0" err="1"/>
              <a:t>Hardening</a:t>
            </a:r>
            <a:r>
              <a:rPr lang="es-ES" sz="3200" dirty="0"/>
              <a:t> – Sistema Operativo</a:t>
            </a:r>
            <a:endParaRPr sz="3200" dirty="0"/>
          </a:p>
        </p:txBody>
      </p:sp>
      <p:sp>
        <p:nvSpPr>
          <p:cNvPr id="4" name="CuadroTexto 3">
            <a:extLst>
              <a:ext uri="{FF2B5EF4-FFF2-40B4-BE49-F238E27FC236}">
                <a16:creationId xmlns:a16="http://schemas.microsoft.com/office/drawing/2014/main" id="{7946F147-B6AA-2300-0D63-BF1947B05CE9}"/>
              </a:ext>
            </a:extLst>
          </p:cNvPr>
          <p:cNvSpPr txBox="1"/>
          <p:nvPr/>
        </p:nvSpPr>
        <p:spPr>
          <a:xfrm>
            <a:off x="581192" y="2305616"/>
            <a:ext cx="11029615" cy="2443489"/>
          </a:xfrm>
          <a:prstGeom prst="rect">
            <a:avLst/>
          </a:prstGeom>
          <a:noFill/>
        </p:spPr>
        <p:txBody>
          <a:bodyPr wrap="square">
            <a:spAutoFit/>
          </a:bodyPr>
          <a:lstStyle/>
          <a:p>
            <a:pPr>
              <a:lnSpc>
                <a:spcPct val="107000"/>
              </a:lnSpc>
              <a:spcAft>
                <a:spcPts val="800"/>
              </a:spcAft>
            </a:pPr>
            <a:r>
              <a:rPr lang="es-AR"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Instalación segura del sistema operativo. Esto implica, entre otras cosas, el considerar al menos dos particiones primarias (1 para el sistema operativo en sí y otra para carpetas y archivos de importancia), el uso de un sistema de archivos que tenga prestaciones de seguridad, y el concepto de instalación mínima, es decir, evitando la instalación de cualquier componente de sistema que no sea necesario para el funcionamiento del sistema.</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64568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21"/>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3200"/>
              <a:buFont typeface="Gill Sans"/>
              <a:buNone/>
            </a:pPr>
            <a:r>
              <a:rPr lang="es-ES" sz="3200" dirty="0" err="1"/>
              <a:t>Hardening</a:t>
            </a:r>
            <a:r>
              <a:rPr lang="es-ES" sz="3200" dirty="0"/>
              <a:t> – Sistema Operativo (Actualizaciones)</a:t>
            </a:r>
            <a:endParaRPr sz="3200" dirty="0"/>
          </a:p>
        </p:txBody>
      </p:sp>
      <p:sp>
        <p:nvSpPr>
          <p:cNvPr id="4" name="CuadroTexto 3">
            <a:extLst>
              <a:ext uri="{FF2B5EF4-FFF2-40B4-BE49-F238E27FC236}">
                <a16:creationId xmlns:a16="http://schemas.microsoft.com/office/drawing/2014/main" id="{7946F147-B6AA-2300-0D63-BF1947B05CE9}"/>
              </a:ext>
            </a:extLst>
          </p:cNvPr>
          <p:cNvSpPr txBox="1"/>
          <p:nvPr/>
        </p:nvSpPr>
        <p:spPr>
          <a:xfrm>
            <a:off x="581192" y="2305616"/>
            <a:ext cx="11029615" cy="3836563"/>
          </a:xfrm>
          <a:prstGeom prst="rect">
            <a:avLst/>
          </a:prstGeom>
          <a:noFill/>
        </p:spPr>
        <p:txBody>
          <a:bodyPr wrap="square">
            <a:spAutoFit/>
          </a:bodyPr>
          <a:lstStyle/>
          <a:p>
            <a:pPr>
              <a:lnSpc>
                <a:spcPct val="107000"/>
              </a:lnSpc>
              <a:spcAft>
                <a:spcPts val="800"/>
              </a:spcAft>
            </a:pPr>
            <a:r>
              <a:rPr lang="es-AR"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Activación y/o configuración adecuada de servicios de actualizaciones automáticas, para asegurar que el equipo tendrá todos los parches de seguridad que entrega el proveedor al día. En caso de que se encuentre dentro de una corporación, es adecuado instalar un servidor de actualizaciones, que deberá probar en un entorno de laboratorio el impacto de la instalación de actualizaciones antes de instalarlas en producción.</a:t>
            </a:r>
          </a:p>
          <a:p>
            <a:pPr>
              <a:lnSpc>
                <a:spcPct val="107000"/>
              </a:lnSpc>
              <a:spcAft>
                <a:spcPts val="800"/>
              </a:spcAft>
            </a:pPr>
            <a:r>
              <a:rPr lang="es-AR"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Instalación, configuración y mantención de programas de seguridad tales como Antivirus, Antispyware, y un filtro Antispam según las necesidades del sistema.</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86312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21"/>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3200"/>
              <a:buFont typeface="Gill Sans"/>
              <a:buNone/>
            </a:pPr>
            <a:r>
              <a:rPr lang="es-ES" sz="3200" dirty="0" err="1"/>
              <a:t>Hardening</a:t>
            </a:r>
            <a:r>
              <a:rPr lang="es-ES" sz="3200" dirty="0"/>
              <a:t> – Sistema Operativo (Políticas locales)</a:t>
            </a:r>
            <a:endParaRPr sz="3200" dirty="0"/>
          </a:p>
        </p:txBody>
      </p:sp>
      <p:sp>
        <p:nvSpPr>
          <p:cNvPr id="4" name="CuadroTexto 3">
            <a:extLst>
              <a:ext uri="{FF2B5EF4-FFF2-40B4-BE49-F238E27FC236}">
                <a16:creationId xmlns:a16="http://schemas.microsoft.com/office/drawing/2014/main" id="{7946F147-B6AA-2300-0D63-BF1947B05CE9}"/>
              </a:ext>
            </a:extLst>
          </p:cNvPr>
          <p:cNvSpPr txBox="1"/>
          <p:nvPr/>
        </p:nvSpPr>
        <p:spPr>
          <a:xfrm>
            <a:off x="581192" y="2305616"/>
            <a:ext cx="11029615" cy="3629007"/>
          </a:xfrm>
          <a:prstGeom prst="rect">
            <a:avLst/>
          </a:prstGeom>
          <a:noFill/>
        </p:spPr>
        <p:txBody>
          <a:bodyPr wrap="square">
            <a:spAutoFit/>
          </a:bodyPr>
          <a:lstStyle/>
          <a:p>
            <a:pPr>
              <a:lnSpc>
                <a:spcPct val="107000"/>
              </a:lnSpc>
              <a:spcAft>
                <a:spcPts val="800"/>
              </a:spcAft>
            </a:pPr>
            <a:r>
              <a:rPr lang="es-AR"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Configuración de la política local del sistema, considerando varios puntos relevantes:  Política de contraseñas robusta, con claves caducables, almacenamiento histórico de contraseñas (para no usar contraseñas cíclicas), bloqueos de cuentas por intentos erróneos y requisitos de complejidad de contraseñas. Renombramiento y posterior </a:t>
            </a:r>
            <a:r>
              <a:rPr lang="es-AR" sz="24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deshabilitación</a:t>
            </a:r>
            <a:r>
              <a:rPr lang="es-AR"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de cuentas estándar del sistema, como administrador e invitado. Asignación correcta de derechos de usuario, de tal manera de reducir las posibilidades de elevación de privilegios, y tratando siempre de limitar al mínimo los privilegios y/o derechos de los usuarios activos.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40689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21"/>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3200"/>
              <a:buFont typeface="Gill Sans"/>
              <a:buNone/>
            </a:pPr>
            <a:r>
              <a:rPr lang="es-ES" sz="3200" dirty="0" err="1"/>
              <a:t>Hardening</a:t>
            </a:r>
            <a:r>
              <a:rPr lang="es-ES" sz="3200" dirty="0"/>
              <a:t> – Sistema Operativo (Políticas)</a:t>
            </a:r>
            <a:endParaRPr sz="3200" dirty="0"/>
          </a:p>
        </p:txBody>
      </p:sp>
      <p:sp>
        <p:nvSpPr>
          <p:cNvPr id="4" name="CuadroTexto 3">
            <a:extLst>
              <a:ext uri="{FF2B5EF4-FFF2-40B4-BE49-F238E27FC236}">
                <a16:creationId xmlns:a16="http://schemas.microsoft.com/office/drawing/2014/main" id="{7946F147-B6AA-2300-0D63-BF1947B05CE9}"/>
              </a:ext>
            </a:extLst>
          </p:cNvPr>
          <p:cNvSpPr txBox="1"/>
          <p:nvPr/>
        </p:nvSpPr>
        <p:spPr>
          <a:xfrm>
            <a:off x="581192" y="2305616"/>
            <a:ext cx="11029615" cy="3543984"/>
          </a:xfrm>
          <a:prstGeom prst="rect">
            <a:avLst/>
          </a:prstGeom>
          <a:noFill/>
        </p:spPr>
        <p:txBody>
          <a:bodyPr wrap="square">
            <a:spAutoFit/>
          </a:bodyPr>
          <a:lstStyle/>
          <a:p>
            <a:pPr>
              <a:lnSpc>
                <a:spcPct val="107000"/>
              </a:lnSpc>
              <a:spcAft>
                <a:spcPts val="800"/>
              </a:spcAft>
            </a:pPr>
            <a:r>
              <a:rPr lang="es-AR" sz="2400" dirty="0">
                <a:solidFill>
                  <a:srgbClr val="000000"/>
                </a:solidFill>
                <a:effectLst/>
                <a:latin typeface="Arial" panose="020B0604020202020204" pitchFamily="34" charset="0"/>
                <a:ea typeface="Calibri" panose="020F0502020204030204" pitchFamily="34" charset="0"/>
              </a:rPr>
              <a:t>Configuración de opciones de seguridad generales, como aquellas relacionadas con rutas de acceso compartido, apagado de sistema, inicio y cierre de sesión y opciones de seguridad de red.</a:t>
            </a:r>
          </a:p>
          <a:p>
            <a:pPr>
              <a:lnSpc>
                <a:spcPct val="107000"/>
              </a:lnSpc>
              <a:spcAft>
                <a:spcPts val="800"/>
              </a:spcAft>
            </a:pPr>
            <a:r>
              <a:rPr lang="es-AR"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Restricciones de software, basado en lo posible en el uso de listas blancas de software permitido más que en listas negras del mismo.</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AR"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Activación de auditorías de sistema, claves para tener un registro de algunos intentos de ataque característicos como la adivinación de contraseñas.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46835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21"/>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3200"/>
              <a:buFont typeface="Gill Sans"/>
              <a:buNone/>
            </a:pPr>
            <a:r>
              <a:rPr lang="es-ES" sz="3200" dirty="0" err="1"/>
              <a:t>Hardening</a:t>
            </a:r>
            <a:r>
              <a:rPr lang="es-ES" sz="3200" dirty="0"/>
              <a:t> – Configuración de servicios de Sistema</a:t>
            </a:r>
            <a:endParaRPr sz="3200" dirty="0"/>
          </a:p>
        </p:txBody>
      </p:sp>
      <p:sp>
        <p:nvSpPr>
          <p:cNvPr id="4" name="CuadroTexto 3">
            <a:extLst>
              <a:ext uri="{FF2B5EF4-FFF2-40B4-BE49-F238E27FC236}">
                <a16:creationId xmlns:a16="http://schemas.microsoft.com/office/drawing/2014/main" id="{7946F147-B6AA-2300-0D63-BF1947B05CE9}"/>
              </a:ext>
            </a:extLst>
          </p:cNvPr>
          <p:cNvSpPr txBox="1"/>
          <p:nvPr/>
        </p:nvSpPr>
        <p:spPr>
          <a:xfrm>
            <a:off x="581192" y="2305616"/>
            <a:ext cx="11029615" cy="2048318"/>
          </a:xfrm>
          <a:prstGeom prst="rect">
            <a:avLst/>
          </a:prstGeom>
          <a:noFill/>
        </p:spPr>
        <p:txBody>
          <a:bodyPr wrap="square">
            <a:spAutoFit/>
          </a:bodyPr>
          <a:lstStyle/>
          <a:p>
            <a:pPr>
              <a:lnSpc>
                <a:spcPct val="107000"/>
              </a:lnSpc>
              <a:spcAft>
                <a:spcPts val="800"/>
              </a:spcAft>
            </a:pPr>
            <a:r>
              <a:rPr lang="es-AR"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Configuración de servicios de sistema. En este punto es necesario tratar siempre de deshabilitar todos aquellos servicios que no vayan a prestar una funcionalidad necesaria para el funcionamiento del sistema. Por ejemplo, si su equipo no posee tarjetas de red inalámbrica, el servicio de redes inalámbricas debería estar deshabilitado.</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46477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21"/>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3200"/>
              <a:buFont typeface="Gill Sans"/>
              <a:buNone/>
            </a:pPr>
            <a:r>
              <a:rPr lang="es-ES" sz="3200" dirty="0" err="1"/>
              <a:t>Hardening</a:t>
            </a:r>
            <a:r>
              <a:rPr lang="es-ES" sz="3200" dirty="0"/>
              <a:t> – Configuración de protocolos de red</a:t>
            </a:r>
            <a:endParaRPr sz="3200" dirty="0"/>
          </a:p>
        </p:txBody>
      </p:sp>
      <p:sp>
        <p:nvSpPr>
          <p:cNvPr id="4" name="CuadroTexto 3">
            <a:extLst>
              <a:ext uri="{FF2B5EF4-FFF2-40B4-BE49-F238E27FC236}">
                <a16:creationId xmlns:a16="http://schemas.microsoft.com/office/drawing/2014/main" id="{7946F147-B6AA-2300-0D63-BF1947B05CE9}"/>
              </a:ext>
            </a:extLst>
          </p:cNvPr>
          <p:cNvSpPr txBox="1"/>
          <p:nvPr/>
        </p:nvSpPr>
        <p:spPr>
          <a:xfrm>
            <a:off x="581192" y="2305616"/>
            <a:ext cx="11029615" cy="2443489"/>
          </a:xfrm>
          <a:prstGeom prst="rect">
            <a:avLst/>
          </a:prstGeom>
          <a:noFill/>
        </p:spPr>
        <p:txBody>
          <a:bodyPr wrap="square">
            <a:spAutoFit/>
          </a:bodyPr>
          <a:lstStyle/>
          <a:p>
            <a:pPr>
              <a:lnSpc>
                <a:spcPct val="107000"/>
              </a:lnSpc>
              <a:spcAft>
                <a:spcPts val="800"/>
              </a:spcAft>
            </a:pPr>
            <a:r>
              <a:rPr lang="es-AR"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Configuración de los protocolos de Red. En la medida de lo posible, es recomendable usar sistemas de traducción de direcciones (NAT) para direccionar los equipos internos de una organización. Deshabilitar todos aquellos protocolos de red innecesarios en el sistema y limitar el uso de los mismos al mínimo. TCP/IP es un protocolo que no nació pensando en seguridad, por lo que limitar su uso al estrictamente necesario es imperativo.</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91987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21"/>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3200"/>
              <a:buFont typeface="Gill Sans"/>
              <a:buNone/>
            </a:pPr>
            <a:r>
              <a:rPr lang="es-ES" sz="3200" dirty="0" err="1"/>
              <a:t>Hardening</a:t>
            </a:r>
            <a:r>
              <a:rPr lang="es-ES" sz="3200" dirty="0"/>
              <a:t> – Configuración de permisos</a:t>
            </a:r>
            <a:endParaRPr sz="3200" dirty="0"/>
          </a:p>
        </p:txBody>
      </p:sp>
      <p:sp>
        <p:nvSpPr>
          <p:cNvPr id="4" name="CuadroTexto 3">
            <a:extLst>
              <a:ext uri="{FF2B5EF4-FFF2-40B4-BE49-F238E27FC236}">
                <a16:creationId xmlns:a16="http://schemas.microsoft.com/office/drawing/2014/main" id="{7946F147-B6AA-2300-0D63-BF1947B05CE9}"/>
              </a:ext>
            </a:extLst>
          </p:cNvPr>
          <p:cNvSpPr txBox="1"/>
          <p:nvPr/>
        </p:nvSpPr>
        <p:spPr>
          <a:xfrm>
            <a:off x="581192" y="2305616"/>
            <a:ext cx="11029615" cy="2048318"/>
          </a:xfrm>
          <a:prstGeom prst="rect">
            <a:avLst/>
          </a:prstGeom>
          <a:noFill/>
        </p:spPr>
        <p:txBody>
          <a:bodyPr wrap="square">
            <a:spAutoFit/>
          </a:bodyPr>
          <a:lstStyle/>
          <a:p>
            <a:pPr>
              <a:lnSpc>
                <a:spcPct val="107000"/>
              </a:lnSpc>
              <a:spcAft>
                <a:spcPts val="800"/>
              </a:spcAft>
            </a:pPr>
            <a:r>
              <a:rPr lang="es-AR"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Configuración adecuada de permisos de seguridad en archivos y carpetas del sistema. En la medida de lo posible, denegar explícitamente cualquier permiso de archivo a las cuentas de acceso anónimos o que no tengan contraseña. Un correcto set de permisos a nivel de carpetas y archivos es clave para evitar acceso no deseado al contenido de los mismos.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28871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21"/>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3200"/>
              <a:buFont typeface="Gill Sans"/>
              <a:buNone/>
            </a:pPr>
            <a:r>
              <a:rPr lang="es-ES" sz="3200" dirty="0" err="1"/>
              <a:t>Hardening</a:t>
            </a:r>
            <a:r>
              <a:rPr lang="es-ES" sz="3200" dirty="0"/>
              <a:t> – Configuración de permisos y acceso remoto</a:t>
            </a:r>
            <a:endParaRPr sz="3200" dirty="0"/>
          </a:p>
        </p:txBody>
      </p:sp>
      <p:sp>
        <p:nvSpPr>
          <p:cNvPr id="4" name="CuadroTexto 3">
            <a:extLst>
              <a:ext uri="{FF2B5EF4-FFF2-40B4-BE49-F238E27FC236}">
                <a16:creationId xmlns:a16="http://schemas.microsoft.com/office/drawing/2014/main" id="{7946F147-B6AA-2300-0D63-BF1947B05CE9}"/>
              </a:ext>
            </a:extLst>
          </p:cNvPr>
          <p:cNvSpPr txBox="1"/>
          <p:nvPr/>
        </p:nvSpPr>
        <p:spPr>
          <a:xfrm>
            <a:off x="581192" y="2305616"/>
            <a:ext cx="11029615" cy="4532459"/>
          </a:xfrm>
          <a:prstGeom prst="rect">
            <a:avLst/>
          </a:prstGeom>
          <a:noFill/>
        </p:spPr>
        <p:txBody>
          <a:bodyPr wrap="square">
            <a:spAutoFit/>
          </a:bodyPr>
          <a:lstStyle/>
          <a:p>
            <a:pPr>
              <a:lnSpc>
                <a:spcPct val="107000"/>
              </a:lnSpc>
              <a:spcAft>
                <a:spcPts val="800"/>
              </a:spcAft>
            </a:pPr>
            <a:r>
              <a:rPr lang="es-AR" sz="2400" dirty="0">
                <a:solidFill>
                  <a:srgbClr val="000000"/>
                </a:solidFill>
                <a:effectLst/>
                <a:latin typeface="+mn-lt"/>
                <a:ea typeface="Calibri" panose="020F0502020204030204" pitchFamily="34" charset="0"/>
                <a:cs typeface="Times New Roman" panose="02020603050405020304" pitchFamily="18" charset="0"/>
              </a:rPr>
              <a:t>Configuración de opciones de seguridad de los distintos programas, como clientes de correo electrónico, navegadores de internet y en general de cualquier tipo de programa que tenga interacción con la red.</a:t>
            </a:r>
          </a:p>
          <a:p>
            <a:pPr>
              <a:lnSpc>
                <a:spcPct val="107000"/>
              </a:lnSpc>
              <a:spcAft>
                <a:spcPts val="800"/>
              </a:spcAft>
            </a:pPr>
            <a:r>
              <a:rPr lang="es-AR" sz="2400" dirty="0">
                <a:solidFill>
                  <a:srgbClr val="000000"/>
                </a:solidFill>
                <a:effectLst/>
                <a:latin typeface="+mn-lt"/>
                <a:ea typeface="Calibri" panose="020F0502020204030204" pitchFamily="34" charset="0"/>
                <a:cs typeface="Times New Roman" panose="02020603050405020304" pitchFamily="18" charset="0"/>
              </a:rPr>
              <a:t>Configuración de acceso remoto. En caso de no ser estrictamente necesario, es bueno deshabilitar el acceso remoto. Sin embargo, cuando es necesario tener control remoto de la máquina, es preciso configurarlo de manera adecuada, restringiendo el acceso a un número muy limitado de usuario, restringiendo al mínimo las conexiones concurrentes, tomando cuidado en la desconexión y cierre de sesión y estableciendo un canal cifrado de comunicaciones para tales propósitos, como SSH.</a:t>
            </a:r>
            <a:endParaRPr lang="en-US" sz="2400" dirty="0">
              <a:effectLst/>
              <a:latin typeface="+mn-lt"/>
              <a:ea typeface="Calibri" panose="020F0502020204030204" pitchFamily="34" charset="0"/>
              <a:cs typeface="Times New Roman" panose="02020603050405020304" pitchFamily="18" charset="0"/>
            </a:endParaRPr>
          </a:p>
          <a:p>
            <a:pPr>
              <a:lnSpc>
                <a:spcPct val="107000"/>
              </a:lnSpc>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13291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21"/>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3200"/>
              <a:buFont typeface="Gill Sans"/>
              <a:buNone/>
            </a:pPr>
            <a:r>
              <a:rPr lang="es-ES" sz="3200" dirty="0" err="1"/>
              <a:t>CheckList</a:t>
            </a:r>
            <a:r>
              <a:rPr lang="es-ES" sz="3200" dirty="0"/>
              <a:t> (A)</a:t>
            </a:r>
            <a:endParaRPr sz="3200" dirty="0"/>
          </a:p>
        </p:txBody>
      </p:sp>
      <p:sp>
        <p:nvSpPr>
          <p:cNvPr id="4" name="CuadroTexto 3">
            <a:extLst>
              <a:ext uri="{FF2B5EF4-FFF2-40B4-BE49-F238E27FC236}">
                <a16:creationId xmlns:a16="http://schemas.microsoft.com/office/drawing/2014/main" id="{7946F147-B6AA-2300-0D63-BF1947B05CE9}"/>
              </a:ext>
            </a:extLst>
          </p:cNvPr>
          <p:cNvSpPr txBox="1"/>
          <p:nvPr/>
        </p:nvSpPr>
        <p:spPr>
          <a:xfrm>
            <a:off x="581192" y="2305616"/>
            <a:ext cx="11029615" cy="3785652"/>
          </a:xfrm>
          <a:prstGeom prst="rect">
            <a:avLst/>
          </a:prstGeom>
          <a:noFill/>
        </p:spPr>
        <p:txBody>
          <a:bodyPr wrap="square">
            <a:spAutoFit/>
          </a:bodyPr>
          <a:lstStyle/>
          <a:p>
            <a:pPr algn="just"/>
            <a:r>
              <a:rPr lang="es-AR" sz="2400" i="0" u="none" strike="noStrike" baseline="0" dirty="0">
                <a:solidFill>
                  <a:srgbClr val="1E1C11"/>
                </a:solidFill>
                <a:latin typeface="+mn-lt"/>
              </a:rPr>
              <a:t>1- </a:t>
            </a:r>
            <a:r>
              <a:rPr lang="es-AR" sz="2400" b="1" dirty="0">
                <a:latin typeface="+mn-lt"/>
                <a:cs typeface="Times New Roman" panose="02020603050405020304" pitchFamily="18" charset="0"/>
              </a:rPr>
              <a:t>Desactiva el inicio de sesión automático.</a:t>
            </a:r>
          </a:p>
          <a:p>
            <a:pPr algn="just"/>
            <a:r>
              <a:rPr lang="es-AR" sz="2400" i="0" u="none" strike="noStrike" baseline="0" dirty="0">
                <a:solidFill>
                  <a:srgbClr val="1E1C11"/>
                </a:solidFill>
                <a:latin typeface="+mn-lt"/>
              </a:rPr>
              <a:t>2- </a:t>
            </a:r>
            <a:r>
              <a:rPr lang="es-AR" sz="2400" b="1" dirty="0">
                <a:effectLst/>
                <a:latin typeface="+mn-lt"/>
                <a:ea typeface="Calibri" panose="020F0502020204030204" pitchFamily="34" charset="0"/>
                <a:cs typeface="Times New Roman" panose="02020603050405020304" pitchFamily="18" charset="0"/>
              </a:rPr>
              <a:t>Establezca una contraseña con su salvapantallas.</a:t>
            </a:r>
            <a:endParaRPr lang="es-AR" sz="2400" i="0" u="none" strike="noStrike" baseline="0" dirty="0">
              <a:solidFill>
                <a:srgbClr val="1E1C11"/>
              </a:solidFill>
              <a:latin typeface="+mn-lt"/>
            </a:endParaRPr>
          </a:p>
          <a:p>
            <a:pPr algn="just"/>
            <a:r>
              <a:rPr lang="es-AR" sz="2400" i="0" u="none" strike="noStrike" baseline="0" dirty="0">
                <a:solidFill>
                  <a:srgbClr val="1E1C11"/>
                </a:solidFill>
                <a:latin typeface="+mn-lt"/>
              </a:rPr>
              <a:t>3- </a:t>
            </a:r>
            <a:r>
              <a:rPr lang="en-US" sz="2400" b="1" dirty="0">
                <a:effectLst/>
                <a:latin typeface="+mn-lt"/>
                <a:ea typeface="Calibri" panose="020F0502020204030204" pitchFamily="34" charset="0"/>
              </a:rPr>
              <a:t>Active </a:t>
            </a:r>
            <a:r>
              <a:rPr lang="en-US" sz="2400" b="1" dirty="0" err="1">
                <a:effectLst/>
                <a:latin typeface="+mn-lt"/>
                <a:ea typeface="Calibri" panose="020F0502020204030204" pitchFamily="34" charset="0"/>
              </a:rPr>
              <a:t>el</a:t>
            </a:r>
            <a:r>
              <a:rPr lang="en-US" sz="2400" b="1" dirty="0">
                <a:effectLst/>
                <a:latin typeface="+mn-lt"/>
                <a:ea typeface="Calibri" panose="020F0502020204030204" pitchFamily="34" charset="0"/>
              </a:rPr>
              <a:t> firewall de Windows.</a:t>
            </a:r>
            <a:endParaRPr lang="es-AR" sz="2400" i="0" u="none" strike="noStrike" baseline="0" dirty="0">
              <a:solidFill>
                <a:srgbClr val="1E1C11"/>
              </a:solidFill>
              <a:latin typeface="+mn-lt"/>
            </a:endParaRPr>
          </a:p>
          <a:p>
            <a:pPr algn="just"/>
            <a:r>
              <a:rPr lang="en-US" sz="2400" i="0" u="none" strike="noStrike" baseline="0" dirty="0">
                <a:solidFill>
                  <a:srgbClr val="1E1C11"/>
                </a:solidFill>
                <a:latin typeface="+mn-lt"/>
              </a:rPr>
              <a:t>4- </a:t>
            </a:r>
            <a:r>
              <a:rPr lang="es-AR" sz="2400" b="1" dirty="0">
                <a:effectLst/>
                <a:latin typeface="+mn-lt"/>
                <a:ea typeface="Calibri" panose="020F0502020204030204" pitchFamily="34" charset="0"/>
              </a:rPr>
              <a:t>Desactivar el acceso remoto.</a:t>
            </a:r>
            <a:endParaRPr lang="en-US" sz="2400" i="0" u="none" strike="noStrike" baseline="0" dirty="0">
              <a:solidFill>
                <a:srgbClr val="1E1C11"/>
              </a:solidFill>
              <a:latin typeface="+mn-lt"/>
            </a:endParaRPr>
          </a:p>
          <a:p>
            <a:pPr algn="just"/>
            <a:r>
              <a:rPr lang="es-AR" sz="2400" i="0" u="none" strike="noStrike" baseline="0" dirty="0">
                <a:solidFill>
                  <a:srgbClr val="1E1C11"/>
                </a:solidFill>
                <a:latin typeface="+mn-lt"/>
              </a:rPr>
              <a:t>5- </a:t>
            </a:r>
            <a:r>
              <a:rPr lang="es-AR" sz="2400" b="1" dirty="0">
                <a:effectLst/>
                <a:latin typeface="+mn-lt"/>
                <a:ea typeface="Calibri" panose="020F0502020204030204" pitchFamily="34" charset="0"/>
              </a:rPr>
              <a:t>Habilitar o instalar herramientas de protección antivirus.</a:t>
            </a:r>
            <a:endParaRPr lang="es-AR" sz="2400" i="0" u="none" strike="noStrike" baseline="0" dirty="0">
              <a:solidFill>
                <a:srgbClr val="1E1C11"/>
              </a:solidFill>
              <a:latin typeface="+mn-lt"/>
            </a:endParaRPr>
          </a:p>
          <a:p>
            <a:pPr algn="just"/>
            <a:r>
              <a:rPr lang="es-AR" sz="2400" i="0" u="none" strike="noStrike" baseline="0" dirty="0">
                <a:solidFill>
                  <a:srgbClr val="1E1C11"/>
                </a:solidFill>
                <a:latin typeface="+mn-lt"/>
              </a:rPr>
              <a:t>6- </a:t>
            </a:r>
            <a:r>
              <a:rPr lang="es-AR" sz="2400" b="1" dirty="0">
                <a:effectLst/>
                <a:latin typeface="+mn-lt"/>
                <a:ea typeface="Calibri" panose="020F0502020204030204" pitchFamily="34" charset="0"/>
              </a:rPr>
              <a:t>Active las actualizaciones automáticas de su sistema operativo.</a:t>
            </a:r>
            <a:endParaRPr lang="es-AR" sz="2400" i="0" u="none" strike="noStrike" baseline="0" dirty="0">
              <a:solidFill>
                <a:srgbClr val="1E1C11"/>
              </a:solidFill>
              <a:latin typeface="+mn-lt"/>
            </a:endParaRPr>
          </a:p>
          <a:p>
            <a:pPr algn="just"/>
            <a:r>
              <a:rPr lang="es-AR" sz="2400" i="0" u="none" strike="noStrike" baseline="0" dirty="0">
                <a:solidFill>
                  <a:srgbClr val="1E1C11"/>
                </a:solidFill>
                <a:latin typeface="+mn-lt"/>
              </a:rPr>
              <a:t>7- </a:t>
            </a:r>
            <a:r>
              <a:rPr lang="es-AR" sz="2400" b="1" dirty="0">
                <a:effectLst/>
                <a:latin typeface="+mn-lt"/>
                <a:ea typeface="Calibri" panose="020F0502020204030204" pitchFamily="34" charset="0"/>
              </a:rPr>
              <a:t>Establece copias de seguridad de los archivos.</a:t>
            </a:r>
            <a:endParaRPr lang="es-AR" sz="2400" i="0" u="none" strike="noStrike" baseline="0" dirty="0">
              <a:solidFill>
                <a:srgbClr val="1E1C11"/>
              </a:solidFill>
              <a:latin typeface="+mn-lt"/>
            </a:endParaRPr>
          </a:p>
          <a:p>
            <a:pPr algn="just"/>
            <a:r>
              <a:rPr lang="en-US" sz="2400" i="0" u="none" strike="noStrike" baseline="0" dirty="0">
                <a:solidFill>
                  <a:srgbClr val="1E1C11"/>
                </a:solidFill>
                <a:latin typeface="+mn-lt"/>
              </a:rPr>
              <a:t>8- </a:t>
            </a:r>
            <a:r>
              <a:rPr lang="es-AR" sz="2400" b="1" dirty="0">
                <a:effectLst/>
                <a:latin typeface="+mn-lt"/>
                <a:ea typeface="Calibri" panose="020F0502020204030204" pitchFamily="34" charset="0"/>
              </a:rPr>
              <a:t>Activa el cifrado.</a:t>
            </a:r>
            <a:endParaRPr lang="en-US" sz="2400" i="0" u="none" strike="noStrike" baseline="0" dirty="0">
              <a:solidFill>
                <a:srgbClr val="1E1C11"/>
              </a:solidFill>
              <a:latin typeface="+mn-lt"/>
            </a:endParaRPr>
          </a:p>
          <a:p>
            <a:pPr algn="just"/>
            <a:r>
              <a:rPr lang="en-US" sz="2400" i="0" u="none" strike="noStrike" baseline="0" dirty="0">
                <a:solidFill>
                  <a:srgbClr val="1E1C11"/>
                </a:solidFill>
                <a:latin typeface="+mn-lt"/>
              </a:rPr>
              <a:t>9- </a:t>
            </a:r>
            <a:r>
              <a:rPr lang="es-AR" sz="2400" b="1" dirty="0">
                <a:effectLst/>
                <a:latin typeface="+mn-lt"/>
                <a:ea typeface="Calibri" panose="020F0502020204030204" pitchFamily="34" charset="0"/>
              </a:rPr>
              <a:t>Configure sus cuentas de usuario.</a:t>
            </a:r>
            <a:endParaRPr lang="en-US" sz="2400" i="0" u="none" strike="noStrike" baseline="0" dirty="0">
              <a:solidFill>
                <a:srgbClr val="1E1C11"/>
              </a:solidFill>
              <a:latin typeface="+mn-lt"/>
            </a:endParaRPr>
          </a:p>
          <a:p>
            <a:pPr algn="just"/>
            <a:r>
              <a:rPr lang="es-AR" sz="2400" i="0" u="none" strike="noStrike" baseline="0" dirty="0">
                <a:solidFill>
                  <a:srgbClr val="1E1C11"/>
                </a:solidFill>
                <a:latin typeface="+mn-lt"/>
              </a:rPr>
              <a:t>10- </a:t>
            </a:r>
            <a:r>
              <a:rPr lang="es-AR" sz="2400" b="1" dirty="0">
                <a:effectLst/>
                <a:latin typeface="+mn-lt"/>
                <a:ea typeface="Calibri" panose="020F0502020204030204" pitchFamily="34" charset="0"/>
              </a:rPr>
              <a:t>Configura un gestor de contraseñas.</a:t>
            </a:r>
            <a:endParaRPr lang="en-US" sz="2400" dirty="0">
              <a:latin typeface="+mn-lt"/>
            </a:endParaRPr>
          </a:p>
        </p:txBody>
      </p:sp>
    </p:spTree>
    <p:extLst>
      <p:ext uri="{BB962C8B-B14F-4D97-AF65-F5344CB8AC3E}">
        <p14:creationId xmlns:p14="http://schemas.microsoft.com/office/powerpoint/2010/main" val="1630843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p21"/>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lt1"/>
              </a:buClr>
              <a:buSzPts val="3200"/>
              <a:buFont typeface="Gill Sans"/>
              <a:buNone/>
            </a:pPr>
            <a:r>
              <a:rPr lang="es-ES" sz="3200" dirty="0" err="1"/>
              <a:t>CheckList</a:t>
            </a:r>
            <a:r>
              <a:rPr lang="es-ES" sz="3200" dirty="0"/>
              <a:t> (B)</a:t>
            </a:r>
            <a:endParaRPr sz="3200" dirty="0"/>
          </a:p>
        </p:txBody>
      </p:sp>
      <p:sp>
        <p:nvSpPr>
          <p:cNvPr id="4" name="CuadroTexto 3">
            <a:extLst>
              <a:ext uri="{FF2B5EF4-FFF2-40B4-BE49-F238E27FC236}">
                <a16:creationId xmlns:a16="http://schemas.microsoft.com/office/drawing/2014/main" id="{7946F147-B6AA-2300-0D63-BF1947B05CE9}"/>
              </a:ext>
            </a:extLst>
          </p:cNvPr>
          <p:cNvSpPr txBox="1"/>
          <p:nvPr/>
        </p:nvSpPr>
        <p:spPr>
          <a:xfrm>
            <a:off x="581192" y="2305616"/>
            <a:ext cx="11029615" cy="3785652"/>
          </a:xfrm>
          <a:prstGeom prst="rect">
            <a:avLst/>
          </a:prstGeom>
          <a:noFill/>
        </p:spPr>
        <p:txBody>
          <a:bodyPr wrap="square">
            <a:spAutoFit/>
          </a:bodyPr>
          <a:lstStyle/>
          <a:p>
            <a:r>
              <a:rPr lang="es-AR" sz="2400" i="0" u="none" strike="noStrike" baseline="0" dirty="0">
                <a:solidFill>
                  <a:srgbClr val="1E1C11"/>
                </a:solidFill>
                <a:latin typeface="+mn-lt"/>
              </a:rPr>
              <a:t>1- Disponer de un antivirus.</a:t>
            </a:r>
          </a:p>
          <a:p>
            <a:r>
              <a:rPr lang="es-AR" sz="2400" i="0" u="none" strike="noStrike" baseline="0" dirty="0">
                <a:solidFill>
                  <a:srgbClr val="1E1C11"/>
                </a:solidFill>
                <a:latin typeface="+mn-lt"/>
              </a:rPr>
              <a:t>2- Utilizar un Firewall</a:t>
            </a:r>
            <a:r>
              <a:rPr lang="es-AR" sz="2400" dirty="0">
                <a:solidFill>
                  <a:srgbClr val="1E1C11"/>
                </a:solidFill>
                <a:latin typeface="+mn-lt"/>
              </a:rPr>
              <a:t>.</a:t>
            </a:r>
            <a:endParaRPr lang="es-AR" sz="2400" i="0" u="none" strike="noStrike" baseline="0" dirty="0">
              <a:solidFill>
                <a:srgbClr val="1E1C11"/>
              </a:solidFill>
              <a:latin typeface="+mn-lt"/>
            </a:endParaRPr>
          </a:p>
          <a:p>
            <a:r>
              <a:rPr lang="es-AR" sz="2400" i="0" u="none" strike="noStrike" baseline="0" dirty="0">
                <a:solidFill>
                  <a:srgbClr val="1E1C11"/>
                </a:solidFill>
                <a:latin typeface="+mn-lt"/>
              </a:rPr>
              <a:t>3- Actualizar aplicaciones con parches de seguridad. </a:t>
            </a:r>
          </a:p>
          <a:p>
            <a:r>
              <a:rPr lang="en-US" sz="2400" i="0" u="none" strike="noStrike" baseline="0" dirty="0">
                <a:solidFill>
                  <a:srgbClr val="1E1C11"/>
                </a:solidFill>
                <a:latin typeface="+mn-lt"/>
              </a:rPr>
              <a:t>4- </a:t>
            </a:r>
            <a:r>
              <a:rPr lang="en-US" sz="2400" i="0" u="none" strike="noStrike" baseline="0" dirty="0" err="1">
                <a:solidFill>
                  <a:srgbClr val="1E1C11"/>
                </a:solidFill>
                <a:latin typeface="+mn-lt"/>
              </a:rPr>
              <a:t>Utilizar</a:t>
            </a:r>
            <a:r>
              <a:rPr lang="en-US" sz="2400" i="0" u="none" strike="noStrike" baseline="0" dirty="0">
                <a:solidFill>
                  <a:srgbClr val="1E1C11"/>
                </a:solidFill>
                <a:latin typeface="+mn-lt"/>
              </a:rPr>
              <a:t> software legal. </a:t>
            </a:r>
          </a:p>
          <a:p>
            <a:r>
              <a:rPr lang="es-AR" sz="2400" i="0" u="none" strike="noStrike" baseline="0" dirty="0">
                <a:solidFill>
                  <a:srgbClr val="1E1C11"/>
                </a:solidFill>
                <a:latin typeface="+mn-lt"/>
              </a:rPr>
              <a:t>5- Analizar y tener precaución en todos los correos electrónicos. </a:t>
            </a:r>
          </a:p>
          <a:p>
            <a:r>
              <a:rPr lang="es-AR" sz="2400" i="0" u="none" strike="noStrike" baseline="0" dirty="0">
                <a:solidFill>
                  <a:srgbClr val="1E1C11"/>
                </a:solidFill>
                <a:latin typeface="+mn-lt"/>
              </a:rPr>
              <a:t>6- Ser cuidadoso con los archivos que se bajan de Internet. </a:t>
            </a:r>
          </a:p>
          <a:p>
            <a:r>
              <a:rPr lang="es-AR" sz="2400" i="0" u="none" strike="noStrike" baseline="0" dirty="0">
                <a:solidFill>
                  <a:srgbClr val="1E1C11"/>
                </a:solidFill>
                <a:latin typeface="+mn-lt"/>
              </a:rPr>
              <a:t>7- Uso y configuración adecuada de los usuarios locales (</a:t>
            </a:r>
            <a:r>
              <a:rPr lang="es-AR" sz="2400" i="0" u="none" strike="noStrike" baseline="0" dirty="0" err="1">
                <a:solidFill>
                  <a:srgbClr val="1E1C11"/>
                </a:solidFill>
                <a:latin typeface="+mn-lt"/>
              </a:rPr>
              <a:t>admin</a:t>
            </a:r>
            <a:r>
              <a:rPr lang="es-AR" sz="2400" i="0" u="none" strike="noStrike" baseline="0" dirty="0">
                <a:solidFill>
                  <a:srgbClr val="1E1C11"/>
                </a:solidFill>
                <a:latin typeface="+mn-lt"/>
              </a:rPr>
              <a:t>). </a:t>
            </a:r>
          </a:p>
          <a:p>
            <a:r>
              <a:rPr lang="en-US" sz="2400" i="0" u="none" strike="noStrike" baseline="0" dirty="0">
                <a:solidFill>
                  <a:srgbClr val="1E1C11"/>
                </a:solidFill>
                <a:latin typeface="+mn-lt"/>
              </a:rPr>
              <a:t>8- </a:t>
            </a:r>
            <a:r>
              <a:rPr lang="en-US" sz="2400" i="0" u="none" strike="noStrike" baseline="0" dirty="0" err="1">
                <a:solidFill>
                  <a:srgbClr val="1E1C11"/>
                </a:solidFill>
                <a:latin typeface="+mn-lt"/>
              </a:rPr>
              <a:t>Utilizar</a:t>
            </a:r>
            <a:r>
              <a:rPr lang="en-US" sz="2400" i="0" u="none" strike="noStrike" baseline="0" dirty="0">
                <a:solidFill>
                  <a:srgbClr val="1E1C11"/>
                </a:solidFill>
                <a:latin typeface="+mn-lt"/>
              </a:rPr>
              <a:t> </a:t>
            </a:r>
            <a:r>
              <a:rPr lang="en-US" sz="2400" i="0" u="none" strike="noStrike" baseline="0" dirty="0" err="1">
                <a:solidFill>
                  <a:srgbClr val="1E1C11"/>
                </a:solidFill>
                <a:latin typeface="+mn-lt"/>
              </a:rPr>
              <a:t>contraseñas</a:t>
            </a:r>
            <a:r>
              <a:rPr lang="en-US" sz="2400" i="0" u="none" strike="noStrike" baseline="0" dirty="0">
                <a:solidFill>
                  <a:srgbClr val="1E1C11"/>
                </a:solidFill>
                <a:latin typeface="+mn-lt"/>
              </a:rPr>
              <a:t> </a:t>
            </a:r>
            <a:r>
              <a:rPr lang="en-US" sz="2400" i="0" u="none" strike="noStrike" baseline="0" dirty="0" err="1">
                <a:solidFill>
                  <a:srgbClr val="1E1C11"/>
                </a:solidFill>
                <a:latin typeface="+mn-lt"/>
              </a:rPr>
              <a:t>seguras</a:t>
            </a:r>
            <a:r>
              <a:rPr lang="en-US" sz="2400" i="0" u="none" strike="noStrike" baseline="0" dirty="0">
                <a:solidFill>
                  <a:srgbClr val="1E1C11"/>
                </a:solidFill>
                <a:latin typeface="+mn-lt"/>
              </a:rPr>
              <a:t>. </a:t>
            </a:r>
          </a:p>
          <a:p>
            <a:r>
              <a:rPr lang="en-US" sz="2400" i="0" u="none" strike="noStrike" baseline="0" dirty="0">
                <a:solidFill>
                  <a:srgbClr val="1E1C11"/>
                </a:solidFill>
                <a:latin typeface="+mn-lt"/>
              </a:rPr>
              <a:t>9- </a:t>
            </a:r>
            <a:r>
              <a:rPr lang="en-US" sz="2400" i="0" u="none" strike="noStrike" baseline="0" dirty="0" err="1">
                <a:solidFill>
                  <a:srgbClr val="1E1C11"/>
                </a:solidFill>
                <a:latin typeface="+mn-lt"/>
              </a:rPr>
              <a:t>Utilizar</a:t>
            </a:r>
            <a:r>
              <a:rPr lang="en-US" sz="2400" i="0" u="none" strike="noStrike" baseline="0" dirty="0">
                <a:solidFill>
                  <a:srgbClr val="1E1C11"/>
                </a:solidFill>
                <a:latin typeface="+mn-lt"/>
              </a:rPr>
              <a:t> </a:t>
            </a:r>
            <a:r>
              <a:rPr lang="en-US" sz="2400" i="0" u="none" strike="noStrike" baseline="0" dirty="0" err="1">
                <a:solidFill>
                  <a:srgbClr val="1E1C11"/>
                </a:solidFill>
                <a:latin typeface="+mn-lt"/>
              </a:rPr>
              <a:t>navegadores</a:t>
            </a:r>
            <a:r>
              <a:rPr lang="en-US" sz="2400" i="0" u="none" strike="noStrike" baseline="0" dirty="0">
                <a:solidFill>
                  <a:srgbClr val="1E1C11"/>
                </a:solidFill>
                <a:latin typeface="+mn-lt"/>
              </a:rPr>
              <a:t> </a:t>
            </a:r>
            <a:r>
              <a:rPr lang="en-US" sz="2400" i="0" u="none" strike="noStrike" baseline="0" dirty="0" err="1">
                <a:solidFill>
                  <a:srgbClr val="1E1C11"/>
                </a:solidFill>
                <a:latin typeface="+mn-lt"/>
              </a:rPr>
              <a:t>actualizados</a:t>
            </a:r>
            <a:r>
              <a:rPr lang="en-US" sz="2400" i="0" u="none" strike="noStrike" baseline="0" dirty="0">
                <a:solidFill>
                  <a:srgbClr val="1E1C11"/>
                </a:solidFill>
                <a:latin typeface="+mn-lt"/>
              </a:rPr>
              <a:t>. </a:t>
            </a:r>
          </a:p>
          <a:p>
            <a:r>
              <a:rPr lang="es-AR" sz="2400" i="0" u="none" strike="noStrike" baseline="0" dirty="0">
                <a:solidFill>
                  <a:srgbClr val="1E1C11"/>
                </a:solidFill>
                <a:latin typeface="+mn-lt"/>
              </a:rPr>
              <a:t>10- Realizar siempre copias </a:t>
            </a:r>
            <a:r>
              <a:rPr lang="es-AR" sz="2400" i="0" u="none" strike="noStrike" baseline="0">
                <a:solidFill>
                  <a:srgbClr val="1E1C11"/>
                </a:solidFill>
                <a:latin typeface="+mn-lt"/>
              </a:rPr>
              <a:t>de seguridad. </a:t>
            </a:r>
            <a:endParaRPr lang="en-US" sz="2400" dirty="0">
              <a:latin typeface="+mn-lt"/>
            </a:endParaRPr>
          </a:p>
        </p:txBody>
      </p:sp>
    </p:spTree>
    <p:extLst>
      <p:ext uri="{BB962C8B-B14F-4D97-AF65-F5344CB8AC3E}">
        <p14:creationId xmlns:p14="http://schemas.microsoft.com/office/powerpoint/2010/main" val="3046315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8"/>
        <p:cNvGrpSpPr/>
        <p:nvPr/>
      </p:nvGrpSpPr>
      <p:grpSpPr>
        <a:xfrm>
          <a:off x="0" y="0"/>
          <a:ext cx="0" cy="0"/>
          <a:chOff x="0" y="0"/>
          <a:chExt cx="0" cy="0"/>
        </a:xfrm>
      </p:grpSpPr>
      <p:sp>
        <p:nvSpPr>
          <p:cNvPr id="239" name="Google Shape;239;p6"/>
          <p:cNvSpPr/>
          <p:nvPr/>
        </p:nvSpPr>
        <p:spPr>
          <a:xfrm>
            <a:off x="0" y="1"/>
            <a:ext cx="12191999"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pic>
        <p:nvPicPr>
          <p:cNvPr id="240" name="Google Shape;240;p6" descr="Números digitales"/>
          <p:cNvPicPr preferRelativeResize="0"/>
          <p:nvPr/>
        </p:nvPicPr>
        <p:blipFill rotWithShape="1">
          <a:blip r:embed="rId3">
            <a:alphaModFix/>
          </a:blip>
          <a:srcRect l="2189" r="9640" b="1"/>
          <a:stretch/>
        </p:blipFill>
        <p:spPr>
          <a:xfrm>
            <a:off x="446534" y="723899"/>
            <a:ext cx="7498616" cy="5676901"/>
          </a:xfrm>
          <a:prstGeom prst="rect">
            <a:avLst/>
          </a:prstGeom>
          <a:noFill/>
          <a:ln>
            <a:noFill/>
          </a:ln>
        </p:spPr>
      </p:pic>
      <p:sp>
        <p:nvSpPr>
          <p:cNvPr id="241" name="Google Shape;241;p6"/>
          <p:cNvSpPr/>
          <p:nvPr/>
        </p:nvSpPr>
        <p:spPr>
          <a:xfrm>
            <a:off x="8042147" y="723899"/>
            <a:ext cx="3703320" cy="5666666"/>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6"/>
          <p:cNvSpPr txBox="1">
            <a:spLocks noGrp="1"/>
          </p:cNvSpPr>
          <p:nvPr>
            <p:ph type="ctrTitle"/>
          </p:nvPr>
        </p:nvSpPr>
        <p:spPr>
          <a:xfrm>
            <a:off x="8296275" y="1419226"/>
            <a:ext cx="3081576" cy="174676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FFFFFF"/>
              </a:buClr>
              <a:buSzPts val="3600"/>
              <a:buFont typeface="Gill Sans"/>
              <a:buNone/>
            </a:pPr>
            <a:r>
              <a:rPr lang="es-ES">
                <a:solidFill>
                  <a:srgbClr val="FFFFFF"/>
                </a:solidFill>
              </a:rPr>
              <a:t>GRACIAS</a:t>
            </a:r>
            <a:endParaRPr/>
          </a:p>
        </p:txBody>
      </p:sp>
      <p:grpSp>
        <p:nvGrpSpPr>
          <p:cNvPr id="243" name="Google Shape;243;p6"/>
          <p:cNvGrpSpPr/>
          <p:nvPr/>
        </p:nvGrpSpPr>
        <p:grpSpPr>
          <a:xfrm>
            <a:off x="446534" y="453643"/>
            <a:ext cx="11298933" cy="98554"/>
            <a:chOff x="446534" y="453643"/>
            <a:chExt cx="11298933" cy="98554"/>
          </a:xfrm>
        </p:grpSpPr>
        <p:sp>
          <p:nvSpPr>
            <p:cNvPr id="244" name="Google Shape;244;p6"/>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6"/>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6"/>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47" name="Google Shape;247;p6"/>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p>
            <a:pPr marL="457200" lvl="0" indent="-333756" algn="l" rtl="0">
              <a:lnSpc>
                <a:spcPct val="100000"/>
              </a:lnSpc>
              <a:spcBef>
                <a:spcPts val="320"/>
              </a:spcBef>
              <a:spcAft>
                <a:spcPts val="0"/>
              </a:spcAft>
              <a:buSzPts val="1472"/>
              <a:buNone/>
            </a:pPr>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617</TotalTime>
  <Words>1067</Words>
  <Application>Microsoft Office PowerPoint</Application>
  <PresentationFormat>Panorámica</PresentationFormat>
  <Paragraphs>65</Paragraphs>
  <Slides>15</Slides>
  <Notes>15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Arial</vt:lpstr>
      <vt:lpstr>Gill Sans</vt:lpstr>
      <vt:lpstr>Calibri</vt:lpstr>
      <vt:lpstr>Noto Sans Symbols</vt:lpstr>
      <vt:lpstr>Dividendo</vt:lpstr>
      <vt:lpstr>Seguridad en los Sistemas de Información  UNIVERSIDAD TECNOLÓGICA NACIONAL AÑO 2022</vt:lpstr>
      <vt:lpstr>Seguridad en los Sistemas de Información</vt:lpstr>
      <vt:lpstr>Hardening</vt:lpstr>
      <vt:lpstr>Hardening - Configuración</vt:lpstr>
      <vt:lpstr>Hardening – Sistema Operativo</vt:lpstr>
      <vt:lpstr>Hardening – Sistema Operativo (Actualizaciones)</vt:lpstr>
      <vt:lpstr>Hardening – Sistema Operativo (Políticas locales)</vt:lpstr>
      <vt:lpstr>Hardening – Sistema Operativo (Políticas)</vt:lpstr>
      <vt:lpstr>Hardening – Configuración de servicios de Sistema</vt:lpstr>
      <vt:lpstr>Hardening – Configuración de protocolos de red</vt:lpstr>
      <vt:lpstr>Hardening – Configuración de permisos</vt:lpstr>
      <vt:lpstr>Hardening – Configuración de permisos y acceso remoto</vt:lpstr>
      <vt:lpstr>CheckList (A)</vt:lpstr>
      <vt:lpstr>CheckList (B)</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Seguridad en los Sistemas de Información  UNIVERSIDAD TECNOLÓGICA NACIONAL AÑO 2022</dc:title>
  <dc:creator>Leonardo Arrigoni</dc:creator>
  <cp:lastModifiedBy>Leonardo Arrigoni</cp:lastModifiedBy>
  <cp:revision>18</cp:revision>
  <dcterms:created xsi:type="dcterms:W3CDTF">2022-07-06T23:07:08Z</dcterms:created>
  <dcterms:modified xsi:type="dcterms:W3CDTF">2022-09-05T18:37:38Z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