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66" r:id="rId2"/>
    <p:sldId id="267" r:id="rId3"/>
    <p:sldId id="273" r:id="rId4"/>
    <p:sldId id="268" r:id="rId5"/>
    <p:sldId id="269" r:id="rId6"/>
    <p:sldId id="270" r:id="rId7"/>
    <p:sldId id="271" r:id="rId8"/>
    <p:sldId id="274" r:id="rId9"/>
    <p:sldId id="275" r:id="rId10"/>
    <p:sldId id="276" r:id="rId11"/>
    <p:sldId id="277" r:id="rId12"/>
    <p:sldId id="278" r:id="rId13"/>
    <p:sldId id="280" r:id="rId14"/>
    <p:sldId id="279" r:id="rId15"/>
  </p:sldIdLst>
  <p:sldSz cx="9144000" cy="5143500" type="screen16x9"/>
  <p:notesSz cx="6858000" cy="9144000"/>
  <p:embeddedFontLst>
    <p:embeddedFont>
      <p:font typeface="Lao UI" panose="020B0502040204020203" pitchFamily="34" charset="0"/>
      <p:regular r:id="rId17"/>
      <p:bold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Raleway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6fa3c89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6fa3c89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7f33385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57f33385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57f33385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f57f33385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57f333852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57f333852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f57f33385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f57f33385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57f333852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f57f333852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57f33385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57f33385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6fa3c89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c6fa3c89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57f333852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57f333852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57f333852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57f333852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57f33385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f57f33385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57f333852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f57f333852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c6fa3c898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c6fa3c898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93225" y="423825"/>
            <a:ext cx="36051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Firewall</a:t>
            </a:r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466175" y="2099075"/>
            <a:ext cx="46539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s" sz="1600">
                <a:latin typeface="Lato"/>
                <a:ea typeface="Lato"/>
                <a:cs typeface="Lato"/>
                <a:sym typeface="Lato"/>
              </a:rPr>
              <a:t>Un firewall es un sistema de seguridad de red que monitorea y controla el tráfico de red entrante y saliente basado en un conjunto de reglas de seguridad predeterminadas. Actúa como una barrera entre una red interna confiable y redes externas no confiables, como Internet, para evitar el acceso no autorizado, ataques cibernéticos y otras amenazas.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350" y="1289750"/>
            <a:ext cx="3791575" cy="290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1724850" y="575950"/>
            <a:ext cx="6997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Papel del Firewall en la Protección de Redes</a:t>
            </a:r>
            <a:endParaRPr dirty="0"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2400300" y="1602675"/>
            <a:ext cx="52839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100" b="1" dirty="0"/>
              <a:t>Filtrar el Tráfico Malicioso: </a:t>
            </a:r>
            <a:r>
              <a:rPr lang="es" sz="1100" dirty="0"/>
              <a:t>Bloquean intentos de acceso no autorizado a la red y evitan la propagación de malware y otras amenazas.</a:t>
            </a:r>
            <a:endParaRPr sz="1100" dirty="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 dirty="0"/>
              <a:t>Controlar el Acceso a Recursos: </a:t>
            </a:r>
            <a:r>
              <a:rPr lang="es" sz="1100" dirty="0"/>
              <a:t>Definen qué usuarios o sistemas pueden acceder a determinados recursos dentro y fuera de la red, protegiendo datos sensibles.</a:t>
            </a:r>
            <a:endParaRPr sz="1100" dirty="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 dirty="0"/>
              <a:t>Proteger contra Ataques de Red:</a:t>
            </a:r>
            <a:r>
              <a:rPr lang="es" sz="1100" dirty="0"/>
              <a:t> Ayudan a prevenir ataques comunes, como ataques de denegación de servicio (DoS), ataques de inyección, y ataques de fuerza bruta.</a:t>
            </a:r>
            <a:endParaRPr sz="1100" dirty="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 dirty="0"/>
              <a:t>Monitoreo y Auditoría:</a:t>
            </a:r>
            <a:r>
              <a:rPr lang="es" sz="1100" dirty="0"/>
              <a:t> Registran actividades de red, lo que permite a los administradores de red revisar eventos de seguridad y responder rápidamente a incidentes.</a:t>
            </a:r>
            <a:endParaRPr sz="1100"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>
            <a:spLocks noGrp="1"/>
          </p:cNvSpPr>
          <p:nvPr>
            <p:ph type="title"/>
          </p:nvPr>
        </p:nvSpPr>
        <p:spPr>
          <a:xfrm>
            <a:off x="2136650" y="575950"/>
            <a:ext cx="65853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Firewall Personal</a:t>
            </a:r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1200"/>
              </a:spcAft>
              <a:buSzPts val="1600"/>
              <a:buChar char="●"/>
            </a:pPr>
            <a:r>
              <a:rPr lang="es" sz="1600"/>
              <a:t>Es un software instalado en un equipo individual (como una PC o laptop) para protegerlo contra amenazas de red.</a:t>
            </a:r>
            <a:endParaRPr sz="1600"/>
          </a:p>
        </p:txBody>
      </p:sp>
      <p:sp>
        <p:nvSpPr>
          <p:cNvPr id="188" name="Google Shape;188;p30"/>
          <p:cNvSpPr txBox="1">
            <a:spLocks noGrp="1"/>
          </p:cNvSpPr>
          <p:nvPr>
            <p:ph type="body" idx="2"/>
          </p:nvPr>
        </p:nvSpPr>
        <p:spPr>
          <a:xfrm>
            <a:off x="5423200" y="1602675"/>
            <a:ext cx="3659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Ventajas: </a:t>
            </a:r>
            <a:r>
              <a:rPr lang="es" sz="1100"/>
              <a:t>Ofrece una protección personalizada a nivel de dispositivo.</a:t>
            </a:r>
            <a:endParaRPr sz="11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Limitaciones: </a:t>
            </a:r>
            <a:r>
              <a:rPr lang="es" sz="1100"/>
              <a:t>No proporciona protección para toda la red, solo para el dispositivo en el que está instalado.</a:t>
            </a:r>
            <a:endParaRPr sz="1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Firewall de filtrado de paquetes</a:t>
            </a:r>
            <a:endParaRPr dirty="0"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1200"/>
              </a:spcAft>
              <a:buSzPts val="1600"/>
              <a:buChar char="●"/>
            </a:pPr>
            <a:r>
              <a:rPr lang="es" sz="1600" dirty="0"/>
              <a:t>Inspecciona los paquetes de datos que entran y salen de la red, permitiendo o bloqueando el tráfico basado en reglas predefinidas (por ejemplo, dirección IP, puerto, protocolo).</a:t>
            </a:r>
            <a:endParaRPr sz="1600" dirty="0"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2"/>
          </p:nvPr>
        </p:nvSpPr>
        <p:spPr>
          <a:xfrm>
            <a:off x="5423200" y="1602675"/>
            <a:ext cx="3659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Ventajas:</a:t>
            </a:r>
            <a:r>
              <a:rPr lang="es" sz="1100"/>
              <a:t> Rápido y eficiente, adecuado para tareas sencillas de filtrado.</a:t>
            </a:r>
            <a:endParaRPr sz="11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Limitaciones:</a:t>
            </a:r>
            <a:r>
              <a:rPr lang="es" sz="1100"/>
              <a:t> No inspecciona el contenido de los paquetes, lo que puede permitir el paso de paquetes maliciosos si estos cumplen con las reglas básicas.</a:t>
            </a:r>
            <a:endParaRPr sz="1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2136650" y="575950"/>
            <a:ext cx="65853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Firewall de Inspección de Estado</a:t>
            </a:r>
            <a:endParaRPr dirty="0"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1200"/>
              </a:spcAft>
              <a:buSzPts val="1600"/>
              <a:buChar char="●"/>
            </a:pPr>
            <a:r>
              <a:rPr lang="es" sz="1600"/>
              <a:t>Monitorea el estado de las conexiones de red y toma decisiones de filtrado basadas en el estado de las conexiones y el contexto de los paquetes.</a:t>
            </a:r>
            <a:endParaRPr sz="1600"/>
          </a:p>
        </p:txBody>
      </p:sp>
      <p:sp>
        <p:nvSpPr>
          <p:cNvPr id="160" name="Google Shape;160;p26"/>
          <p:cNvSpPr txBox="1">
            <a:spLocks noGrp="1"/>
          </p:cNvSpPr>
          <p:nvPr>
            <p:ph type="body" idx="2"/>
          </p:nvPr>
        </p:nvSpPr>
        <p:spPr>
          <a:xfrm>
            <a:off x="5423200" y="1602675"/>
            <a:ext cx="3659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Ventajas:</a:t>
            </a:r>
            <a:r>
              <a:rPr lang="es" sz="1100"/>
              <a:t> Ofrece una capa adicional de seguridad al tener en cuenta el estado de la conexión, lo que ayuda a bloquear paquetes inesperados.</a:t>
            </a:r>
            <a:endParaRPr sz="11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Limitaciones:</a:t>
            </a:r>
            <a:r>
              <a:rPr lang="es" sz="1100"/>
              <a:t> Puede ser más complejo de configurar y consume más recursos.</a:t>
            </a:r>
            <a:endParaRPr sz="1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2136650" y="575950"/>
            <a:ext cx="65853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Firewall de Aplicación o Proxy</a:t>
            </a:r>
            <a:endParaRPr dirty="0"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1200"/>
              </a:spcAft>
              <a:buSzPts val="1600"/>
              <a:buChar char="●"/>
            </a:pPr>
            <a:r>
              <a:rPr lang="es" sz="1600"/>
              <a:t>Actúa como intermediario entre el usuario final y el recurso al que desea acceder, filtrando todo el tráfico a nivel de aplicación. Los usuarios no se conectan directamente a los servidores externos, sino que el proxy realiza la conexión en su nombre.</a:t>
            </a:r>
            <a:endParaRPr sz="1600"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2"/>
          </p:nvPr>
        </p:nvSpPr>
        <p:spPr>
          <a:xfrm>
            <a:off x="5423200" y="1602675"/>
            <a:ext cx="3659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Ventajas:</a:t>
            </a:r>
            <a:r>
              <a:rPr lang="es" sz="1100"/>
              <a:t> Capacidad de inspeccionar el contenido de los paquetes a nivel de aplicación, bloqueando ataques específicos de aplicaciones.</a:t>
            </a:r>
            <a:endParaRPr sz="11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/>
              <a:t>Limitaciones:</a:t>
            </a:r>
            <a:r>
              <a:rPr lang="es" sz="1100"/>
              <a:t> Puede introducir latencia y requiere más recursos.</a:t>
            </a:r>
            <a:endParaRPr sz="11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2136650" y="575950"/>
            <a:ext cx="65853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Firewall de Próxima Generación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1200"/>
              </a:spcAft>
              <a:buSzPts val="1600"/>
              <a:buChar char="●"/>
            </a:pPr>
            <a:r>
              <a:rPr lang="es" sz="1600" dirty="0"/>
              <a:t>Combina capacidades de firewalls tradicionales con funciones avanzadas como inspección profunda de paquetes (DPI), prevención de intrusiones (IPS), y control de aplicaciones.</a:t>
            </a:r>
            <a:endParaRPr sz="1600" dirty="0"/>
          </a:p>
        </p:txBody>
      </p:sp>
      <p:sp>
        <p:nvSpPr>
          <p:cNvPr id="174" name="Google Shape;174;p28"/>
          <p:cNvSpPr txBox="1">
            <a:spLocks noGrp="1"/>
          </p:cNvSpPr>
          <p:nvPr>
            <p:ph type="body" idx="2"/>
          </p:nvPr>
        </p:nvSpPr>
        <p:spPr>
          <a:xfrm>
            <a:off x="5423200" y="1602675"/>
            <a:ext cx="3659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100" b="1" dirty="0"/>
              <a:t>Ventajas:</a:t>
            </a:r>
            <a:r>
              <a:rPr lang="es" sz="1100" dirty="0"/>
              <a:t> Proporciona una protección más integral contra amenazas avanzadas, como ataques dirigidos y malware.</a:t>
            </a:r>
            <a:endParaRPr sz="1100" dirty="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100" b="1" dirty="0"/>
              <a:t>Limitaciones:</a:t>
            </a:r>
            <a:r>
              <a:rPr lang="es" sz="1100" dirty="0"/>
              <a:t> Más costoso y puede requerir hardware más potente.</a:t>
            </a:r>
            <a:endParaRPr sz="1100"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Configuración de Firewalls</a:t>
            </a:r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2400262" y="1308301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es" sz="2100" b="1">
                <a:solidFill>
                  <a:schemeClr val="dk1"/>
                </a:solidFill>
              </a:rPr>
              <a:t>Definición de Zonas de Red: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/>
              <a:t>Zonas:</a:t>
            </a:r>
            <a:r>
              <a:rPr lang="es" sz="1100"/>
              <a:t> Un firewall suele dividir la red en diferentes zonas (por ejemplo, una zona interna confiable, una zona externa no confiable como Internet, y una zona desmilitarizada o DMZ).</a:t>
            </a:r>
            <a:endParaRPr sz="11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100" b="1"/>
              <a:t>Objetivo:</a:t>
            </a:r>
            <a:r>
              <a:rPr lang="es" sz="1100"/>
              <a:t> Separar las áreas de la red para aplicar diferentes políticas de seguridad según la sensibilidad de los datos o servicios en cada zona.</a:t>
            </a:r>
            <a:endParaRPr sz="1100"/>
          </a:p>
          <a:p>
            <a:pPr marL="457200" lvl="0" indent="-3619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s" sz="2100" b="1">
                <a:solidFill>
                  <a:schemeClr val="dk1"/>
                </a:solidFill>
              </a:rPr>
              <a:t>Establecimiento de Políticas por Defecto: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/>
              <a:t>Permitir por defecto (Allow by default):</a:t>
            </a:r>
            <a:r>
              <a:rPr lang="es" sz="1100"/>
              <a:t> Todo el tráfico es permitido a menos que una regla lo bloquee.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b="1"/>
              <a:t>Denegar por defecto (Deny by default): </a:t>
            </a:r>
            <a:r>
              <a:rPr lang="es" sz="1100"/>
              <a:t>Todo el tráfico es bloqueado a menos que una regla lo permita. Esta es la política recomendada para maximizar la seguridad.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Configuración de Firewalls</a:t>
            </a:r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body" idx="1"/>
          </p:nvPr>
        </p:nvSpPr>
        <p:spPr>
          <a:xfrm>
            <a:off x="2400262" y="1308301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b="1">
                <a:solidFill>
                  <a:schemeClr val="dk1"/>
                </a:solidFill>
              </a:rPr>
              <a:t>3.	Definición de Reglas de Filtrado:</a:t>
            </a: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s" sz="1100" b="1"/>
              <a:t>Reglas de filtrado de paquetes:</a:t>
            </a:r>
            <a:r>
              <a:rPr lang="es" sz="1100"/>
              <a:t> Definen qué tipo de tráfico se permite o bloquea basado en criterios específicos como:</a:t>
            </a:r>
            <a:endParaRPr sz="1100"/>
          </a:p>
          <a:p>
            <a:pPr marL="457200" lvl="0" indent="-298450" algn="l" rtl="0">
              <a:spcBef>
                <a:spcPts val="16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" sz="1100"/>
              <a:t>Dirección IP de origen y destino.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" sz="1100"/>
              <a:t>Número de puerto de origen y destino.</a:t>
            </a:r>
            <a:endParaRPr sz="1100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" sz="1100"/>
              <a:t>Protocolo utilizado (TCP, UDP, ICMP, etc.).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>
            <a:spLocks noGrp="1"/>
          </p:cNvSpPr>
          <p:nvPr>
            <p:ph type="title"/>
          </p:nvPr>
        </p:nvSpPr>
        <p:spPr>
          <a:xfrm>
            <a:off x="93225" y="423825"/>
            <a:ext cx="36051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DMZ</a:t>
            </a:r>
            <a:endParaRPr dirty="0"/>
          </a:p>
        </p:txBody>
      </p:sp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466175" y="2099075"/>
            <a:ext cx="46539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>
              <a:buSzPts val="1600"/>
              <a:buFont typeface="Lato"/>
              <a:buChar char="●"/>
            </a:pPr>
            <a:r>
              <a:rPr lang="es" sz="1600" b="0" dirty="0">
                <a:latin typeface="Lao UI" panose="020B0502040204020203" pitchFamily="34" charset="0"/>
                <a:cs typeface="Lao UI" panose="020B0502040204020203" pitchFamily="34" charset="0"/>
                <a:sym typeface="Lato"/>
              </a:rPr>
              <a:t>Una DMZ </a:t>
            </a:r>
            <a:r>
              <a:rPr lang="es-MX" sz="1600" b="0" dirty="0">
                <a:latin typeface="Lao UI" panose="020F0502020204030204" pitchFamily="34" charset="0"/>
                <a:cs typeface="Lao UI" panose="020F0502020204030204" pitchFamily="34" charset="0"/>
              </a:rPr>
              <a:t>es una red informática perimetral y aislada que actúa como una capa intermedia entre Internet y la red interna de una organización (LAN)</a:t>
            </a:r>
            <a:endParaRPr sz="1600" b="0" dirty="0">
              <a:latin typeface="Lao UI" panose="020F0502020204030204" pitchFamily="34" charset="0"/>
              <a:ea typeface="Lato"/>
              <a:cs typeface="Lao UI" panose="020F0502020204030204" pitchFamily="34" charset="0"/>
              <a:sym typeface="Lato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125" y="1846175"/>
            <a:ext cx="248602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Caracteristicas de una DMZ</a:t>
            </a:r>
            <a:endParaRPr dirty="0"/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2400262" y="1308301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s-MX" sz="1500" b="1" dirty="0"/>
              <a:t>Separación de redes</a:t>
            </a:r>
            <a:endParaRPr sz="1500" b="1" dirty="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s-MX" sz="1500" b="1" dirty="0"/>
              <a:t>Control de acceso</a:t>
            </a:r>
            <a:endParaRPr sz="1500" b="1" dirty="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s-MX" sz="1500" b="1" dirty="0"/>
              <a:t>Reducción de riesgos</a:t>
            </a:r>
            <a:endParaRPr sz="1500" b="1" dirty="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s-MX" sz="1500" b="1" dirty="0"/>
              <a:t>Monitoreo y auditoria</a:t>
            </a:r>
            <a:endParaRPr sz="1500" b="1" dirty="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s-MX" sz="1500" b="1" dirty="0"/>
              <a:t>Configuración con múltiples firewalls</a:t>
            </a:r>
            <a:endParaRPr sz="15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Tipos de DMZ (aplicaciones)</a:t>
            </a:r>
            <a:endParaRPr dirty="0"/>
          </a:p>
        </p:txBody>
      </p:sp>
      <p:sp>
        <p:nvSpPr>
          <p:cNvPr id="219" name="Google Shape;219;p35"/>
          <p:cNvSpPr txBox="1">
            <a:spLocks noGrp="1"/>
          </p:cNvSpPr>
          <p:nvPr>
            <p:ph type="body" idx="1"/>
          </p:nvPr>
        </p:nvSpPr>
        <p:spPr>
          <a:xfrm>
            <a:off x="2400262" y="1308301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200000"/>
              </a:lnSpc>
              <a:spcBef>
                <a:spcPts val="1200"/>
              </a:spcBef>
            </a:pPr>
            <a:r>
              <a:rPr lang="es-MX" b="1" dirty="0"/>
              <a:t>Servidor Web, Correo, DNS públicos</a:t>
            </a:r>
            <a:endParaRPr b="1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s-MX" b="1" dirty="0"/>
              <a:t>Entornos Híbridos</a:t>
            </a:r>
            <a:endParaRPr b="1" dirty="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s-MX" b="1" dirty="0"/>
              <a:t>Proxys y VPN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s-MX" b="1" dirty="0"/>
              <a:t>Sistema de monitoreo de trafico intruso (IDS/IPS)</a:t>
            </a: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s-MX" b="1" dirty="0"/>
              <a:t>Redes domesticas (ej. IOT)</a:t>
            </a:r>
            <a:endParaRPr b="1" dirty="0"/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CF94E-4745-4957-9E0F-6BB48FC07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</a:t>
            </a:r>
            <a:endParaRPr lang="es-AR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08B631-1942-335B-FFB2-1D4092352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384" y="1478653"/>
            <a:ext cx="5869055" cy="289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58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gracias</a:t>
            </a:r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798</Words>
  <Application>Microsoft Office PowerPoint</Application>
  <PresentationFormat>Presentación en pantalla (16:9)</PresentationFormat>
  <Paragraphs>60</Paragraphs>
  <Slides>14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Raleway</vt:lpstr>
      <vt:lpstr>Lato</vt:lpstr>
      <vt:lpstr>Arial</vt:lpstr>
      <vt:lpstr>Lao UI</vt:lpstr>
      <vt:lpstr>Swiss</vt:lpstr>
      <vt:lpstr>Firewall</vt:lpstr>
      <vt:lpstr>Papel del Firewall en la Protección de Redes</vt:lpstr>
      <vt:lpstr>Firewall Personal</vt:lpstr>
      <vt:lpstr>Firewall de filtrado de paquetes</vt:lpstr>
      <vt:lpstr>Firewall de Inspección de Estado</vt:lpstr>
      <vt:lpstr>Firewall de Aplicación o Proxy</vt:lpstr>
      <vt:lpstr>Firewall de Próxima Generación</vt:lpstr>
      <vt:lpstr>Configuración de Firewalls</vt:lpstr>
      <vt:lpstr>Configuración de Firewalls</vt:lpstr>
      <vt:lpstr>DMZ</vt:lpstr>
      <vt:lpstr>Caracteristicas de una DMZ</vt:lpstr>
      <vt:lpstr>Tipos de DMZ (aplicaciones)</vt:lpstr>
      <vt:lpstr>Arquitectura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Mariano David Lancioni</dc:creator>
  <cp:lastModifiedBy>Mariano David Lancioni</cp:lastModifiedBy>
  <cp:revision>2</cp:revision>
  <dcterms:modified xsi:type="dcterms:W3CDTF">2025-08-29T18:16:53Z</dcterms:modified>
</cp:coreProperties>
</file>