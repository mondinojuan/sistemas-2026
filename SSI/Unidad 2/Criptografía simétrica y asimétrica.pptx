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72" r:id="rId12"/>
    <p:sldId id="280" r:id="rId13"/>
    <p:sldId id="273" r:id="rId14"/>
    <p:sldId id="278" r:id="rId15"/>
    <p:sldId id="266" r:id="rId16"/>
    <p:sldId id="267" r:id="rId17"/>
    <p:sldId id="268" r:id="rId18"/>
    <p:sldId id="269" r:id="rId19"/>
    <p:sldId id="270" r:id="rId20"/>
    <p:sldId id="276" r:id="rId21"/>
    <p:sldId id="277" r:id="rId22"/>
    <p:sldId id="274" r:id="rId23"/>
    <p:sldId id="275" r:id="rId24"/>
    <p:sldId id="279" r:id="rId25"/>
    <p:sldId id="281" r:id="rId26"/>
    <p:sldId id="282" r:id="rId27"/>
    <p:sldId id="283" r:id="rId28"/>
    <p:sldId id="284" r:id="rId29"/>
    <p:sldId id="271" r:id="rId30"/>
  </p:sldIdLst>
  <p:sldSz cx="9144000" cy="5143500" type="screen16x9"/>
  <p:notesSz cx="6858000" cy="9144000"/>
  <p:embeddedFontLst>
    <p:embeddedFont>
      <p:font typeface="Lato" panose="020B0604020202020204" charset="0"/>
      <p:regular r:id="rId32"/>
      <p:bold r:id="rId33"/>
      <p:italic r:id="rId34"/>
      <p:boldItalic r:id="rId35"/>
    </p:embeddedFont>
    <p:embeddedFont>
      <p:font typeface="Montserrat" panose="020B0604020202020204" charset="0"/>
      <p:regular r:id="rId36"/>
      <p:bold r:id="rId37"/>
      <p:italic r:id="rId38"/>
      <p:boldItalic r:id="rId39"/>
    </p:embeddedFont>
    <p:embeddedFont>
      <p:font typeface="Average" panose="020B0604020202020204"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720"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4773400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f87997393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f87997393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751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f87997393_0_7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f87997393_0_7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1692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f87997393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f87997393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033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1f87997393_0_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1f87997393_0_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7377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f87997393_0_8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f87997393_0_8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4671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1f87997393_0_8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f87997393_0_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1539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2053bda79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2053bda79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7040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2053bda797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2053bda79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055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2053bda79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2053bda79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6825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2053bda797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2053bda797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8775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2053bda79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2053bda79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4205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2053bda797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2053bda79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3528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2053bda797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2053bda797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0596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2053bda797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2053bda797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4365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2053bda797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2053bda797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4200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2053bda797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2053bda797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13934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2" descr="offset_comp_406605.jpg"/>
          <p:cNvPicPr preferRelativeResize="0"/>
          <p:nvPr/>
        </p:nvPicPr>
        <p:blipFill rotWithShape="1">
          <a:blip r:embed="rId2">
            <a:alphaModFix amt="66000"/>
          </a:blip>
          <a:srcRect l="20991" t="2690" r="40112" b="39565"/>
          <a:stretch/>
        </p:blipFill>
        <p:spPr>
          <a:xfrm>
            <a:off x="0" y="0"/>
            <a:ext cx="5157900" cy="5143500"/>
          </a:xfrm>
          <a:prstGeom prst="rtTriangle">
            <a:avLst/>
          </a:prstGeom>
          <a:noFill/>
          <a:ln>
            <a:noFill/>
          </a:ln>
        </p:spPr>
      </p:pic>
      <p:pic>
        <p:nvPicPr>
          <p:cNvPr id="11" name="Google Shape;11;p2" descr="offset_comp_342327_edtied.jpg"/>
          <p:cNvPicPr preferRelativeResize="0"/>
          <p:nvPr/>
        </p:nvPicPr>
        <p:blipFill rotWithShape="1">
          <a:blip r:embed="rId3">
            <a:alphaModFix amt="31000"/>
          </a:blip>
          <a:srcRect l="14009" t="35833" r="43289" b="11297"/>
          <a:stretch/>
        </p:blipFill>
        <p:spPr>
          <a:xfrm rot="10800000">
            <a:off x="6976800" y="-25"/>
            <a:ext cx="2167200" cy="2012700"/>
          </a:xfrm>
          <a:prstGeom prst="rtTriangle">
            <a:avLst/>
          </a:prstGeom>
          <a:noFill/>
          <a:ln>
            <a:noFill/>
          </a:ln>
        </p:spPr>
      </p:pic>
      <p:sp>
        <p:nvSpPr>
          <p:cNvPr id="12" name="Google Shape;12;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3" name="Google Shape;13;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15" name="Google Shape;15;p2"/>
          <p:cNvSpPr/>
          <p:nvPr/>
        </p:nvSpPr>
        <p:spPr>
          <a:xfrm rot="-5400000">
            <a:off x="5846" y="-4836"/>
            <a:ext cx="22914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flipH="1">
            <a:off x="652821" y="576768"/>
            <a:ext cx="2300100" cy="22914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8" name="Google Shape;3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39" name="Google Shape;39;p3">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C">
  <p:cSld name="SECTION_HEADER_1">
    <p:spTree>
      <p:nvGrpSpPr>
        <p:cNvPr id="1"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
        <p:nvSpPr>
          <p:cNvPr id="64" name="Google Shape;64;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5"/>
        <p:cNvGrpSpPr/>
        <p:nvPr/>
      </p:nvGrpSpPr>
      <p:grpSpPr>
        <a:xfrm>
          <a:off x="0" y="0"/>
          <a:ext cx="0" cy="0"/>
          <a:chOff x="0" y="0"/>
          <a:chExt cx="0" cy="0"/>
        </a:xfrm>
      </p:grpSpPr>
      <p:sp>
        <p:nvSpPr>
          <p:cNvPr id="66" name="Google Shape;66;p5">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4" name="Google Shape;74;p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75" name="Google Shape;7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_alt1">
  <p:cSld name="TITLE_AND_BODY_2">
    <p:spTree>
      <p:nvGrpSpPr>
        <p:cNvPr id="1" name="Shape 76"/>
        <p:cNvGrpSpPr/>
        <p:nvPr/>
      </p:nvGrpSpPr>
      <p:grpSpPr>
        <a:xfrm>
          <a:off x="0" y="0"/>
          <a:ext cx="0" cy="0"/>
          <a:chOff x="0" y="0"/>
          <a:chExt cx="0" cy="0"/>
        </a:xfrm>
      </p:grpSpPr>
      <p:sp>
        <p:nvSpPr>
          <p:cNvPr id="77" name="Google Shape;77;p6"/>
          <p:cNvSpPr txBox="1">
            <a:spLocks noGrp="1"/>
          </p:cNvSpPr>
          <p:nvPr>
            <p:ph type="title"/>
          </p:nvPr>
        </p:nvSpPr>
        <p:spPr>
          <a:xfrm>
            <a:off x="361071" y="1924852"/>
            <a:ext cx="2304900" cy="17973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78" name="Google Shape;78;p6"/>
          <p:cNvSpPr/>
          <p:nvPr/>
        </p:nvSpPr>
        <p:spPr>
          <a:xfrm>
            <a:off x="4564200" y="0"/>
            <a:ext cx="45798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txBox="1">
            <a:spLocks noGrp="1"/>
          </p:cNvSpPr>
          <p:nvPr>
            <p:ph type="body" idx="1"/>
          </p:nvPr>
        </p:nvSpPr>
        <p:spPr>
          <a:xfrm>
            <a:off x="6451271" y="1924850"/>
            <a:ext cx="2304900" cy="17973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Clr>
                <a:schemeClr val="dk1"/>
              </a:buClr>
              <a:buSzPts val="1100"/>
              <a:buChar char="●"/>
              <a:defRPr sz="1100">
                <a:solidFill>
                  <a:schemeClr val="dk1"/>
                </a:solidFill>
              </a:defRPr>
            </a:lvl1pPr>
            <a:lvl2pPr marL="914400" lvl="1" indent="-298450" rtl="0">
              <a:spcBef>
                <a:spcPts val="1600"/>
              </a:spcBef>
              <a:spcAft>
                <a:spcPts val="0"/>
              </a:spcAft>
              <a:buClr>
                <a:schemeClr val="dk1"/>
              </a:buClr>
              <a:buSzPts val="1100"/>
              <a:buChar char="○"/>
              <a:defRPr>
                <a:solidFill>
                  <a:schemeClr val="dk1"/>
                </a:solidFill>
              </a:defRPr>
            </a:lvl2pPr>
            <a:lvl3pPr marL="1371600" lvl="2" indent="-298450" rtl="0">
              <a:spcBef>
                <a:spcPts val="1600"/>
              </a:spcBef>
              <a:spcAft>
                <a:spcPts val="0"/>
              </a:spcAft>
              <a:buClr>
                <a:schemeClr val="dk1"/>
              </a:buClr>
              <a:buSzPts val="1100"/>
              <a:buChar char="■"/>
              <a:defRPr>
                <a:solidFill>
                  <a:schemeClr val="dk1"/>
                </a:solidFill>
              </a:defRPr>
            </a:lvl3pPr>
            <a:lvl4pPr marL="1828800" lvl="3" indent="-298450" rtl="0">
              <a:spcBef>
                <a:spcPts val="1600"/>
              </a:spcBef>
              <a:spcAft>
                <a:spcPts val="0"/>
              </a:spcAft>
              <a:buClr>
                <a:schemeClr val="dk1"/>
              </a:buClr>
              <a:buSzPts val="1100"/>
              <a:buChar char="●"/>
              <a:defRPr>
                <a:solidFill>
                  <a:schemeClr val="dk1"/>
                </a:solidFill>
              </a:defRPr>
            </a:lvl4pPr>
            <a:lvl5pPr marL="2286000" lvl="4" indent="-298450" rtl="0">
              <a:spcBef>
                <a:spcPts val="1600"/>
              </a:spcBef>
              <a:spcAft>
                <a:spcPts val="0"/>
              </a:spcAft>
              <a:buClr>
                <a:schemeClr val="dk1"/>
              </a:buClr>
              <a:buSzPts val="1100"/>
              <a:buChar char="○"/>
              <a:defRPr>
                <a:solidFill>
                  <a:schemeClr val="dk1"/>
                </a:solidFill>
              </a:defRPr>
            </a:lvl5pPr>
            <a:lvl6pPr marL="2743200" lvl="5" indent="-298450" rtl="0">
              <a:spcBef>
                <a:spcPts val="1600"/>
              </a:spcBef>
              <a:spcAft>
                <a:spcPts val="0"/>
              </a:spcAft>
              <a:buClr>
                <a:schemeClr val="dk1"/>
              </a:buClr>
              <a:buSzPts val="1100"/>
              <a:buChar char="■"/>
              <a:defRPr>
                <a:solidFill>
                  <a:schemeClr val="dk1"/>
                </a:solidFill>
              </a:defRPr>
            </a:lvl6pPr>
            <a:lvl7pPr marL="3200400" lvl="6" indent="-298450" rtl="0">
              <a:spcBef>
                <a:spcPts val="1600"/>
              </a:spcBef>
              <a:spcAft>
                <a:spcPts val="0"/>
              </a:spcAft>
              <a:buClr>
                <a:schemeClr val="dk1"/>
              </a:buClr>
              <a:buSzPts val="1100"/>
              <a:buChar char="●"/>
              <a:defRPr>
                <a:solidFill>
                  <a:schemeClr val="dk1"/>
                </a:solidFill>
              </a:defRPr>
            </a:lvl7pPr>
            <a:lvl8pPr marL="3657600" lvl="7" indent="-298450" rtl="0">
              <a:spcBef>
                <a:spcPts val="1600"/>
              </a:spcBef>
              <a:spcAft>
                <a:spcPts val="0"/>
              </a:spcAft>
              <a:buClr>
                <a:schemeClr val="dk1"/>
              </a:buClr>
              <a:buSzPts val="1100"/>
              <a:buChar char="○"/>
              <a:defRPr>
                <a:solidFill>
                  <a:schemeClr val="dk1"/>
                </a:solidFill>
              </a:defRPr>
            </a:lvl8pPr>
            <a:lvl9pPr marL="4114800" lvl="8" indent="-298450" rtl="0">
              <a:spcBef>
                <a:spcPts val="1600"/>
              </a:spcBef>
              <a:spcAft>
                <a:spcPts val="1600"/>
              </a:spcAft>
              <a:buClr>
                <a:schemeClr val="dk1"/>
              </a:buClr>
              <a:buSzPts val="1100"/>
              <a:buChar char="■"/>
              <a:defRPr>
                <a:solidFill>
                  <a:schemeClr val="dk1"/>
                </a:solidFill>
              </a:defRPr>
            </a:lvl9pPr>
          </a:lstStyle>
          <a:p>
            <a:endParaRPr/>
          </a:p>
        </p:txBody>
      </p:sp>
      <p:sp>
        <p:nvSpPr>
          <p:cNvPr id="80" name="Google Shape;80;p6">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6"/>
          <p:cNvSpPr txBox="1">
            <a:spLocks noGrp="1"/>
          </p:cNvSpPr>
          <p:nvPr>
            <p:ph type="title" idx="2"/>
          </p:nvPr>
        </p:nvSpPr>
        <p:spPr>
          <a:xfrm>
            <a:off x="1297500" y="459490"/>
            <a:ext cx="3005700" cy="5109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88" name="Google Shape;8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_alt2">
  <p:cSld name="TITLE_AND_BODY_2_1">
    <p:spTree>
      <p:nvGrpSpPr>
        <p:cNvPr id="1" name="Shape 89"/>
        <p:cNvGrpSpPr/>
        <p:nvPr/>
      </p:nvGrpSpPr>
      <p:grpSpPr>
        <a:xfrm>
          <a:off x="0" y="0"/>
          <a:ext cx="0" cy="0"/>
          <a:chOff x="0" y="0"/>
          <a:chExt cx="0" cy="0"/>
        </a:xfrm>
      </p:grpSpPr>
      <p:sp>
        <p:nvSpPr>
          <p:cNvPr id="90" name="Google Shape;90;p7"/>
          <p:cNvSpPr txBox="1">
            <a:spLocks noGrp="1"/>
          </p:cNvSpPr>
          <p:nvPr>
            <p:ph type="title"/>
          </p:nvPr>
        </p:nvSpPr>
        <p:spPr>
          <a:xfrm>
            <a:off x="702850" y="1708619"/>
            <a:ext cx="3333300" cy="14709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91" name="Google Shape;91;p7"/>
          <p:cNvSpPr/>
          <p:nvPr/>
        </p:nvSpPr>
        <p:spPr>
          <a:xfrm>
            <a:off x="0" y="3486600"/>
            <a:ext cx="9144000" cy="1656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7"/>
          <p:cNvSpPr txBox="1">
            <a:spLocks noGrp="1"/>
          </p:cNvSpPr>
          <p:nvPr>
            <p:ph type="title" idx="2"/>
          </p:nvPr>
        </p:nvSpPr>
        <p:spPr>
          <a:xfrm>
            <a:off x="1297500" y="459490"/>
            <a:ext cx="3005700" cy="5109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100" name="Google Shape;10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
        <p:nvSpPr>
          <p:cNvPr id="101" name="Google Shape;101;p7"/>
          <p:cNvSpPr txBox="1">
            <a:spLocks noGrp="1"/>
          </p:cNvSpPr>
          <p:nvPr>
            <p:ph type="body" idx="1"/>
          </p:nvPr>
        </p:nvSpPr>
        <p:spPr>
          <a:xfrm>
            <a:off x="702850" y="3625275"/>
            <a:ext cx="3333300" cy="7653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Clr>
                <a:schemeClr val="dk1"/>
              </a:buClr>
              <a:buSzPts val="1100"/>
              <a:buChar char="●"/>
              <a:defRPr sz="1100">
                <a:solidFill>
                  <a:schemeClr val="dk1"/>
                </a:solidFill>
              </a:defRPr>
            </a:lvl1pPr>
            <a:lvl2pPr marL="914400" lvl="1" indent="-298450" rtl="0">
              <a:spcBef>
                <a:spcPts val="1600"/>
              </a:spcBef>
              <a:spcAft>
                <a:spcPts val="0"/>
              </a:spcAft>
              <a:buClr>
                <a:schemeClr val="dk1"/>
              </a:buClr>
              <a:buSzPts val="1100"/>
              <a:buChar char="○"/>
              <a:defRPr>
                <a:solidFill>
                  <a:schemeClr val="dk1"/>
                </a:solidFill>
              </a:defRPr>
            </a:lvl2pPr>
            <a:lvl3pPr marL="1371600" lvl="2" indent="-298450" rtl="0">
              <a:spcBef>
                <a:spcPts val="1600"/>
              </a:spcBef>
              <a:spcAft>
                <a:spcPts val="0"/>
              </a:spcAft>
              <a:buClr>
                <a:schemeClr val="dk1"/>
              </a:buClr>
              <a:buSzPts val="1100"/>
              <a:buChar char="■"/>
              <a:defRPr>
                <a:solidFill>
                  <a:schemeClr val="dk1"/>
                </a:solidFill>
              </a:defRPr>
            </a:lvl3pPr>
            <a:lvl4pPr marL="1828800" lvl="3" indent="-298450" rtl="0">
              <a:spcBef>
                <a:spcPts val="1600"/>
              </a:spcBef>
              <a:spcAft>
                <a:spcPts val="0"/>
              </a:spcAft>
              <a:buClr>
                <a:schemeClr val="dk1"/>
              </a:buClr>
              <a:buSzPts val="1100"/>
              <a:buChar char="●"/>
              <a:defRPr>
                <a:solidFill>
                  <a:schemeClr val="dk1"/>
                </a:solidFill>
              </a:defRPr>
            </a:lvl4pPr>
            <a:lvl5pPr marL="2286000" lvl="4" indent="-298450" rtl="0">
              <a:spcBef>
                <a:spcPts val="1600"/>
              </a:spcBef>
              <a:spcAft>
                <a:spcPts val="0"/>
              </a:spcAft>
              <a:buClr>
                <a:schemeClr val="dk1"/>
              </a:buClr>
              <a:buSzPts val="1100"/>
              <a:buChar char="○"/>
              <a:defRPr>
                <a:solidFill>
                  <a:schemeClr val="dk1"/>
                </a:solidFill>
              </a:defRPr>
            </a:lvl5pPr>
            <a:lvl6pPr marL="2743200" lvl="5" indent="-298450" rtl="0">
              <a:spcBef>
                <a:spcPts val="1600"/>
              </a:spcBef>
              <a:spcAft>
                <a:spcPts val="0"/>
              </a:spcAft>
              <a:buClr>
                <a:schemeClr val="dk1"/>
              </a:buClr>
              <a:buSzPts val="1100"/>
              <a:buChar char="■"/>
              <a:defRPr>
                <a:solidFill>
                  <a:schemeClr val="dk1"/>
                </a:solidFill>
              </a:defRPr>
            </a:lvl6pPr>
            <a:lvl7pPr marL="3200400" lvl="6" indent="-298450" rtl="0">
              <a:spcBef>
                <a:spcPts val="1600"/>
              </a:spcBef>
              <a:spcAft>
                <a:spcPts val="0"/>
              </a:spcAft>
              <a:buClr>
                <a:schemeClr val="dk1"/>
              </a:buClr>
              <a:buSzPts val="1100"/>
              <a:buChar char="●"/>
              <a:defRPr>
                <a:solidFill>
                  <a:schemeClr val="dk1"/>
                </a:solidFill>
              </a:defRPr>
            </a:lvl7pPr>
            <a:lvl8pPr marL="3657600" lvl="7" indent="-298450" rtl="0">
              <a:spcBef>
                <a:spcPts val="1600"/>
              </a:spcBef>
              <a:spcAft>
                <a:spcPts val="0"/>
              </a:spcAft>
              <a:buClr>
                <a:schemeClr val="dk1"/>
              </a:buClr>
              <a:buSzPts val="1100"/>
              <a:buChar char="○"/>
              <a:defRPr>
                <a:solidFill>
                  <a:schemeClr val="dk1"/>
                </a:solidFill>
              </a:defRPr>
            </a:lvl8pPr>
            <a:lvl9pPr marL="4114800" lvl="8" indent="-298450" rtl="0">
              <a:spcBef>
                <a:spcPts val="1600"/>
              </a:spcBef>
              <a:spcAft>
                <a:spcPts val="1600"/>
              </a:spcAft>
              <a:buClr>
                <a:schemeClr val="dk1"/>
              </a:buClr>
              <a:buSzPts val="1100"/>
              <a:buChar char="■"/>
              <a:defRPr>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2"/>
        <p:cNvGrpSpPr/>
        <p:nvPr/>
      </p:nvGrpSpPr>
      <p:grpSpPr>
        <a:xfrm>
          <a:off x="0" y="0"/>
          <a:ext cx="0" cy="0"/>
          <a:chOff x="0" y="0"/>
          <a:chExt cx="0" cy="0"/>
        </a:xfrm>
      </p:grpSpPr>
      <p:sp>
        <p:nvSpPr>
          <p:cNvPr id="103" name="Google Shape;103;p8">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8">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8">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 name="Google Shape;110;p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11" name="Google Shape;111;p8"/>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2" name="Google Shape;112;p8"/>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3" name="Google Shape;11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9">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23" name="Google Shape;12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4"/>
        <p:cNvGrpSpPr/>
        <p:nvPr/>
      </p:nvGrpSpPr>
      <p:grpSpPr>
        <a:xfrm>
          <a:off x="0" y="0"/>
          <a:ext cx="0" cy="0"/>
          <a:chOff x="0" y="0"/>
          <a:chExt cx="0" cy="0"/>
        </a:xfrm>
      </p:grpSpPr>
      <p:sp>
        <p:nvSpPr>
          <p:cNvPr id="125" name="Google Shape;125;p10">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0">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0">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0">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0"/>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 name="Google Shape;132;p10"/>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33" name="Google Shape;133;p10"/>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11">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1">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1">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1">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1"/>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1"/>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 name="Google Shape;159;p11"/>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0" name="Google Shape;16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1"/>
        <p:cNvGrpSpPr/>
        <p:nvPr/>
      </p:nvGrpSpPr>
      <p:grpSpPr>
        <a:xfrm>
          <a:off x="0" y="0"/>
          <a:ext cx="0" cy="0"/>
          <a:chOff x="0" y="0"/>
          <a:chExt cx="0" cy="0"/>
        </a:xfrm>
      </p:grpSpPr>
      <p:sp>
        <p:nvSpPr>
          <p:cNvPr id="162" name="Google Shape;162;p12">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2">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2">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2">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2"/>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12"/>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70" name="Google Shape;170;p12"/>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71" name="Google Shape;171;p12"/>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72" name="Google Shape;172;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3"/>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13"/>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78" name="Google Shape;17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179" name="Google Shape;179;p13">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3">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3">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4"/>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4"/>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4"/>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4"/>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4"/>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4"/>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4"/>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4"/>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4"/>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4"/>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4"/>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4"/>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4"/>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4"/>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4"/>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4"/>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4"/>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 name="Google Shape;203;p14"/>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5" name="Google Shape;20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206" name="Google Shape;206;p14">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4">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4">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4">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0"/>
        <p:cNvGrpSpPr/>
        <p:nvPr/>
      </p:nvGrpSpPr>
      <p:grpSpPr>
        <a:xfrm>
          <a:off x="0" y="0"/>
          <a:ext cx="0" cy="0"/>
          <a:chOff x="0" y="0"/>
          <a:chExt cx="0" cy="0"/>
        </a:xfrm>
      </p:grpSpPr>
      <p:sp>
        <p:nvSpPr>
          <p:cNvPr id="211" name="Google Shape;21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_alt3">
  <p:cSld name="TITLE_AND_BODY_1">
    <p:spTree>
      <p:nvGrpSpPr>
        <p:cNvPr id="1" name="Shape 212"/>
        <p:cNvGrpSpPr/>
        <p:nvPr/>
      </p:nvGrpSpPr>
      <p:grpSpPr>
        <a:xfrm>
          <a:off x="0" y="0"/>
          <a:ext cx="0" cy="0"/>
          <a:chOff x="0" y="0"/>
          <a:chExt cx="0" cy="0"/>
        </a:xfrm>
      </p:grpSpPr>
      <p:pic>
        <p:nvPicPr>
          <p:cNvPr id="213" name="Google Shape;213;p16" descr="offset_comp_343059.jpg"/>
          <p:cNvPicPr preferRelativeResize="0"/>
          <p:nvPr/>
        </p:nvPicPr>
        <p:blipFill rotWithShape="1">
          <a:blip r:embed="rId2">
            <a:alphaModFix amt="80000"/>
          </a:blip>
          <a:srcRect l="30474" t="11955" r="30474" b="25870"/>
          <a:stretch/>
        </p:blipFill>
        <p:spPr>
          <a:xfrm rot="-5400000">
            <a:off x="113630" y="-105700"/>
            <a:ext cx="5142300" cy="5364300"/>
          </a:xfrm>
          <a:prstGeom prst="diagStripe">
            <a:avLst>
              <a:gd name="adj" fmla="val 50343"/>
            </a:avLst>
          </a:prstGeom>
          <a:noFill/>
          <a:ln>
            <a:noFill/>
          </a:ln>
        </p:spPr>
      </p:pic>
      <p:sp>
        <p:nvSpPr>
          <p:cNvPr id="214" name="Google Shape;214;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5" name="Google Shape;215;p16"/>
          <p:cNvSpPr txBox="1">
            <a:spLocks noGrp="1"/>
          </p:cNvSpPr>
          <p:nvPr>
            <p:ph type="body" idx="1"/>
          </p:nvPr>
        </p:nvSpPr>
        <p:spPr>
          <a:xfrm>
            <a:off x="4018025" y="1567550"/>
            <a:ext cx="4318500" cy="17667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dk2"/>
              </a:buClr>
              <a:buSzPts val="1300"/>
              <a:buChar char="●"/>
              <a:defRPr>
                <a:solidFill>
                  <a:schemeClr val="dk2"/>
                </a:solidFill>
              </a:defRPr>
            </a:lvl1pPr>
            <a:lvl2pPr marL="914400" lvl="1" indent="-298450" rtl="0">
              <a:spcBef>
                <a:spcPts val="1600"/>
              </a:spcBef>
              <a:spcAft>
                <a:spcPts val="0"/>
              </a:spcAft>
              <a:buClr>
                <a:schemeClr val="dk2"/>
              </a:buClr>
              <a:buSzPts val="1100"/>
              <a:buChar char="○"/>
              <a:defRPr>
                <a:solidFill>
                  <a:schemeClr val="dk2"/>
                </a:solidFill>
              </a:defRPr>
            </a:lvl2pPr>
            <a:lvl3pPr marL="1371600" lvl="2" indent="-298450" rtl="0">
              <a:spcBef>
                <a:spcPts val="1600"/>
              </a:spcBef>
              <a:spcAft>
                <a:spcPts val="0"/>
              </a:spcAft>
              <a:buClr>
                <a:schemeClr val="dk2"/>
              </a:buClr>
              <a:buSzPts val="1100"/>
              <a:buChar char="■"/>
              <a:defRPr>
                <a:solidFill>
                  <a:schemeClr val="dk2"/>
                </a:solidFill>
              </a:defRPr>
            </a:lvl3pPr>
            <a:lvl4pPr marL="1828800" lvl="3" indent="-298450" rtl="0">
              <a:spcBef>
                <a:spcPts val="1600"/>
              </a:spcBef>
              <a:spcAft>
                <a:spcPts val="0"/>
              </a:spcAft>
              <a:buClr>
                <a:schemeClr val="dk2"/>
              </a:buClr>
              <a:buSzPts val="1100"/>
              <a:buChar char="●"/>
              <a:defRPr>
                <a:solidFill>
                  <a:schemeClr val="dk2"/>
                </a:solidFill>
              </a:defRPr>
            </a:lvl4pPr>
            <a:lvl5pPr marL="2286000" lvl="4" indent="-298450" rtl="0">
              <a:spcBef>
                <a:spcPts val="1600"/>
              </a:spcBef>
              <a:spcAft>
                <a:spcPts val="0"/>
              </a:spcAft>
              <a:buClr>
                <a:schemeClr val="dk2"/>
              </a:buClr>
              <a:buSzPts val="1100"/>
              <a:buChar char="○"/>
              <a:defRPr>
                <a:solidFill>
                  <a:schemeClr val="dk2"/>
                </a:solidFill>
              </a:defRPr>
            </a:lvl5pPr>
            <a:lvl6pPr marL="2743200" lvl="5" indent="-298450" rtl="0">
              <a:spcBef>
                <a:spcPts val="1600"/>
              </a:spcBef>
              <a:spcAft>
                <a:spcPts val="0"/>
              </a:spcAft>
              <a:buClr>
                <a:schemeClr val="dk2"/>
              </a:buClr>
              <a:buSzPts val="1100"/>
              <a:buChar char="■"/>
              <a:defRPr>
                <a:solidFill>
                  <a:schemeClr val="dk2"/>
                </a:solidFill>
              </a:defRPr>
            </a:lvl6pPr>
            <a:lvl7pPr marL="3200400" lvl="6" indent="-298450" rtl="0">
              <a:spcBef>
                <a:spcPts val="1600"/>
              </a:spcBef>
              <a:spcAft>
                <a:spcPts val="0"/>
              </a:spcAft>
              <a:buClr>
                <a:schemeClr val="dk2"/>
              </a:buClr>
              <a:buSzPts val="1100"/>
              <a:buChar char="●"/>
              <a:defRPr>
                <a:solidFill>
                  <a:schemeClr val="dk2"/>
                </a:solidFill>
              </a:defRPr>
            </a:lvl7pPr>
            <a:lvl8pPr marL="3657600" lvl="7" indent="-298450" rtl="0">
              <a:spcBef>
                <a:spcPts val="1600"/>
              </a:spcBef>
              <a:spcAft>
                <a:spcPts val="0"/>
              </a:spcAft>
              <a:buClr>
                <a:schemeClr val="dk2"/>
              </a:buClr>
              <a:buSzPts val="1100"/>
              <a:buChar char="○"/>
              <a:defRPr>
                <a:solidFill>
                  <a:schemeClr val="dk2"/>
                </a:solidFill>
              </a:defRPr>
            </a:lvl8pPr>
            <a:lvl9pPr marL="4114800" lvl="8" indent="-298450" rtl="0">
              <a:spcBef>
                <a:spcPts val="1600"/>
              </a:spcBef>
              <a:spcAft>
                <a:spcPts val="1600"/>
              </a:spcAft>
              <a:buClr>
                <a:schemeClr val="dk2"/>
              </a:buClr>
              <a:buSzPts val="1100"/>
              <a:buChar char="■"/>
              <a:defRPr>
                <a:solidFill>
                  <a:schemeClr val="dk2"/>
                </a:solidFill>
              </a:defRPr>
            </a:lvl9pPr>
          </a:lstStyle>
          <a:p>
            <a:endParaRPr/>
          </a:p>
        </p:txBody>
      </p:sp>
      <p:sp>
        <p:nvSpPr>
          <p:cNvPr id="216" name="Google Shape;21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
        <p:nvSpPr>
          <p:cNvPr id="217" name="Google Shape;217;p16">
            <a:hlinkClick r:id="rId3"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a:hlinkClick r:id="rId3"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a:hlinkClick r:id="rId3"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6">
            <a:hlinkClick r:id="rId3"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es.wikipedia.org/wiki/Ronald_Rivest" TargetMode="External"/><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hyperlink" Target="https://es.wikipedia.org/wiki/Leonard_Adleman" TargetMode="External"/><Relationship Id="rId4" Type="http://schemas.openxmlformats.org/officeDocument/2006/relationships/hyperlink" Target="https://es.wikipedia.org/wiki/Adi_Shamir"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hyperlink" Target="https://www.google.com/search?sca_esv=3d1e29cf7e253e0e&amp;rlz=1C1GCEA_esAR1163AR1163&amp;cs=0&amp;sxsrf=AE3TifObne9JYRNZMdprn822d7DcmugJzw%3A1754068575103&amp;q=Certificados+de+Firma+de+C%C3%B3digo&amp;sa=X&amp;ved=2ahUKEwig5ZfSjuqOAxVXppUCHYM5IHcQxccNegQIRBAB&amp;mstk=AUtExfAF9Qjo-6QYSNj58HcvGeYdzP4xEKtbT-kYawsWIb8o7iDUipVTYOsFlSEJEhmm5_Ym6OLKTpRDTfANcyetooU_NRUQo6_iqZJcm6MoA-dMsNJnxOdlapv2lT_-OZ-CfpyjmSkTQPFj6nwrRL-Hzv0BCulV9u2pzYXddCR1TuKcA6wIdN93K3kDvL2364bE2Vw3sgdKTDjoTx9tck1OkIMH0-oLlXGais9e7zHTGREInDFi2k-Vh9c4nJGZfl6dZ05mnEn49zXkrRLng6fOpkmD&amp;csui=3" TargetMode="External"/><Relationship Id="rId2" Type="http://schemas.openxmlformats.org/officeDocument/2006/relationships/hyperlink" Target="https://www.google.com/search?sca_esv=3d1e29cf7e253e0e&amp;rlz=1C1GCEA_esAR1163AR1163&amp;cs=0&amp;sxsrf=AE3TifObne9JYRNZMdprn822d7DcmugJzw%3A1754068575103&amp;q=Certificados+de+Validaci%C3%B3n+de+Dominio+%28DV%29&amp;sa=X&amp;ved=2ahUKEwig5ZfSjuqOAxVXppUCHYM5IHcQxccNegQIQxAB&amp;mstk=AUtExfAF9Qjo-6QYSNj58HcvGeYdzP4xEKtbT-kYawsWIb8o7iDUipVTYOsFlSEJEhmm5_Ym6OLKTpRDTfANcyetooU_NRUQo6_iqZJcm6MoA-dMsNJnxOdlapv2lT_-OZ-CfpyjmSkTQPFj6nwrRL-Hzv0BCulV9u2pzYXddCR1TuKcA6wIdN93K3kDvL2364bE2Vw3sgdKTDjoTx9tck1OkIMH0-oLlXGais9e7zHTGREInDFi2k-Vh9c4nJGZfl6dZ05mnEn49zXkrRLng6fOpkmD&amp;csui=3" TargetMode="External"/><Relationship Id="rId1" Type="http://schemas.openxmlformats.org/officeDocument/2006/relationships/slideLayout" Target="../slideLayouts/slideLayout9.xml"/><Relationship Id="rId4" Type="http://schemas.openxmlformats.org/officeDocument/2006/relationships/hyperlink" Target="https://www.google.com/search?sca_esv=3d1e29cf7e253e0e&amp;rlz=1C1GCEA_esAR1163AR1163&amp;cs=0&amp;sxsrf=AE3TifObne9JYRNZMdprn822d7DcmugJzw%3A1754068575103&amp;q=Certificados+de+Cliente&amp;sa=X&amp;ved=2ahUKEwig5ZfSjuqOAxVXppUCHYM5IHcQxccNegQIRhAB&amp;mstk=AUtExfAF9Qjo-6QYSNj58HcvGeYdzP4xEKtbT-kYawsWIb8o7iDUipVTYOsFlSEJEhmm5_Ym6OLKTpRDTfANcyetooU_NRUQo6_iqZJcm6MoA-dMsNJnxOdlapv2lT_-OZ-CfpyjmSkTQPFj6nwrRL-Hzv0BCulV9u2pzYXddCR1TuKcA6wIdN93K3kDvL2364bE2Vw3sgdKTDjoTx9tck1OkIMH0-oLlXGais9e7zHTGREInDFi2k-Vh9c4nJGZfl6dZ05mnEn49zXkrRLng6fOpkmD&amp;csui=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3500"/>
              <a:t>Criptografía simétrica y asimétrica</a:t>
            </a:r>
            <a:endParaRPr sz="3500"/>
          </a:p>
        </p:txBody>
      </p:sp>
      <p:sp>
        <p:nvSpPr>
          <p:cNvPr id="229" name="Google Shape;229;p17"/>
          <p:cNvSpPr txBox="1">
            <a:spLocks noGrp="1"/>
          </p:cNvSpPr>
          <p:nvPr>
            <p:ph type="subTitle" idx="1"/>
          </p:nvPr>
        </p:nvSpPr>
        <p:spPr>
          <a:xfrm>
            <a:off x="5083950" y="3924925"/>
            <a:ext cx="3989400" cy="506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8"/>
          <p:cNvSpPr txBox="1"/>
          <p:nvPr/>
        </p:nvSpPr>
        <p:spPr>
          <a:xfrm>
            <a:off x="1297500" y="1132625"/>
            <a:ext cx="7038900" cy="48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Criptografía simétrica (concepto)</a:t>
            </a:r>
            <a:endParaRPr sz="2400">
              <a:solidFill>
                <a:srgbClr val="FFFFFF"/>
              </a:solidFill>
              <a:latin typeface="Montserrat"/>
              <a:ea typeface="Montserrat"/>
              <a:cs typeface="Montserrat"/>
              <a:sym typeface="Montserrat"/>
            </a:endParaRPr>
          </a:p>
        </p:txBody>
      </p:sp>
      <p:sp>
        <p:nvSpPr>
          <p:cNvPr id="235" name="Google Shape;235;p18"/>
          <p:cNvSpPr txBox="1"/>
          <p:nvPr/>
        </p:nvSpPr>
        <p:spPr>
          <a:xfrm>
            <a:off x="1294300" y="2064600"/>
            <a:ext cx="3647100" cy="202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900"/>
              </a:spcAft>
              <a:buNone/>
            </a:pPr>
            <a:r>
              <a:rPr lang="es" sz="1950">
                <a:solidFill>
                  <a:schemeClr val="lt1"/>
                </a:solidFill>
                <a:highlight>
                  <a:schemeClr val="dk1"/>
                </a:highlight>
              </a:rPr>
              <a:t>Es un método criptográfico en el cual se usa una única clave compartida para cifrar y descifrar mensajes entre el emisor y el receptor.</a:t>
            </a:r>
            <a:endParaRPr sz="2700">
              <a:solidFill>
                <a:schemeClr val="lt1"/>
              </a:solidFill>
              <a:highlight>
                <a:schemeClr val="dk1"/>
              </a:highlight>
              <a:latin typeface="Average"/>
              <a:ea typeface="Average"/>
              <a:cs typeface="Average"/>
              <a:sym typeface="Average"/>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Procedimiento Criptografía Simétrica</a:t>
            </a:r>
            <a:endParaRPr/>
          </a:p>
        </p:txBody>
      </p:sp>
      <p:pic>
        <p:nvPicPr>
          <p:cNvPr id="241" name="Google Shape;241;p19"/>
          <p:cNvPicPr preferRelativeResize="0"/>
          <p:nvPr/>
        </p:nvPicPr>
        <p:blipFill>
          <a:blip r:embed="rId3">
            <a:alphaModFix/>
          </a:blip>
          <a:stretch>
            <a:fillRect/>
          </a:stretch>
        </p:blipFill>
        <p:spPr>
          <a:xfrm>
            <a:off x="1643075" y="1307850"/>
            <a:ext cx="6041100" cy="2926600"/>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Procedimiento Criptografía Simétrica</a:t>
            </a:r>
            <a:endParaRPr/>
          </a:p>
          <a:p>
            <a:pPr marL="0" lvl="0" indent="0" algn="l" rtl="0">
              <a:spcBef>
                <a:spcPts val="0"/>
              </a:spcBef>
              <a:spcAft>
                <a:spcPts val="0"/>
              </a:spcAft>
              <a:buNone/>
            </a:pPr>
            <a:endParaRPr/>
          </a:p>
        </p:txBody>
      </p:sp>
      <p:sp>
        <p:nvSpPr>
          <p:cNvPr id="247" name="Google Shape;247;p20"/>
          <p:cNvSpPr txBox="1"/>
          <p:nvPr/>
        </p:nvSpPr>
        <p:spPr>
          <a:xfrm>
            <a:off x="1297500" y="1386250"/>
            <a:ext cx="580800" cy="4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1</a:t>
            </a:r>
            <a:endParaRPr>
              <a:solidFill>
                <a:srgbClr val="FFFFFF"/>
              </a:solidFill>
            </a:endParaRPr>
          </a:p>
          <a:p>
            <a:pPr marL="0" lvl="0" indent="0" algn="l" rtl="0">
              <a:spcBef>
                <a:spcPts val="0"/>
              </a:spcBef>
              <a:spcAft>
                <a:spcPts val="0"/>
              </a:spcAft>
              <a:buNone/>
            </a:pPr>
            <a:endParaRPr sz="1300">
              <a:solidFill>
                <a:srgbClr val="FFFFFF"/>
              </a:solidFill>
            </a:endParaRPr>
          </a:p>
        </p:txBody>
      </p:sp>
      <p:sp>
        <p:nvSpPr>
          <p:cNvPr id="248" name="Google Shape;248;p20"/>
          <p:cNvSpPr txBox="1">
            <a:spLocks noGrp="1"/>
          </p:cNvSpPr>
          <p:nvPr>
            <p:ph type="body" idx="1"/>
          </p:nvPr>
        </p:nvSpPr>
        <p:spPr>
          <a:xfrm>
            <a:off x="1944925" y="1344250"/>
            <a:ext cx="5877300" cy="582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solidFill>
                  <a:srgbClr val="FFFFFF"/>
                </a:solidFill>
              </a:rPr>
              <a:t>Un generador determina la clave 𝐾, que es distribuida a las entidades que participarán.</a:t>
            </a:r>
            <a:endParaRPr>
              <a:solidFill>
                <a:srgbClr val="FFFFFF"/>
              </a:solidFill>
            </a:endParaRPr>
          </a:p>
        </p:txBody>
      </p:sp>
      <p:sp>
        <p:nvSpPr>
          <p:cNvPr id="249" name="Google Shape;249;p20"/>
          <p:cNvSpPr txBox="1"/>
          <p:nvPr/>
        </p:nvSpPr>
        <p:spPr>
          <a:xfrm>
            <a:off x="1297500" y="2032181"/>
            <a:ext cx="732900" cy="8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2</a:t>
            </a:r>
            <a:endParaRPr>
              <a:solidFill>
                <a:srgbClr val="FFFFFF"/>
              </a:solidFill>
            </a:endParaRPr>
          </a:p>
          <a:p>
            <a:pPr marL="0" lvl="0" indent="0" algn="l" rtl="0">
              <a:spcBef>
                <a:spcPts val="0"/>
              </a:spcBef>
              <a:spcAft>
                <a:spcPts val="0"/>
              </a:spcAft>
              <a:buNone/>
            </a:pPr>
            <a:endParaRPr sz="1300">
              <a:solidFill>
                <a:srgbClr val="FFFFFF"/>
              </a:solidFill>
            </a:endParaRPr>
          </a:p>
        </p:txBody>
      </p:sp>
      <p:sp>
        <p:nvSpPr>
          <p:cNvPr id="250" name="Google Shape;250;p20"/>
          <p:cNvSpPr txBox="1">
            <a:spLocks noGrp="1"/>
          </p:cNvSpPr>
          <p:nvPr>
            <p:ph type="body" idx="1"/>
          </p:nvPr>
        </p:nvSpPr>
        <p:spPr>
          <a:xfrm>
            <a:off x="1944925" y="1962938"/>
            <a:ext cx="5877300" cy="8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solidFill>
                  <a:srgbClr val="FFFFFF"/>
                </a:solidFill>
              </a:rPr>
              <a:t>La entidad 𝐴 transforma el mensaje 𝑋 en el mensaje cifrado 𝑌, y lo envía a la entidad 𝐵.</a:t>
            </a:r>
            <a:endParaRPr>
              <a:solidFill>
                <a:srgbClr val="FFFFFF"/>
              </a:solidFill>
            </a:endParaRPr>
          </a:p>
        </p:txBody>
      </p:sp>
      <p:sp>
        <p:nvSpPr>
          <p:cNvPr id="251" name="Google Shape;251;p20"/>
          <p:cNvSpPr txBox="1"/>
          <p:nvPr/>
        </p:nvSpPr>
        <p:spPr>
          <a:xfrm>
            <a:off x="1297500" y="2571744"/>
            <a:ext cx="732900" cy="8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3</a:t>
            </a:r>
            <a:endParaRPr sz="1300">
              <a:solidFill>
                <a:srgbClr val="FFFFFF"/>
              </a:solidFill>
            </a:endParaRPr>
          </a:p>
        </p:txBody>
      </p:sp>
      <p:sp>
        <p:nvSpPr>
          <p:cNvPr id="252" name="Google Shape;252;p20"/>
          <p:cNvSpPr txBox="1">
            <a:spLocks noGrp="1"/>
          </p:cNvSpPr>
          <p:nvPr>
            <p:ph type="body" idx="1"/>
          </p:nvPr>
        </p:nvSpPr>
        <p:spPr>
          <a:xfrm>
            <a:off x="1944925" y="2571738"/>
            <a:ext cx="5877300" cy="8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solidFill>
                  <a:srgbClr val="FFFFFF"/>
                </a:solidFill>
              </a:rPr>
              <a:t>La entidad 𝐵 realiza el proceso inverso por el cual transforma el mensaje cifrado 𝑌 en el mensaje original.</a:t>
            </a:r>
            <a:endParaRPr>
              <a:solidFill>
                <a:srgbClr val="FFFFFF"/>
              </a:solidFill>
            </a:endParaRPr>
          </a:p>
        </p:txBody>
      </p:sp>
      <p:sp>
        <p:nvSpPr>
          <p:cNvPr id="253" name="Google Shape;253;p20"/>
          <p:cNvSpPr txBox="1"/>
          <p:nvPr/>
        </p:nvSpPr>
        <p:spPr>
          <a:xfrm>
            <a:off x="1297500" y="3182544"/>
            <a:ext cx="732900" cy="8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4</a:t>
            </a:r>
            <a:endParaRPr sz="1300">
              <a:solidFill>
                <a:srgbClr val="FFFFFF"/>
              </a:solidFill>
            </a:endParaRPr>
          </a:p>
        </p:txBody>
      </p:sp>
      <p:sp>
        <p:nvSpPr>
          <p:cNvPr id="254" name="Google Shape;254;p20"/>
          <p:cNvSpPr txBox="1">
            <a:spLocks noGrp="1"/>
          </p:cNvSpPr>
          <p:nvPr>
            <p:ph type="body" idx="1"/>
          </p:nvPr>
        </p:nvSpPr>
        <p:spPr>
          <a:xfrm>
            <a:off x="1944925" y="3182538"/>
            <a:ext cx="5877300" cy="8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solidFill>
                  <a:srgbClr val="FFFFFF"/>
                </a:solidFill>
              </a:rPr>
              <a:t>La comunicación podría ser interceptada por un intruso, el cual al no tener la clave 𝐾 no podría conocer el significado del mensaje, preservando la confidencialidad del mismo.</a:t>
            </a:r>
            <a:endParaRPr>
              <a:solidFill>
                <a:srgbClr val="FFFFFF"/>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(DES)</a:t>
            </a:r>
            <a:endParaRPr/>
          </a:p>
        </p:txBody>
      </p:sp>
      <p:sp>
        <p:nvSpPr>
          <p:cNvPr id="260" name="Google Shape;260;p21"/>
          <p:cNvSpPr txBox="1">
            <a:spLocks noGrp="1"/>
          </p:cNvSpPr>
          <p:nvPr>
            <p:ph type="body" idx="1"/>
          </p:nvPr>
        </p:nvSpPr>
        <p:spPr>
          <a:xfrm>
            <a:off x="3776050" y="1549050"/>
            <a:ext cx="4956600" cy="20454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500">
                <a:solidFill>
                  <a:schemeClr val="lt1"/>
                </a:solidFill>
                <a:highlight>
                  <a:schemeClr val="dk1"/>
                </a:highlight>
                <a:latin typeface="Arial"/>
                <a:ea typeface="Arial"/>
                <a:cs typeface="Arial"/>
                <a:sym typeface="Arial"/>
              </a:rPr>
              <a:t>DES (Data Encryption Standard) es un algoritmo de cifrado simétrico desarrollado por el gobierno de los Estados Unidos en los años 70. Este algoritmo fue diseñado para proteger la información confidencial del gobierno y de los militares, y posteriormente fue adoptado por muchos otros sectores.</a:t>
            </a:r>
            <a:endParaRPr>
              <a:solidFill>
                <a:schemeClr val="lt1"/>
              </a:solidFill>
              <a:highlight>
                <a:schemeClr val="dk1"/>
              </a:highlight>
              <a:latin typeface="Arial"/>
              <a:ea typeface="Arial"/>
              <a:cs typeface="Arial"/>
              <a:sym typeface="Arial"/>
            </a:endParaRPr>
          </a:p>
          <a:p>
            <a:pPr marL="0" lvl="0" indent="0" algn="l" rtl="0">
              <a:spcBef>
                <a:spcPts val="1600"/>
              </a:spcBef>
              <a:spcAft>
                <a:spcPts val="1600"/>
              </a:spcAft>
              <a:buNone/>
            </a:pP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2"/>
          <p:cNvSpPr txBox="1">
            <a:spLocks noGrp="1"/>
          </p:cNvSpPr>
          <p:nvPr>
            <p:ph type="title"/>
          </p:nvPr>
        </p:nvSpPr>
        <p:spPr>
          <a:xfrm>
            <a:off x="1297500" y="393750"/>
            <a:ext cx="4685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(DES)</a:t>
            </a:r>
            <a:endParaRPr/>
          </a:p>
        </p:txBody>
      </p:sp>
      <p:sp>
        <p:nvSpPr>
          <p:cNvPr id="266" name="Google Shape;266;p22"/>
          <p:cNvSpPr txBox="1">
            <a:spLocks noGrp="1"/>
          </p:cNvSpPr>
          <p:nvPr>
            <p:ph type="body" idx="1"/>
          </p:nvPr>
        </p:nvSpPr>
        <p:spPr>
          <a:xfrm>
            <a:off x="2595050" y="1622900"/>
            <a:ext cx="3798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rgbClr val="FFFFFF"/>
                </a:solidFill>
              </a:rPr>
              <a:t>¿Cómo funciona?</a:t>
            </a:r>
            <a:endParaRPr sz="1800">
              <a:solidFill>
                <a:srgbClr val="FFFFFF"/>
              </a:solidFill>
            </a:endParaRPr>
          </a:p>
          <a:p>
            <a:pPr marL="457200" lvl="0" indent="-323850" algn="l" rtl="0">
              <a:spcBef>
                <a:spcPts val="1600"/>
              </a:spcBef>
              <a:spcAft>
                <a:spcPts val="0"/>
              </a:spcAft>
              <a:buClr>
                <a:srgbClr val="FFFFFF"/>
              </a:buClr>
              <a:buSzPts val="1500"/>
              <a:buAutoNum type="arabicPeriod"/>
            </a:pPr>
            <a:r>
              <a:rPr lang="es" sz="1500">
                <a:solidFill>
                  <a:srgbClr val="FFFFFF"/>
                </a:solidFill>
              </a:rPr>
              <a:t>División del mensaje</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Clave de cifrado</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Proceso de cifrado</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Resultado</a:t>
            </a:r>
            <a:endParaRPr sz="1500">
              <a:solidFill>
                <a:srgbClr val="FFFFFF"/>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title"/>
          </p:nvPr>
        </p:nvSpPr>
        <p:spPr>
          <a:xfrm>
            <a:off x="1297500" y="393750"/>
            <a:ext cx="4685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(DES)</a:t>
            </a:r>
            <a:endParaRPr/>
          </a:p>
        </p:txBody>
      </p:sp>
      <p:sp>
        <p:nvSpPr>
          <p:cNvPr id="272" name="Google Shape;272;p23"/>
          <p:cNvSpPr txBox="1">
            <a:spLocks noGrp="1"/>
          </p:cNvSpPr>
          <p:nvPr>
            <p:ph type="body" idx="1"/>
          </p:nvPr>
        </p:nvSpPr>
        <p:spPr>
          <a:xfrm>
            <a:off x="1903550" y="1622900"/>
            <a:ext cx="49647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800" b="1" u="sng">
                <a:solidFill>
                  <a:srgbClr val="FFFFFF"/>
                </a:solidFill>
              </a:rPr>
              <a:t>Analogía sencilla:</a:t>
            </a:r>
            <a:r>
              <a:rPr lang="es" sz="1800">
                <a:solidFill>
                  <a:srgbClr val="FFFFFF"/>
                </a:solidFill>
              </a:rPr>
              <a:t> </a:t>
            </a:r>
            <a:endParaRPr sz="1800">
              <a:solidFill>
                <a:srgbClr val="FFFFFF"/>
              </a:solidFill>
            </a:endParaRPr>
          </a:p>
          <a:p>
            <a:pPr marL="0" lvl="0" indent="0" algn="l" rtl="0">
              <a:spcBef>
                <a:spcPts val="1600"/>
              </a:spcBef>
              <a:spcAft>
                <a:spcPts val="1600"/>
              </a:spcAft>
              <a:buNone/>
            </a:pPr>
            <a:r>
              <a:rPr lang="es" sz="1500">
                <a:solidFill>
                  <a:srgbClr val="FFFFFF"/>
                </a:solidFill>
              </a:rPr>
              <a:t>Imagina que tienes una receta secreta que escribes con letras normales (datos originales). DES toma esa receta y la mezcla de tal manera (usando la clave) que parece un montón de letras sin sentido (datos cifrados). Para poder leer la receta original, necesitas usar la misma clave y el mismo método de mezcla, pero al revés.</a:t>
            </a:r>
            <a:endParaRPr sz="1500">
              <a:solidFill>
                <a:srgbClr val="FFFFFF"/>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(AES)</a:t>
            </a:r>
            <a:endParaRPr/>
          </a:p>
        </p:txBody>
      </p:sp>
      <p:sp>
        <p:nvSpPr>
          <p:cNvPr id="278" name="Google Shape;278;p24"/>
          <p:cNvSpPr txBox="1">
            <a:spLocks noGrp="1"/>
          </p:cNvSpPr>
          <p:nvPr>
            <p:ph type="body" idx="1"/>
          </p:nvPr>
        </p:nvSpPr>
        <p:spPr>
          <a:xfrm>
            <a:off x="3776050" y="1549050"/>
            <a:ext cx="4956600" cy="20454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500">
                <a:solidFill>
                  <a:schemeClr val="lt1"/>
                </a:solidFill>
                <a:highlight>
                  <a:schemeClr val="dk1"/>
                </a:highlight>
                <a:latin typeface="Arial"/>
                <a:ea typeface="Arial"/>
                <a:cs typeface="Arial"/>
                <a:sym typeface="Arial"/>
              </a:rPr>
              <a:t>El cifrado AES, o advanced encryption standard, es un cifrado simétrico en bloques que se utiliza para cifrar datos confidenciales. Tanto por seguridad como por velocidad, AES se ha convertido en un estándar de seguridad para usuarios y aplicaciones que necesitan una encriptación fácil de usar.</a:t>
            </a:r>
            <a:endParaRPr>
              <a:solidFill>
                <a:schemeClr val="lt1"/>
              </a:solidFill>
              <a:highlight>
                <a:schemeClr val="dk1"/>
              </a:highlight>
              <a:latin typeface="Arial"/>
              <a:ea typeface="Arial"/>
              <a:cs typeface="Arial"/>
              <a:sym typeface="Arial"/>
            </a:endParaRPr>
          </a:p>
          <a:p>
            <a:pPr marL="0" lvl="0" indent="0" algn="l" rtl="0">
              <a:spcBef>
                <a:spcPts val="1600"/>
              </a:spcBef>
              <a:spcAft>
                <a:spcPts val="1600"/>
              </a:spcAft>
              <a:buNone/>
            </a:pP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5"/>
          <p:cNvSpPr txBox="1">
            <a:spLocks noGrp="1"/>
          </p:cNvSpPr>
          <p:nvPr>
            <p:ph type="title"/>
          </p:nvPr>
        </p:nvSpPr>
        <p:spPr>
          <a:xfrm>
            <a:off x="1297500" y="393750"/>
            <a:ext cx="4685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(AES)</a:t>
            </a:r>
            <a:endParaRPr/>
          </a:p>
        </p:txBody>
      </p:sp>
      <p:sp>
        <p:nvSpPr>
          <p:cNvPr id="284" name="Google Shape;284;p25"/>
          <p:cNvSpPr txBox="1">
            <a:spLocks noGrp="1"/>
          </p:cNvSpPr>
          <p:nvPr>
            <p:ph type="body" idx="1"/>
          </p:nvPr>
        </p:nvSpPr>
        <p:spPr>
          <a:xfrm>
            <a:off x="2595050" y="1622900"/>
            <a:ext cx="3798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rgbClr val="FFFFFF"/>
                </a:solidFill>
              </a:rPr>
              <a:t>¿Cómo funciona?</a:t>
            </a:r>
            <a:endParaRPr sz="1800">
              <a:solidFill>
                <a:srgbClr val="FFFFFF"/>
              </a:solidFill>
            </a:endParaRPr>
          </a:p>
          <a:p>
            <a:pPr marL="457200" lvl="0" indent="-323850" algn="l" rtl="0">
              <a:spcBef>
                <a:spcPts val="1600"/>
              </a:spcBef>
              <a:spcAft>
                <a:spcPts val="0"/>
              </a:spcAft>
              <a:buClr>
                <a:srgbClr val="FFFFFF"/>
              </a:buClr>
              <a:buSzPts val="1500"/>
              <a:buAutoNum type="arabicPeriod"/>
            </a:pPr>
            <a:r>
              <a:rPr lang="es" sz="1500">
                <a:solidFill>
                  <a:srgbClr val="FFFFFF"/>
                </a:solidFill>
              </a:rPr>
              <a:t>División del mensaje</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Clave de cifrado</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Rondas de cifrado</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Resultado</a:t>
            </a:r>
            <a:endParaRPr sz="1500">
              <a:solidFill>
                <a:srgbClr val="FFFFFF"/>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6"/>
          <p:cNvSpPr txBox="1">
            <a:spLocks noGrp="1"/>
          </p:cNvSpPr>
          <p:nvPr>
            <p:ph type="title"/>
          </p:nvPr>
        </p:nvSpPr>
        <p:spPr>
          <a:xfrm>
            <a:off x="1297500" y="393750"/>
            <a:ext cx="4685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(AES)</a:t>
            </a:r>
            <a:endParaRPr/>
          </a:p>
        </p:txBody>
      </p:sp>
      <p:sp>
        <p:nvSpPr>
          <p:cNvPr id="290" name="Google Shape;290;p26"/>
          <p:cNvSpPr txBox="1">
            <a:spLocks noGrp="1"/>
          </p:cNvSpPr>
          <p:nvPr>
            <p:ph type="body" idx="1"/>
          </p:nvPr>
        </p:nvSpPr>
        <p:spPr>
          <a:xfrm>
            <a:off x="1903550" y="1622900"/>
            <a:ext cx="5469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800" b="1" u="sng" dirty="0">
                <a:solidFill>
                  <a:srgbClr val="FFFFFF"/>
                </a:solidFill>
              </a:rPr>
              <a:t>Analogía sencilla:</a:t>
            </a:r>
            <a:r>
              <a:rPr lang="es" sz="1800" dirty="0">
                <a:solidFill>
                  <a:srgbClr val="FFFFFF"/>
                </a:solidFill>
              </a:rPr>
              <a:t> </a:t>
            </a:r>
            <a:endParaRPr sz="1800" dirty="0">
              <a:solidFill>
                <a:srgbClr val="FFFFFF"/>
              </a:solidFill>
            </a:endParaRPr>
          </a:p>
          <a:p>
            <a:pPr marL="0" lvl="0" indent="0" algn="l" rtl="0">
              <a:spcBef>
                <a:spcPts val="1600"/>
              </a:spcBef>
              <a:spcAft>
                <a:spcPts val="1200"/>
              </a:spcAft>
              <a:buNone/>
            </a:pPr>
            <a:r>
              <a:rPr lang="es" sz="1500" dirty="0"/>
              <a:t>Imagina que tienes un cubo de Rubik desordenado (datos originales). AES toma este cubo y lo desordena aún más, pero siguiendo un patrón específico basado en la clave (tu contraseña). Solo alguien que tenga la misma clave y siga el mismo patrón puede volver a ordenar el cubo y ver cómo era al principio.</a:t>
            </a:r>
            <a:endParaRPr sz="1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7500" y="148423"/>
            <a:ext cx="3798900" cy="1493100"/>
          </a:xfrm>
        </p:spPr>
        <p:txBody>
          <a:bodyPr/>
          <a:lstStyle/>
          <a:p>
            <a:r>
              <a:rPr lang="es-AR" dirty="0"/>
              <a:t>Ventajas:</a:t>
            </a:r>
          </a:p>
        </p:txBody>
      </p:sp>
      <p:sp>
        <p:nvSpPr>
          <p:cNvPr id="3" name="Marcador de texto 2"/>
          <p:cNvSpPr>
            <a:spLocks noGrp="1"/>
          </p:cNvSpPr>
          <p:nvPr>
            <p:ph type="body" idx="1"/>
          </p:nvPr>
        </p:nvSpPr>
        <p:spPr>
          <a:xfrm>
            <a:off x="1297500" y="1095321"/>
            <a:ext cx="6619866" cy="2415900"/>
          </a:xfrm>
        </p:spPr>
        <p:txBody>
          <a:bodyPr/>
          <a:lstStyle/>
          <a:p>
            <a:r>
              <a:rPr lang="es-MX" sz="1500" b="1" dirty="0"/>
              <a:t>Velocidad y Eficiencia:</a:t>
            </a:r>
            <a:endParaRPr lang="es-MX" sz="1500" dirty="0"/>
          </a:p>
          <a:p>
            <a:pPr marL="146050" indent="0" fontAlgn="ctr">
              <a:buNone/>
            </a:pPr>
            <a:r>
              <a:rPr lang="es-MX" sz="1500" dirty="0"/>
              <a:t>Los algoritmos de cifrado simétrico son generalmente más rápidos y eficientes que los asimétricos, especialmente al manejar grandes volúmenes de datos. </a:t>
            </a:r>
          </a:p>
          <a:p>
            <a:r>
              <a:rPr lang="es-MX" sz="1500" b="1" dirty="0"/>
              <a:t>Adecuada para grandes cantidades de datos:</a:t>
            </a:r>
            <a:endParaRPr lang="es-MX" sz="1500" dirty="0"/>
          </a:p>
          <a:p>
            <a:pPr marL="146050" indent="0" fontAlgn="ctr">
              <a:buNone/>
            </a:pPr>
            <a:r>
              <a:rPr lang="es-MX" sz="1500" dirty="0"/>
              <a:t>Es ideal para cifrar bases de datos, archivos y otros conjuntos de datos extensos. </a:t>
            </a:r>
          </a:p>
          <a:p>
            <a:r>
              <a:rPr lang="es-MX" sz="1500" b="1" dirty="0"/>
              <a:t>Simple y fácil de entender:</a:t>
            </a:r>
            <a:endParaRPr lang="es-MX" sz="1500" dirty="0"/>
          </a:p>
          <a:p>
            <a:pPr marL="146050" indent="0">
              <a:buNone/>
            </a:pPr>
            <a:r>
              <a:rPr lang="es-MX" sz="1500" dirty="0"/>
              <a:t>Los algoritmos simétricos son más sencillos de implementar y comprender que los asimétricos. </a:t>
            </a:r>
          </a:p>
          <a:p>
            <a:endParaRPr lang="es-AR" dirty="0"/>
          </a:p>
        </p:txBody>
      </p:sp>
    </p:spTree>
    <p:extLst>
      <p:ext uri="{BB962C8B-B14F-4D97-AF65-F5344CB8AC3E}">
        <p14:creationId xmlns:p14="http://schemas.microsoft.com/office/powerpoint/2010/main" val="2667114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Desventajas:</a:t>
            </a:r>
            <a:endParaRPr lang="es-AR" dirty="0"/>
          </a:p>
        </p:txBody>
      </p:sp>
      <p:sp>
        <p:nvSpPr>
          <p:cNvPr id="3" name="Marcador de texto 2"/>
          <p:cNvSpPr>
            <a:spLocks noGrp="1"/>
          </p:cNvSpPr>
          <p:nvPr>
            <p:ph type="body" idx="1"/>
          </p:nvPr>
        </p:nvSpPr>
        <p:spPr>
          <a:xfrm>
            <a:off x="914401" y="1341023"/>
            <a:ext cx="7672038" cy="2415900"/>
          </a:xfrm>
        </p:spPr>
        <p:txBody>
          <a:bodyPr/>
          <a:lstStyle/>
          <a:p>
            <a:r>
              <a:rPr lang="es-MX" sz="1500" b="1" dirty="0"/>
              <a:t>Distribución de claves:</a:t>
            </a:r>
            <a:endParaRPr lang="es-MX" sz="1500" dirty="0"/>
          </a:p>
          <a:p>
            <a:pPr marL="146050" indent="0" fontAlgn="ctr">
              <a:buNone/>
            </a:pPr>
            <a:r>
              <a:rPr lang="es-MX" sz="1500" dirty="0"/>
              <a:t>El principal problema es la necesidad de distribuir la clave de forma segura entre las partes que necesitan comunicarse. Si la clave se intercepta, la seguridad del sistema se ve comprometida. </a:t>
            </a:r>
          </a:p>
          <a:p>
            <a:r>
              <a:rPr lang="es-MX" sz="1500" b="1" dirty="0" smtClean="0"/>
              <a:t>Riesgo </a:t>
            </a:r>
            <a:r>
              <a:rPr lang="es-MX" sz="1500" b="1" dirty="0"/>
              <a:t>de ataques:</a:t>
            </a:r>
            <a:endParaRPr lang="es-MX" sz="1500" dirty="0"/>
          </a:p>
          <a:p>
            <a:pPr marL="146050" indent="0" fontAlgn="ctr">
              <a:buNone/>
            </a:pPr>
            <a:r>
              <a:rPr lang="es-MX" sz="1500" dirty="0"/>
              <a:t>Si un atacante obtiene la clave, puede descifrar todos los mensajes cifrados con ella. </a:t>
            </a:r>
          </a:p>
          <a:p>
            <a:r>
              <a:rPr lang="es-MX" sz="1500" b="1" dirty="0" smtClean="0"/>
              <a:t>Dependencia </a:t>
            </a:r>
            <a:r>
              <a:rPr lang="es-MX" sz="1500" b="1" dirty="0"/>
              <a:t>de la seguridad del canal:</a:t>
            </a:r>
            <a:endParaRPr lang="es-MX" sz="1500" dirty="0"/>
          </a:p>
          <a:p>
            <a:pPr marL="146050" indent="0">
              <a:buNone/>
            </a:pPr>
            <a:r>
              <a:rPr lang="es-MX" sz="1500" dirty="0"/>
              <a:t>La seguridad del cifrado simétrico depende de la seguridad del canal utilizado para la distribución de la clave. </a:t>
            </a:r>
          </a:p>
          <a:p>
            <a:endParaRPr lang="es-AR" dirty="0"/>
          </a:p>
        </p:txBody>
      </p:sp>
    </p:spTree>
    <p:extLst>
      <p:ext uri="{BB962C8B-B14F-4D97-AF65-F5344CB8AC3E}">
        <p14:creationId xmlns:p14="http://schemas.microsoft.com/office/powerpoint/2010/main" val="16429480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Ejemplos:</a:t>
            </a:r>
            <a:endParaRPr lang="es-AR" dirty="0"/>
          </a:p>
        </p:txBody>
      </p:sp>
      <p:sp>
        <p:nvSpPr>
          <p:cNvPr id="3" name="Marcador de texto 2"/>
          <p:cNvSpPr>
            <a:spLocks noGrp="1"/>
          </p:cNvSpPr>
          <p:nvPr>
            <p:ph type="body" idx="1"/>
          </p:nvPr>
        </p:nvSpPr>
        <p:spPr/>
        <p:txBody>
          <a:bodyPr/>
          <a:lstStyle/>
          <a:p>
            <a:r>
              <a:rPr lang="es-MX" sz="1500" dirty="0" smtClean="0"/>
              <a:t>Base de datos</a:t>
            </a:r>
          </a:p>
          <a:p>
            <a:r>
              <a:rPr lang="es-MX" sz="1500" dirty="0" err="1" smtClean="0"/>
              <a:t>Whatsapp</a:t>
            </a:r>
            <a:endParaRPr lang="es-MX" sz="1500" dirty="0" smtClean="0"/>
          </a:p>
          <a:p>
            <a:r>
              <a:rPr lang="es-MX" sz="1500" dirty="0" err="1" smtClean="0"/>
              <a:t>Signal</a:t>
            </a:r>
            <a:endParaRPr lang="es-MX" sz="1500" dirty="0" smtClean="0"/>
          </a:p>
          <a:p>
            <a:r>
              <a:rPr lang="es-MX" sz="1500" dirty="0" smtClean="0"/>
              <a:t>Discos duros</a:t>
            </a:r>
            <a:endParaRPr lang="es-AR" sz="1500" dirty="0"/>
          </a:p>
        </p:txBody>
      </p:sp>
    </p:spTree>
    <p:extLst>
      <p:ext uri="{BB962C8B-B14F-4D97-AF65-F5344CB8AC3E}">
        <p14:creationId xmlns:p14="http://schemas.microsoft.com/office/powerpoint/2010/main" val="32149315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Practica</a:t>
            </a:r>
            <a:endParaRPr lang="es-AR" dirty="0"/>
          </a:p>
        </p:txBody>
      </p:sp>
      <p:sp>
        <p:nvSpPr>
          <p:cNvPr id="3" name="Marcador de texto 2"/>
          <p:cNvSpPr>
            <a:spLocks noGrp="1"/>
          </p:cNvSpPr>
          <p:nvPr>
            <p:ph type="body" idx="1"/>
          </p:nvPr>
        </p:nvSpPr>
        <p:spPr>
          <a:xfrm>
            <a:off x="356839" y="1972550"/>
            <a:ext cx="8430322" cy="2415900"/>
          </a:xfrm>
        </p:spPr>
        <p:txBody>
          <a:bodyPr/>
          <a:lstStyle/>
          <a:p>
            <a:pPr marL="146050" indent="0">
              <a:buNone/>
            </a:pPr>
            <a:r>
              <a:rPr lang="es-MX" dirty="0" smtClean="0"/>
              <a:t>Comandos:</a:t>
            </a:r>
          </a:p>
          <a:p>
            <a:r>
              <a:rPr lang="es-MX" dirty="0"/>
              <a:t>Cifrar: </a:t>
            </a:r>
            <a:r>
              <a:rPr lang="es-MX" dirty="0" err="1"/>
              <a:t>openssl</a:t>
            </a:r>
            <a:r>
              <a:rPr lang="es-MX" dirty="0"/>
              <a:t> </a:t>
            </a:r>
            <a:r>
              <a:rPr lang="es-MX" dirty="0" err="1"/>
              <a:t>enc</a:t>
            </a:r>
            <a:r>
              <a:rPr lang="es-MX" dirty="0"/>
              <a:t> -aes-256-cbc -</a:t>
            </a:r>
            <a:r>
              <a:rPr lang="es-MX" dirty="0" err="1"/>
              <a:t>salt</a:t>
            </a:r>
            <a:r>
              <a:rPr lang="es-MX" dirty="0"/>
              <a:t> -in mensaje.txt -</a:t>
            </a:r>
            <a:r>
              <a:rPr lang="es-MX" dirty="0" err="1"/>
              <a:t>out</a:t>
            </a:r>
            <a:r>
              <a:rPr lang="es-MX" dirty="0"/>
              <a:t> </a:t>
            </a:r>
            <a:r>
              <a:rPr lang="es-MX" dirty="0" err="1"/>
              <a:t>mensaje.enc</a:t>
            </a:r>
            <a:r>
              <a:rPr lang="es-MX" dirty="0"/>
              <a:t> -k </a:t>
            </a:r>
            <a:r>
              <a:rPr lang="es-MX" dirty="0" smtClean="0"/>
              <a:t>ClaveCompartida123</a:t>
            </a:r>
          </a:p>
          <a:p>
            <a:r>
              <a:rPr lang="es-MX" dirty="0"/>
              <a:t>Descifrar: </a:t>
            </a:r>
            <a:r>
              <a:rPr lang="es-MX" dirty="0" err="1"/>
              <a:t>openssl</a:t>
            </a:r>
            <a:r>
              <a:rPr lang="es-MX" dirty="0"/>
              <a:t> </a:t>
            </a:r>
            <a:r>
              <a:rPr lang="es-MX" dirty="0" err="1"/>
              <a:t>enc</a:t>
            </a:r>
            <a:r>
              <a:rPr lang="es-MX" dirty="0"/>
              <a:t> -aes-256-cbc -d -in </a:t>
            </a:r>
            <a:r>
              <a:rPr lang="es-MX" dirty="0" err="1"/>
              <a:t>mensaje.enc</a:t>
            </a:r>
            <a:r>
              <a:rPr lang="es-MX" dirty="0"/>
              <a:t> -</a:t>
            </a:r>
            <a:r>
              <a:rPr lang="es-MX" dirty="0" err="1"/>
              <a:t>out</a:t>
            </a:r>
            <a:r>
              <a:rPr lang="es-MX" dirty="0"/>
              <a:t> mensaje_descifrado.txt -k </a:t>
            </a:r>
            <a:r>
              <a:rPr lang="es-MX" dirty="0" smtClean="0"/>
              <a:t>ClaveCompartida123</a:t>
            </a:r>
          </a:p>
          <a:p>
            <a:endParaRPr lang="es-MX" dirty="0"/>
          </a:p>
          <a:p>
            <a:endParaRPr lang="es-MX" dirty="0" smtClean="0"/>
          </a:p>
          <a:p>
            <a:pPr marL="146050" indent="0">
              <a:buNone/>
            </a:pPr>
            <a:r>
              <a:rPr lang="es-AR" dirty="0" smtClean="0"/>
              <a:t>		https</a:t>
            </a:r>
            <a:r>
              <a:rPr lang="es-AR" dirty="0"/>
              <a:t>://slproweb.com/products/Win32OpenSSL.html</a:t>
            </a:r>
          </a:p>
        </p:txBody>
      </p:sp>
    </p:spTree>
    <p:extLst>
      <p:ext uri="{BB962C8B-B14F-4D97-AF65-F5344CB8AC3E}">
        <p14:creationId xmlns:p14="http://schemas.microsoft.com/office/powerpoint/2010/main" val="18458065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7"/>
          <p:cNvSpPr txBox="1"/>
          <p:nvPr/>
        </p:nvSpPr>
        <p:spPr>
          <a:xfrm>
            <a:off x="1297500" y="1132625"/>
            <a:ext cx="7038900" cy="48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Criptografía asimétrica (concepto)</a:t>
            </a:r>
            <a:endParaRPr sz="2400">
              <a:solidFill>
                <a:srgbClr val="FFFFFF"/>
              </a:solidFill>
              <a:latin typeface="Montserrat"/>
              <a:ea typeface="Montserrat"/>
              <a:cs typeface="Montserrat"/>
              <a:sym typeface="Montserrat"/>
            </a:endParaRPr>
          </a:p>
        </p:txBody>
      </p:sp>
      <p:sp>
        <p:nvSpPr>
          <p:cNvPr id="296" name="Google Shape;296;p27"/>
          <p:cNvSpPr txBox="1"/>
          <p:nvPr/>
        </p:nvSpPr>
        <p:spPr>
          <a:xfrm>
            <a:off x="1542900" y="1971350"/>
            <a:ext cx="4245600" cy="241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900"/>
              </a:spcAft>
              <a:buNone/>
            </a:pPr>
            <a:r>
              <a:rPr lang="es" sz="1950">
                <a:solidFill>
                  <a:schemeClr val="lt1"/>
                </a:solidFill>
                <a:highlight>
                  <a:schemeClr val="dk1"/>
                </a:highlight>
              </a:rPr>
              <a:t>La criptografía asimétrica,​ es un sistema criptográfico que se caracteriza por utilizar dos claves, una clave pública y otra privada, para el envío de mensajes o datos informáticos.</a:t>
            </a:r>
            <a:endParaRPr sz="1950">
              <a:solidFill>
                <a:schemeClr val="lt1"/>
              </a:solidFill>
              <a:highlight>
                <a:schemeClr val="dk1"/>
              </a:highligh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Procedimiento Criptografía Asimétrica</a:t>
            </a:r>
            <a:endParaRPr/>
          </a:p>
        </p:txBody>
      </p:sp>
      <p:pic>
        <p:nvPicPr>
          <p:cNvPr id="302" name="Google Shape;302;p28"/>
          <p:cNvPicPr preferRelativeResize="0"/>
          <p:nvPr/>
        </p:nvPicPr>
        <p:blipFill>
          <a:blip r:embed="rId3">
            <a:alphaModFix/>
          </a:blip>
          <a:stretch>
            <a:fillRect/>
          </a:stretch>
        </p:blipFill>
        <p:spPr>
          <a:xfrm>
            <a:off x="1472400" y="1488400"/>
            <a:ext cx="5473650" cy="2505200"/>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Procedimiento Criptografía Asimétrica</a:t>
            </a:r>
            <a:endParaRPr/>
          </a:p>
          <a:p>
            <a:pPr marL="0" lvl="0" indent="0" algn="l" rtl="0">
              <a:spcBef>
                <a:spcPts val="0"/>
              </a:spcBef>
              <a:spcAft>
                <a:spcPts val="0"/>
              </a:spcAft>
              <a:buNone/>
            </a:pPr>
            <a:endParaRPr/>
          </a:p>
        </p:txBody>
      </p:sp>
      <p:sp>
        <p:nvSpPr>
          <p:cNvPr id="308" name="Google Shape;308;p29"/>
          <p:cNvSpPr txBox="1"/>
          <p:nvPr/>
        </p:nvSpPr>
        <p:spPr>
          <a:xfrm>
            <a:off x="1297500" y="1386250"/>
            <a:ext cx="580800" cy="4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1</a:t>
            </a:r>
            <a:endParaRPr>
              <a:solidFill>
                <a:srgbClr val="FFFFFF"/>
              </a:solidFill>
            </a:endParaRPr>
          </a:p>
          <a:p>
            <a:pPr marL="0" lvl="0" indent="0" algn="l" rtl="0">
              <a:spcBef>
                <a:spcPts val="0"/>
              </a:spcBef>
              <a:spcAft>
                <a:spcPts val="0"/>
              </a:spcAft>
              <a:buNone/>
            </a:pPr>
            <a:endParaRPr sz="1300">
              <a:solidFill>
                <a:srgbClr val="FFFFFF"/>
              </a:solidFill>
            </a:endParaRPr>
          </a:p>
        </p:txBody>
      </p:sp>
      <p:sp>
        <p:nvSpPr>
          <p:cNvPr id="309" name="Google Shape;309;p29"/>
          <p:cNvSpPr txBox="1">
            <a:spLocks noGrp="1"/>
          </p:cNvSpPr>
          <p:nvPr>
            <p:ph type="body" idx="1"/>
          </p:nvPr>
        </p:nvSpPr>
        <p:spPr>
          <a:xfrm>
            <a:off x="1944925" y="1344250"/>
            <a:ext cx="5877300" cy="582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solidFill>
                  <a:srgbClr val="FFFFFF"/>
                </a:solidFill>
              </a:rPr>
              <a:t>Un generador Gen de claves pseudoaleatorias, un algoritmo probabilístico el cual arma un par de clave (𝐾𝑝,𝐾𝑠) donde 𝐾𝑝 es la clave pública y 𝐾𝑠 es la clave privada. Este generador debe generar claves de un tamaño considerable y las mismas deben ser aleatorias en el sentido que la probabilidad de un valor seleccionado sea lo suficientemente pequeña para que no se pueda hacer un ataque basándose en la probabilidad de este.</a:t>
            </a:r>
            <a:endParaRPr>
              <a:solidFill>
                <a:srgbClr val="FFFFFF"/>
              </a:solidFill>
            </a:endParaRPr>
          </a:p>
        </p:txBody>
      </p:sp>
      <p:sp>
        <p:nvSpPr>
          <p:cNvPr id="310" name="Google Shape;310;p29"/>
          <p:cNvSpPr txBox="1"/>
          <p:nvPr/>
        </p:nvSpPr>
        <p:spPr>
          <a:xfrm>
            <a:off x="1297500" y="2987831"/>
            <a:ext cx="732900" cy="8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2</a:t>
            </a:r>
            <a:endParaRPr>
              <a:solidFill>
                <a:srgbClr val="FFFFFF"/>
              </a:solidFill>
            </a:endParaRPr>
          </a:p>
          <a:p>
            <a:pPr marL="0" lvl="0" indent="0" algn="l" rtl="0">
              <a:spcBef>
                <a:spcPts val="0"/>
              </a:spcBef>
              <a:spcAft>
                <a:spcPts val="0"/>
              </a:spcAft>
              <a:buNone/>
            </a:pPr>
            <a:endParaRPr sz="1300">
              <a:solidFill>
                <a:srgbClr val="FFFFFF"/>
              </a:solidFill>
            </a:endParaRPr>
          </a:p>
        </p:txBody>
      </p:sp>
      <p:sp>
        <p:nvSpPr>
          <p:cNvPr id="311" name="Google Shape;311;p29"/>
          <p:cNvSpPr txBox="1"/>
          <p:nvPr/>
        </p:nvSpPr>
        <p:spPr>
          <a:xfrm>
            <a:off x="1297500" y="3690594"/>
            <a:ext cx="732900" cy="8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a:solidFill>
                  <a:srgbClr val="FFFFFF"/>
                </a:solidFill>
                <a:latin typeface="Montserrat"/>
                <a:ea typeface="Montserrat"/>
                <a:cs typeface="Montserrat"/>
                <a:sym typeface="Montserrat"/>
              </a:rPr>
              <a:t>3</a:t>
            </a:r>
            <a:endParaRPr sz="1300">
              <a:solidFill>
                <a:srgbClr val="FFFFFF"/>
              </a:solidFill>
            </a:endParaRPr>
          </a:p>
        </p:txBody>
      </p:sp>
      <p:sp>
        <p:nvSpPr>
          <p:cNvPr id="312" name="Google Shape;312;p29"/>
          <p:cNvSpPr txBox="1">
            <a:spLocks noGrp="1"/>
          </p:cNvSpPr>
          <p:nvPr>
            <p:ph type="body" idx="1"/>
          </p:nvPr>
        </p:nvSpPr>
        <p:spPr>
          <a:xfrm>
            <a:off x="1944925" y="2941200"/>
            <a:ext cx="5877300" cy="582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a:solidFill>
                  <a:srgbClr val="FFFFFF"/>
                </a:solidFill>
              </a:rPr>
              <a:t>Un algoritmo 𝐸𝑛𝑐 de cifrado, el cual dado un texto plano 𝑋 y una clave pública 𝐾𝑝 devuelve un texto cifrado 𝑌.</a:t>
            </a:r>
            <a:endParaRPr>
              <a:solidFill>
                <a:srgbClr val="FFFFFF"/>
              </a:solidFill>
            </a:endParaRPr>
          </a:p>
          <a:p>
            <a:pPr marL="0" lvl="0" indent="0" algn="l" rtl="0">
              <a:spcBef>
                <a:spcPts val="0"/>
              </a:spcBef>
              <a:spcAft>
                <a:spcPts val="1600"/>
              </a:spcAft>
              <a:buNone/>
            </a:pPr>
            <a:endParaRPr>
              <a:solidFill>
                <a:srgbClr val="FFFFFF"/>
              </a:solidFill>
            </a:endParaRPr>
          </a:p>
        </p:txBody>
      </p:sp>
      <p:sp>
        <p:nvSpPr>
          <p:cNvPr id="313" name="Google Shape;313;p29"/>
          <p:cNvSpPr txBox="1">
            <a:spLocks noGrp="1"/>
          </p:cNvSpPr>
          <p:nvPr>
            <p:ph type="body" idx="1"/>
          </p:nvPr>
        </p:nvSpPr>
        <p:spPr>
          <a:xfrm>
            <a:off x="1944925" y="3690600"/>
            <a:ext cx="5877300" cy="582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a:solidFill>
                  <a:srgbClr val="FFFFFF"/>
                </a:solidFill>
              </a:rPr>
              <a:t>Un algoritmo 𝐷𝑒𝑐 de descifrado, este algoritmo dado el texto cifrado 𝑌 y la clave privada 𝐾𝑠 devuelve el texto original 𝑋.</a:t>
            </a:r>
            <a:endParaRPr>
              <a:solidFill>
                <a:srgbClr val="FFFFFF"/>
              </a:solidFill>
            </a:endParaRPr>
          </a:p>
          <a:p>
            <a:pPr marL="0" lvl="0" indent="0" algn="l" rtl="0">
              <a:spcBef>
                <a:spcPts val="0"/>
              </a:spcBef>
              <a:spcAft>
                <a:spcPts val="1600"/>
              </a:spcAft>
              <a:buNone/>
            </a:pPr>
            <a:endParaRPr>
              <a:solidFill>
                <a:srgbClr val="FFFFFF"/>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(RSA)</a:t>
            </a:r>
            <a:endParaRPr/>
          </a:p>
        </p:txBody>
      </p:sp>
      <p:sp>
        <p:nvSpPr>
          <p:cNvPr id="319" name="Google Shape;319;p30"/>
          <p:cNvSpPr txBox="1">
            <a:spLocks noGrp="1"/>
          </p:cNvSpPr>
          <p:nvPr>
            <p:ph type="body" idx="1"/>
          </p:nvPr>
        </p:nvSpPr>
        <p:spPr>
          <a:xfrm>
            <a:off x="3776050" y="1549050"/>
            <a:ext cx="4956600" cy="20454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200" b="1">
                <a:solidFill>
                  <a:schemeClr val="lt1"/>
                </a:solidFill>
                <a:highlight>
                  <a:schemeClr val="dk1"/>
                </a:highlight>
                <a:latin typeface="Arial"/>
                <a:ea typeface="Arial"/>
                <a:cs typeface="Arial"/>
                <a:sym typeface="Arial"/>
              </a:rPr>
              <a:t>RSA</a:t>
            </a:r>
            <a:r>
              <a:rPr lang="es" sz="1200">
                <a:solidFill>
                  <a:schemeClr val="lt1"/>
                </a:solidFill>
                <a:highlight>
                  <a:schemeClr val="dk1"/>
                </a:highlight>
                <a:latin typeface="Arial"/>
                <a:ea typeface="Arial"/>
                <a:cs typeface="Arial"/>
                <a:sym typeface="Arial"/>
              </a:rPr>
              <a:t> </a:t>
            </a:r>
            <a:r>
              <a:rPr lang="es" sz="1200" i="1">
                <a:solidFill>
                  <a:schemeClr val="lt1"/>
                </a:solidFill>
                <a:highlight>
                  <a:schemeClr val="dk1"/>
                </a:highlight>
                <a:latin typeface="Arial"/>
                <a:ea typeface="Arial"/>
                <a:cs typeface="Arial"/>
                <a:sym typeface="Arial"/>
              </a:rPr>
              <a:t>(</a:t>
            </a:r>
            <a:r>
              <a:rPr lang="es" sz="1200" b="1" i="1">
                <a:solidFill>
                  <a:schemeClr val="lt1"/>
                </a:solidFill>
                <a:highlight>
                  <a:schemeClr val="dk1"/>
                </a:highlight>
                <a:uFill>
                  <a:noFill/>
                </a:uFill>
                <a:latin typeface="Arial"/>
                <a:ea typeface="Arial"/>
                <a:cs typeface="Arial"/>
                <a:sym typeface="Arial"/>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Rivest</a:t>
            </a:r>
            <a:r>
              <a:rPr lang="es" sz="1200" b="1" i="1">
                <a:solidFill>
                  <a:schemeClr val="lt1"/>
                </a:solidFill>
                <a:highlight>
                  <a:schemeClr val="dk1"/>
                </a:highlight>
                <a:latin typeface="Arial"/>
                <a:ea typeface="Arial"/>
                <a:cs typeface="Arial"/>
                <a:sym typeface="Arial"/>
              </a:rPr>
              <a:t>, </a:t>
            </a:r>
            <a:r>
              <a:rPr lang="es" sz="1200" b="1" i="1">
                <a:solidFill>
                  <a:schemeClr val="lt1"/>
                </a:solidFill>
                <a:highlight>
                  <a:schemeClr val="dk1"/>
                </a:highlight>
                <a:uFill>
                  <a:noFill/>
                </a:uFill>
                <a:latin typeface="Arial"/>
                <a:ea typeface="Arial"/>
                <a:cs typeface="Arial"/>
                <a:sym typeface="Arial"/>
                <a:hlinkClick r:id="rId4">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Shamir</a:t>
            </a:r>
            <a:r>
              <a:rPr lang="es" sz="1200" b="1" i="1">
                <a:solidFill>
                  <a:schemeClr val="lt1"/>
                </a:solidFill>
                <a:highlight>
                  <a:schemeClr val="dk1"/>
                </a:highlight>
                <a:latin typeface="Arial"/>
                <a:ea typeface="Arial"/>
                <a:cs typeface="Arial"/>
                <a:sym typeface="Arial"/>
              </a:rPr>
              <a:t> y </a:t>
            </a:r>
            <a:r>
              <a:rPr lang="es" sz="1200" b="1" i="1">
                <a:solidFill>
                  <a:schemeClr val="lt1"/>
                </a:solidFill>
                <a:highlight>
                  <a:schemeClr val="dk1"/>
                </a:highlight>
                <a:uFill>
                  <a:noFill/>
                </a:uFill>
                <a:latin typeface="Arial"/>
                <a:ea typeface="Arial"/>
                <a:cs typeface="Arial"/>
                <a:sym typeface="Arial"/>
                <a:hlinkClick r:id="rId5">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Adleman</a:t>
            </a:r>
            <a:r>
              <a:rPr lang="es" sz="1200" i="1">
                <a:solidFill>
                  <a:schemeClr val="lt1"/>
                </a:solidFill>
                <a:highlight>
                  <a:schemeClr val="dk1"/>
                </a:highlight>
                <a:latin typeface="Arial"/>
                <a:ea typeface="Arial"/>
                <a:cs typeface="Arial"/>
                <a:sym typeface="Arial"/>
              </a:rPr>
              <a:t>) </a:t>
            </a:r>
            <a:r>
              <a:rPr lang="es" sz="1500">
                <a:solidFill>
                  <a:schemeClr val="lt1"/>
                </a:solidFill>
                <a:highlight>
                  <a:schemeClr val="dk1"/>
                </a:highlight>
                <a:latin typeface="Arial"/>
                <a:ea typeface="Arial"/>
                <a:cs typeface="Arial"/>
                <a:sym typeface="Arial"/>
              </a:rPr>
              <a:t>es un algoritmo de cifrado asimétrico que se basa en la dificultad de factorizar grandes números primos. Su principal ventaja es la capacidad de proporcionar seguridad robusta a través de claves públicas y privadas, permitiendo un intercambio de claves seguro y autenticación mediante firmas digitales.</a:t>
            </a:r>
            <a:endParaRPr>
              <a:solidFill>
                <a:schemeClr val="lt1"/>
              </a:solidFill>
              <a:highlight>
                <a:schemeClr val="dk1"/>
              </a:highlight>
              <a:latin typeface="Arial"/>
              <a:ea typeface="Arial"/>
              <a:cs typeface="Arial"/>
              <a:sym typeface="Arial"/>
            </a:endParaRPr>
          </a:p>
          <a:p>
            <a:pPr marL="0" lvl="0" indent="0" algn="l" rtl="0">
              <a:spcBef>
                <a:spcPts val="1600"/>
              </a:spcBef>
              <a:spcAft>
                <a:spcPts val="1600"/>
              </a:spcAft>
              <a:buNone/>
            </a:pPr>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1"/>
          <p:cNvSpPr txBox="1">
            <a:spLocks noGrp="1"/>
          </p:cNvSpPr>
          <p:nvPr>
            <p:ph type="title"/>
          </p:nvPr>
        </p:nvSpPr>
        <p:spPr>
          <a:xfrm>
            <a:off x="1297500" y="393750"/>
            <a:ext cx="4685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Principales algoritmos (RSA)</a:t>
            </a:r>
            <a:endParaRPr/>
          </a:p>
        </p:txBody>
      </p:sp>
      <p:sp>
        <p:nvSpPr>
          <p:cNvPr id="325" name="Google Shape;325;p31"/>
          <p:cNvSpPr txBox="1">
            <a:spLocks noGrp="1"/>
          </p:cNvSpPr>
          <p:nvPr>
            <p:ph type="body" idx="1"/>
          </p:nvPr>
        </p:nvSpPr>
        <p:spPr>
          <a:xfrm>
            <a:off x="1297500" y="1187800"/>
            <a:ext cx="3798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rgbClr val="FFFFFF"/>
                </a:solidFill>
              </a:rPr>
              <a:t>¿Cómo funciona?</a:t>
            </a:r>
            <a:endParaRPr sz="1800">
              <a:solidFill>
                <a:srgbClr val="FFFFFF"/>
              </a:solidFill>
            </a:endParaRPr>
          </a:p>
          <a:p>
            <a:pPr marL="457200" lvl="0" indent="-323850" algn="l" rtl="0">
              <a:spcBef>
                <a:spcPts val="1600"/>
              </a:spcBef>
              <a:spcAft>
                <a:spcPts val="0"/>
              </a:spcAft>
              <a:buClr>
                <a:srgbClr val="FFFFFF"/>
              </a:buClr>
              <a:buSzPts val="1500"/>
              <a:buAutoNum type="arabicPeriod"/>
            </a:pPr>
            <a:r>
              <a:rPr lang="es" sz="1500">
                <a:solidFill>
                  <a:srgbClr val="FFFFFF"/>
                </a:solidFill>
              </a:rPr>
              <a:t>Generación de clave</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Cifrado</a:t>
            </a:r>
            <a:endParaRPr sz="1500">
              <a:solidFill>
                <a:srgbClr val="FFFFFF"/>
              </a:solidFill>
            </a:endParaRPr>
          </a:p>
          <a:p>
            <a:pPr marL="457200" lvl="0" indent="-323850" algn="l" rtl="0">
              <a:spcBef>
                <a:spcPts val="0"/>
              </a:spcBef>
              <a:spcAft>
                <a:spcPts val="0"/>
              </a:spcAft>
              <a:buClr>
                <a:srgbClr val="FFFFFF"/>
              </a:buClr>
              <a:buSzPts val="1500"/>
              <a:buAutoNum type="arabicPeriod"/>
            </a:pPr>
            <a:r>
              <a:rPr lang="es" sz="1500">
                <a:solidFill>
                  <a:srgbClr val="FFFFFF"/>
                </a:solidFill>
              </a:rPr>
              <a:t>Descifrado</a:t>
            </a:r>
            <a:endParaRPr sz="1500">
              <a:solidFill>
                <a:srgbClr val="FFFFFF"/>
              </a:solidFill>
            </a:endParaRPr>
          </a:p>
          <a:p>
            <a:pPr marL="457200" lvl="0" indent="0" algn="l" rtl="0">
              <a:spcBef>
                <a:spcPts val="1600"/>
              </a:spcBef>
              <a:spcAft>
                <a:spcPts val="1600"/>
              </a:spcAft>
              <a:buNone/>
            </a:pPr>
            <a:endParaRPr sz="1500">
              <a:solidFill>
                <a:srgbClr val="FFFFFF"/>
              </a:solidFill>
            </a:endParaRPr>
          </a:p>
        </p:txBody>
      </p:sp>
      <p:sp>
        <p:nvSpPr>
          <p:cNvPr id="326" name="Google Shape;326;p31"/>
          <p:cNvSpPr txBox="1">
            <a:spLocks noGrp="1"/>
          </p:cNvSpPr>
          <p:nvPr>
            <p:ph type="body" idx="1"/>
          </p:nvPr>
        </p:nvSpPr>
        <p:spPr>
          <a:xfrm>
            <a:off x="4821900" y="2117150"/>
            <a:ext cx="3798900" cy="24159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s" b="1">
                <a:latin typeface="Arial"/>
                <a:ea typeface="Arial"/>
                <a:cs typeface="Arial"/>
                <a:sym typeface="Arial"/>
              </a:rPr>
              <a:t>Ejemplo sencillo:</a:t>
            </a:r>
            <a:endParaRPr b="1">
              <a:latin typeface="Arial"/>
              <a:ea typeface="Arial"/>
              <a:cs typeface="Arial"/>
              <a:sym typeface="Arial"/>
            </a:endParaRPr>
          </a:p>
          <a:p>
            <a:pPr marL="457200" lvl="0" indent="-298450" algn="l" rtl="0">
              <a:spcBef>
                <a:spcPts val="1200"/>
              </a:spcBef>
              <a:spcAft>
                <a:spcPts val="0"/>
              </a:spcAft>
              <a:buClr>
                <a:schemeClr val="lt1"/>
              </a:buClr>
              <a:buSzPts val="1100"/>
              <a:buFont typeface="Arial"/>
              <a:buChar char="●"/>
            </a:pPr>
            <a:r>
              <a:rPr lang="es" sz="1100" b="1">
                <a:latin typeface="Arial"/>
                <a:ea typeface="Arial"/>
                <a:cs typeface="Arial"/>
                <a:sym typeface="Arial"/>
              </a:rPr>
              <a:t>Cifrado</a:t>
            </a:r>
            <a:r>
              <a:rPr lang="es" sz="1100">
                <a:latin typeface="Arial"/>
                <a:ea typeface="Arial"/>
                <a:cs typeface="Arial"/>
                <a:sym typeface="Arial"/>
              </a:rPr>
              <a:t>: Si alguien quiere enviarte "Hola", tomaría tu clave pública y la usaría para convertir "Hola" en algo como "X5q9".</a:t>
            </a:r>
            <a:endParaRPr sz="1100">
              <a:latin typeface="Arial"/>
              <a:ea typeface="Arial"/>
              <a:cs typeface="Arial"/>
              <a:sym typeface="Arial"/>
            </a:endParaRPr>
          </a:p>
          <a:p>
            <a:pPr marL="457200" lvl="0" indent="-298450" algn="l" rtl="0">
              <a:spcBef>
                <a:spcPts val="0"/>
              </a:spcBef>
              <a:spcAft>
                <a:spcPts val="0"/>
              </a:spcAft>
              <a:buClr>
                <a:schemeClr val="lt1"/>
              </a:buClr>
              <a:buSzPts val="1100"/>
              <a:buFont typeface="Arial"/>
              <a:buChar char="●"/>
            </a:pPr>
            <a:r>
              <a:rPr lang="es" sz="1100" b="1">
                <a:latin typeface="Arial"/>
                <a:ea typeface="Arial"/>
                <a:cs typeface="Arial"/>
                <a:sym typeface="Arial"/>
              </a:rPr>
              <a:t>Descifrado</a:t>
            </a:r>
            <a:r>
              <a:rPr lang="es" sz="1100">
                <a:latin typeface="Arial"/>
                <a:ea typeface="Arial"/>
                <a:cs typeface="Arial"/>
                <a:sym typeface="Arial"/>
              </a:rPr>
              <a:t>: Cuando recibes "X5q9", usas tu clave privada para convertirlo nuevamente en "Hola".</a:t>
            </a:r>
            <a:endParaRPr sz="1800"/>
          </a:p>
          <a:p>
            <a:pPr marL="457200" lvl="0" indent="0" algn="l" rtl="0">
              <a:spcBef>
                <a:spcPts val="1200"/>
              </a:spcBef>
              <a:spcAft>
                <a:spcPts val="1600"/>
              </a:spcAft>
              <a:buNone/>
            </a:pPr>
            <a:endParaRPr sz="1500">
              <a:solidFill>
                <a:srgbClr val="FFFFFF"/>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7500" y="393750"/>
            <a:ext cx="3798900" cy="966699"/>
          </a:xfrm>
        </p:spPr>
        <p:txBody>
          <a:bodyPr/>
          <a:lstStyle/>
          <a:p>
            <a:r>
              <a:rPr lang="es-MX" dirty="0"/>
              <a:t>¿Cómo funciona?</a:t>
            </a:r>
            <a:br>
              <a:rPr lang="es-MX" dirty="0"/>
            </a:br>
            <a:endParaRPr lang="es-AR" dirty="0"/>
          </a:p>
        </p:txBody>
      </p:sp>
      <p:sp>
        <p:nvSpPr>
          <p:cNvPr id="3" name="Marcador de texto 2"/>
          <p:cNvSpPr>
            <a:spLocks noGrp="1"/>
          </p:cNvSpPr>
          <p:nvPr>
            <p:ph type="body" idx="1"/>
          </p:nvPr>
        </p:nvSpPr>
        <p:spPr>
          <a:xfrm>
            <a:off x="1297500" y="1360449"/>
            <a:ext cx="7177427" cy="2415900"/>
          </a:xfrm>
        </p:spPr>
        <p:txBody>
          <a:bodyPr/>
          <a:lstStyle/>
          <a:p>
            <a:r>
              <a:rPr lang="es-MX" b="1" dirty="0" smtClean="0"/>
              <a:t>1</a:t>
            </a:r>
            <a:r>
              <a:rPr lang="es-MX" b="1" dirty="0"/>
              <a:t>. Generación de claves:</a:t>
            </a:r>
            <a:endParaRPr lang="es-MX" dirty="0"/>
          </a:p>
          <a:p>
            <a:pPr marL="146050" indent="0" fontAlgn="ctr">
              <a:buNone/>
            </a:pPr>
            <a:r>
              <a:rPr lang="es-MX" dirty="0"/>
              <a:t>Se crean dos claves interconectadas: una pública y otra privada. </a:t>
            </a:r>
          </a:p>
          <a:p>
            <a:r>
              <a:rPr lang="es-MX" b="1" dirty="0"/>
              <a:t>2. Cifrado:</a:t>
            </a:r>
            <a:endParaRPr lang="es-MX" dirty="0"/>
          </a:p>
          <a:p>
            <a:pPr marL="146050" indent="0" fontAlgn="ctr">
              <a:buNone/>
            </a:pPr>
            <a:r>
              <a:rPr lang="es-MX" dirty="0"/>
              <a:t>Cuando alguien quiere enviar un mensaje seguro, usa la clave pública del destinatario para cifrarlo. </a:t>
            </a:r>
          </a:p>
          <a:p>
            <a:r>
              <a:rPr lang="es-MX" b="1" dirty="0"/>
              <a:t>3. Descifrado:</a:t>
            </a:r>
            <a:endParaRPr lang="es-MX" dirty="0"/>
          </a:p>
          <a:p>
            <a:pPr marL="146050" indent="0" fontAlgn="ctr">
              <a:buNone/>
            </a:pPr>
            <a:r>
              <a:rPr lang="es-MX" dirty="0"/>
              <a:t>Solo el destinatario, con su clave privada correspondiente, puede descifrar el mensaje. </a:t>
            </a:r>
          </a:p>
          <a:p>
            <a:r>
              <a:rPr lang="es-MX" b="1" dirty="0"/>
              <a:t>4. Firma digital:</a:t>
            </a:r>
            <a:endParaRPr lang="es-MX" dirty="0"/>
          </a:p>
          <a:p>
            <a:pPr marL="146050" indent="0">
              <a:buNone/>
            </a:pPr>
            <a:r>
              <a:rPr lang="es-MX" dirty="0"/>
              <a:t>Para autenticar el origen del mensaje, se utiliza la clave privada del remitente para firmarlo digitalmente. La firma puede verificarse con la clave pública del remitente. </a:t>
            </a:r>
          </a:p>
          <a:p>
            <a:endParaRPr lang="es-AR" dirty="0"/>
          </a:p>
        </p:txBody>
      </p:sp>
    </p:spTree>
    <p:extLst>
      <p:ext uri="{BB962C8B-B14F-4D97-AF65-F5344CB8AC3E}">
        <p14:creationId xmlns:p14="http://schemas.microsoft.com/office/powerpoint/2010/main" val="2985188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Proceso de generación de claves:</a:t>
            </a:r>
            <a:br>
              <a:rPr lang="es-MX" dirty="0"/>
            </a:br>
            <a:endParaRPr lang="es-AR" dirty="0"/>
          </a:p>
        </p:txBody>
      </p:sp>
      <p:sp>
        <p:nvSpPr>
          <p:cNvPr id="3" name="Marcador de texto 2"/>
          <p:cNvSpPr>
            <a:spLocks noGrp="1"/>
          </p:cNvSpPr>
          <p:nvPr>
            <p:ph type="body" idx="1"/>
          </p:nvPr>
        </p:nvSpPr>
        <p:spPr>
          <a:xfrm>
            <a:off x="1297500" y="1385253"/>
            <a:ext cx="6359671" cy="2415900"/>
          </a:xfrm>
        </p:spPr>
        <p:txBody>
          <a:bodyPr/>
          <a:lstStyle/>
          <a:p>
            <a:r>
              <a:rPr lang="es-MX" b="1" dirty="0" smtClean="0"/>
              <a:t>1</a:t>
            </a:r>
            <a:r>
              <a:rPr lang="es-MX" b="1" dirty="0"/>
              <a:t>. Generación de la clave privada:</a:t>
            </a:r>
            <a:endParaRPr lang="es-MX" dirty="0"/>
          </a:p>
          <a:p>
            <a:pPr marL="146050" indent="0" fontAlgn="ctr">
              <a:buNone/>
            </a:pPr>
            <a:r>
              <a:rPr lang="es-MX" dirty="0"/>
              <a:t>Se utiliza un algoritmo criptográfico (como RSA o ECC) para generar un número aleatorio seguro, que se convierte en la clave privada. </a:t>
            </a:r>
          </a:p>
          <a:p>
            <a:r>
              <a:rPr lang="es-MX" b="1" dirty="0"/>
              <a:t>2. Derivación de la clave pública:</a:t>
            </a:r>
            <a:endParaRPr lang="es-MX" dirty="0"/>
          </a:p>
          <a:p>
            <a:pPr marL="146050" indent="0" fontAlgn="ctr">
              <a:buNone/>
            </a:pPr>
            <a:r>
              <a:rPr lang="es-MX" dirty="0"/>
              <a:t>La clave pública se deriva de la clave privada mediante una función matemática, asegurando que sea diferente pero matemáticamente relacionada. Es importante destacar que, aunque la clave pública se deriva de la privada, no es posible obtener la clave privada a partir de la pública. </a:t>
            </a:r>
          </a:p>
          <a:p>
            <a:pPr marL="146050" indent="0">
              <a:buNone/>
            </a:pPr>
            <a:r>
              <a:rPr lang="es-MX" dirty="0"/>
              <a:t>Ejemplo con RSA:</a:t>
            </a:r>
          </a:p>
          <a:p>
            <a:r>
              <a:rPr lang="es-MX" dirty="0"/>
              <a:t>Se eligen dos números primos grandes, p y q.</a:t>
            </a:r>
          </a:p>
          <a:p>
            <a:r>
              <a:rPr lang="es-MX" dirty="0"/>
              <a:t>Se calcula n = p * q.</a:t>
            </a:r>
          </a:p>
          <a:p>
            <a:r>
              <a:rPr lang="es-MX" dirty="0"/>
              <a:t>Se elige un número e, generalmente pequeño (como 65537).</a:t>
            </a:r>
          </a:p>
          <a:p>
            <a:r>
              <a:rPr lang="es-MX" dirty="0"/>
              <a:t>La clave privada se calcula como el inverso multiplicativo de e, módulo (p-1)(q-1).</a:t>
            </a:r>
          </a:p>
          <a:p>
            <a:r>
              <a:rPr lang="es-MX" dirty="0"/>
              <a:t>La clave pública es el par (e, n). </a:t>
            </a:r>
          </a:p>
          <a:p>
            <a:endParaRPr lang="es-AR" dirty="0"/>
          </a:p>
        </p:txBody>
      </p:sp>
    </p:spTree>
    <p:extLst>
      <p:ext uri="{BB962C8B-B14F-4D97-AF65-F5344CB8AC3E}">
        <p14:creationId xmlns:p14="http://schemas.microsoft.com/office/powerpoint/2010/main" val="4199412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Ventajas:</a:t>
            </a:r>
          </a:p>
        </p:txBody>
      </p:sp>
      <p:sp>
        <p:nvSpPr>
          <p:cNvPr id="3" name="Marcador de texto 2"/>
          <p:cNvSpPr>
            <a:spLocks noGrp="1"/>
          </p:cNvSpPr>
          <p:nvPr>
            <p:ph type="body" idx="1"/>
          </p:nvPr>
        </p:nvSpPr>
        <p:spPr>
          <a:xfrm>
            <a:off x="2483005" y="1140300"/>
            <a:ext cx="5676263" cy="2415900"/>
          </a:xfrm>
        </p:spPr>
        <p:txBody>
          <a:bodyPr/>
          <a:lstStyle/>
          <a:p>
            <a:r>
              <a:rPr lang="es-MX" b="1" dirty="0"/>
              <a:t>Mayor seguridad:</a:t>
            </a:r>
            <a:endParaRPr lang="es-MX" dirty="0"/>
          </a:p>
          <a:p>
            <a:pPr marL="146050" indent="0" fontAlgn="ctr">
              <a:buNone/>
            </a:pPr>
            <a:r>
              <a:rPr lang="es-MX" dirty="0"/>
              <a:t>La clave pública puede ser compartida libremente, mientras que la clave privada se mantiene en secreto, lo que dificulta el acceso no autorizado a la información. </a:t>
            </a:r>
          </a:p>
          <a:p>
            <a:r>
              <a:rPr lang="es-MX" b="1" dirty="0"/>
              <a:t>Autenticación:</a:t>
            </a:r>
            <a:endParaRPr lang="es-MX" dirty="0"/>
          </a:p>
          <a:p>
            <a:pPr marL="146050" indent="0" fontAlgn="ctr">
              <a:buNone/>
            </a:pPr>
            <a:r>
              <a:rPr lang="es-MX" dirty="0"/>
              <a:t>La firma digital, generada con la clave privada, permite verificar la identidad del remitente y la integridad del mensaje. </a:t>
            </a:r>
          </a:p>
          <a:p>
            <a:r>
              <a:rPr lang="es-MX" b="1" dirty="0"/>
              <a:t>No repudio:</a:t>
            </a:r>
            <a:endParaRPr lang="es-MX" dirty="0"/>
          </a:p>
          <a:p>
            <a:pPr marL="146050" indent="0" fontAlgn="ctr">
              <a:buNone/>
            </a:pPr>
            <a:r>
              <a:rPr lang="es-MX" dirty="0"/>
              <a:t>Al utilizar la clave privada para firmar, se impide que el remitente niegue haber enviado el mensaje. </a:t>
            </a:r>
          </a:p>
          <a:p>
            <a:r>
              <a:rPr lang="es-MX" b="1" dirty="0"/>
              <a:t>Canales seguros:</a:t>
            </a:r>
            <a:endParaRPr lang="es-MX" dirty="0"/>
          </a:p>
          <a:p>
            <a:pPr marL="146050" indent="0" fontAlgn="ctr">
              <a:buNone/>
            </a:pPr>
            <a:r>
              <a:rPr lang="es-MX" dirty="0"/>
              <a:t>Permite establecer conexiones seguras incluso en redes no confiables. </a:t>
            </a:r>
          </a:p>
          <a:p>
            <a:r>
              <a:rPr lang="es-MX" b="1" dirty="0"/>
              <a:t>Facilidad en la distribución de claves:</a:t>
            </a:r>
            <a:endParaRPr lang="es-MX" dirty="0"/>
          </a:p>
          <a:p>
            <a:pPr marL="146050" indent="0">
              <a:buNone/>
            </a:pPr>
            <a:r>
              <a:rPr lang="es-MX" dirty="0"/>
              <a:t>La clave pública puede ser compartida sin riesgos, simplificando la gestión de claves. </a:t>
            </a:r>
          </a:p>
          <a:p>
            <a:endParaRPr lang="es-AR" dirty="0"/>
          </a:p>
        </p:txBody>
      </p:sp>
    </p:spTree>
    <p:extLst>
      <p:ext uri="{BB962C8B-B14F-4D97-AF65-F5344CB8AC3E}">
        <p14:creationId xmlns:p14="http://schemas.microsoft.com/office/powerpoint/2010/main" val="3322197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Desventajas:</a:t>
            </a:r>
          </a:p>
        </p:txBody>
      </p:sp>
      <p:sp>
        <p:nvSpPr>
          <p:cNvPr id="3" name="Marcador de texto 2"/>
          <p:cNvSpPr>
            <a:spLocks noGrp="1"/>
          </p:cNvSpPr>
          <p:nvPr>
            <p:ph type="body" idx="1"/>
          </p:nvPr>
        </p:nvSpPr>
        <p:spPr>
          <a:xfrm>
            <a:off x="2100387" y="1281174"/>
            <a:ext cx="6463750" cy="2415900"/>
          </a:xfrm>
        </p:spPr>
        <p:txBody>
          <a:bodyPr/>
          <a:lstStyle/>
          <a:p>
            <a:r>
              <a:rPr lang="es-MX" b="1" dirty="0"/>
              <a:t>Lentitud:</a:t>
            </a:r>
            <a:endParaRPr lang="es-MX" dirty="0"/>
          </a:p>
          <a:p>
            <a:pPr marL="146050" indent="0">
              <a:buNone/>
            </a:pPr>
            <a:r>
              <a:rPr lang="es-MX" dirty="0"/>
              <a:t>Los algoritmos asimétricos son más lentos que los simétricos, especialmente para procesar grandes cantidades de datos.</a:t>
            </a:r>
          </a:p>
          <a:p>
            <a:r>
              <a:rPr lang="es-MX" b="1" dirty="0" smtClean="0"/>
              <a:t>Tamaño </a:t>
            </a:r>
            <a:r>
              <a:rPr lang="es-MX" b="1" dirty="0"/>
              <a:t>de clave:</a:t>
            </a:r>
            <a:endParaRPr lang="es-MX" dirty="0"/>
          </a:p>
          <a:p>
            <a:pPr marL="146050" indent="0">
              <a:buNone/>
            </a:pPr>
            <a:r>
              <a:rPr lang="es-MX" dirty="0"/>
              <a:t>Las claves asimétricas suelen ser más grandes que las simétricas, lo que puede afectar al rendimiento.</a:t>
            </a:r>
          </a:p>
          <a:p>
            <a:r>
              <a:rPr lang="es-MX" b="1" dirty="0"/>
              <a:t>Mayor consumo de recursos:</a:t>
            </a:r>
            <a:endParaRPr lang="es-MX" dirty="0"/>
          </a:p>
          <a:p>
            <a:pPr marL="146050" indent="0">
              <a:buNone/>
            </a:pPr>
            <a:r>
              <a:rPr lang="es-MX" dirty="0"/>
              <a:t>El procesamiento asimétrico requiere más poder computacional.</a:t>
            </a:r>
          </a:p>
          <a:p>
            <a:r>
              <a:rPr lang="es-MX" b="1" dirty="0"/>
              <a:t>Vulnerabilidades:</a:t>
            </a:r>
            <a:endParaRPr lang="es-MX" dirty="0"/>
          </a:p>
          <a:p>
            <a:pPr marL="146050" indent="0">
              <a:buNone/>
            </a:pPr>
            <a:r>
              <a:rPr lang="es-MX" dirty="0"/>
              <a:t>Aunque seguras, los algoritmos asimétricos no son inmunes a ataques, como los de intermediario. </a:t>
            </a:r>
          </a:p>
          <a:p>
            <a:endParaRPr lang="es-AR" dirty="0"/>
          </a:p>
        </p:txBody>
      </p:sp>
    </p:spTree>
    <p:extLst>
      <p:ext uri="{BB962C8B-B14F-4D97-AF65-F5344CB8AC3E}">
        <p14:creationId xmlns:p14="http://schemas.microsoft.com/office/powerpoint/2010/main" val="459886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Practica</a:t>
            </a:r>
            <a:endParaRPr lang="es-AR" dirty="0"/>
          </a:p>
        </p:txBody>
      </p:sp>
      <p:sp>
        <p:nvSpPr>
          <p:cNvPr id="3" name="Marcador de texto 2"/>
          <p:cNvSpPr>
            <a:spLocks noGrp="1"/>
          </p:cNvSpPr>
          <p:nvPr>
            <p:ph type="body" idx="1"/>
          </p:nvPr>
        </p:nvSpPr>
        <p:spPr>
          <a:xfrm>
            <a:off x="936702" y="1590908"/>
            <a:ext cx="7731512" cy="3303065"/>
          </a:xfrm>
        </p:spPr>
        <p:txBody>
          <a:bodyPr/>
          <a:lstStyle/>
          <a:p>
            <a:r>
              <a:rPr lang="es-MX" dirty="0" smtClean="0"/>
              <a:t>Comandos</a:t>
            </a:r>
          </a:p>
          <a:p>
            <a:r>
              <a:rPr lang="es-MX" dirty="0" smtClean="0"/>
              <a:t>Generar claves: </a:t>
            </a:r>
          </a:p>
          <a:p>
            <a:pPr marL="146050" indent="0">
              <a:buNone/>
            </a:pPr>
            <a:r>
              <a:rPr lang="es-AR" dirty="0"/>
              <a:t># Clave privada (guardar con cuidado)</a:t>
            </a:r>
          </a:p>
          <a:p>
            <a:pPr marL="146050" indent="0">
              <a:buNone/>
            </a:pPr>
            <a:r>
              <a:rPr lang="es-AR" dirty="0" err="1"/>
              <a:t>openssl</a:t>
            </a:r>
            <a:r>
              <a:rPr lang="es-AR" dirty="0"/>
              <a:t> </a:t>
            </a:r>
            <a:r>
              <a:rPr lang="es-AR" dirty="0" err="1"/>
              <a:t>genpkey</a:t>
            </a:r>
            <a:r>
              <a:rPr lang="es-AR" dirty="0"/>
              <a:t> -</a:t>
            </a:r>
            <a:r>
              <a:rPr lang="es-AR" dirty="0" err="1"/>
              <a:t>algorithm</a:t>
            </a:r>
            <a:r>
              <a:rPr lang="es-AR" dirty="0"/>
              <a:t> RSA -</a:t>
            </a:r>
            <a:r>
              <a:rPr lang="es-AR" dirty="0" err="1"/>
              <a:t>out</a:t>
            </a:r>
            <a:r>
              <a:rPr lang="es-AR" dirty="0"/>
              <a:t> </a:t>
            </a:r>
            <a:r>
              <a:rPr lang="es-AR" dirty="0" err="1"/>
              <a:t>privada.pem</a:t>
            </a:r>
            <a:r>
              <a:rPr lang="es-AR" dirty="0"/>
              <a:t> -</a:t>
            </a:r>
            <a:r>
              <a:rPr lang="es-AR" dirty="0" err="1"/>
              <a:t>pkeyopt</a:t>
            </a:r>
            <a:r>
              <a:rPr lang="es-AR" dirty="0"/>
              <a:t> </a:t>
            </a:r>
            <a:r>
              <a:rPr lang="es-AR" dirty="0" smtClean="0"/>
              <a:t>rsa_keygen_bits:2048</a:t>
            </a:r>
            <a:endParaRPr lang="es-AR" dirty="0"/>
          </a:p>
          <a:p>
            <a:pPr marL="146050" indent="0">
              <a:buNone/>
            </a:pPr>
            <a:r>
              <a:rPr lang="es-AR" dirty="0"/>
              <a:t># Clave pública (para compartir)</a:t>
            </a:r>
          </a:p>
          <a:p>
            <a:pPr marL="146050" indent="0">
              <a:buNone/>
            </a:pPr>
            <a:r>
              <a:rPr lang="es-AR" dirty="0" err="1"/>
              <a:t>openssl</a:t>
            </a:r>
            <a:r>
              <a:rPr lang="es-AR" dirty="0"/>
              <a:t> </a:t>
            </a:r>
            <a:r>
              <a:rPr lang="es-AR" dirty="0" err="1"/>
              <a:t>rsa</a:t>
            </a:r>
            <a:r>
              <a:rPr lang="es-AR" dirty="0"/>
              <a:t> -</a:t>
            </a:r>
            <a:r>
              <a:rPr lang="es-AR" dirty="0" err="1"/>
              <a:t>pubout</a:t>
            </a:r>
            <a:r>
              <a:rPr lang="es-AR" dirty="0"/>
              <a:t> -in </a:t>
            </a:r>
            <a:r>
              <a:rPr lang="es-AR" dirty="0" err="1"/>
              <a:t>privada.pem</a:t>
            </a:r>
            <a:r>
              <a:rPr lang="es-AR" dirty="0"/>
              <a:t> -</a:t>
            </a:r>
            <a:r>
              <a:rPr lang="es-AR" dirty="0" err="1"/>
              <a:t>out</a:t>
            </a:r>
            <a:r>
              <a:rPr lang="es-AR" dirty="0"/>
              <a:t> </a:t>
            </a:r>
            <a:r>
              <a:rPr lang="es-AR" smtClean="0"/>
              <a:t>publica.pem</a:t>
            </a:r>
            <a:endParaRPr lang="es-MX" dirty="0"/>
          </a:p>
          <a:p>
            <a:r>
              <a:rPr lang="es-MX" dirty="0"/>
              <a:t>Cifrar: </a:t>
            </a:r>
            <a:r>
              <a:rPr lang="es-MX" dirty="0" err="1"/>
              <a:t>openssl</a:t>
            </a:r>
            <a:r>
              <a:rPr lang="es-MX" dirty="0"/>
              <a:t> </a:t>
            </a:r>
            <a:r>
              <a:rPr lang="es-MX" dirty="0" err="1"/>
              <a:t>rsautl</a:t>
            </a:r>
            <a:r>
              <a:rPr lang="es-MX" dirty="0"/>
              <a:t> -</a:t>
            </a:r>
            <a:r>
              <a:rPr lang="es-MX" dirty="0" err="1"/>
              <a:t>encrypt</a:t>
            </a:r>
            <a:r>
              <a:rPr lang="es-MX" dirty="0"/>
              <a:t> -</a:t>
            </a:r>
            <a:r>
              <a:rPr lang="es-MX" dirty="0" err="1"/>
              <a:t>inkey</a:t>
            </a:r>
            <a:r>
              <a:rPr lang="es-MX" dirty="0"/>
              <a:t> </a:t>
            </a:r>
            <a:r>
              <a:rPr lang="es-MX" dirty="0" err="1"/>
              <a:t>publica_b.pem</a:t>
            </a:r>
            <a:r>
              <a:rPr lang="es-MX" dirty="0"/>
              <a:t> -</a:t>
            </a:r>
            <a:r>
              <a:rPr lang="es-MX" dirty="0" err="1"/>
              <a:t>pubin</a:t>
            </a:r>
            <a:r>
              <a:rPr lang="es-MX" dirty="0"/>
              <a:t> -in secreto.txt -</a:t>
            </a:r>
            <a:r>
              <a:rPr lang="es-MX" dirty="0" err="1"/>
              <a:t>out</a:t>
            </a:r>
            <a:r>
              <a:rPr lang="es-MX" dirty="0"/>
              <a:t> </a:t>
            </a:r>
            <a:r>
              <a:rPr lang="es-MX" dirty="0" err="1"/>
              <a:t>secreto.enc</a:t>
            </a:r>
            <a:endParaRPr lang="es-MX" dirty="0"/>
          </a:p>
          <a:p>
            <a:r>
              <a:rPr lang="es-MX" dirty="0"/>
              <a:t>Descifrar: </a:t>
            </a:r>
            <a:r>
              <a:rPr lang="es-MX" dirty="0" err="1"/>
              <a:t>openssl</a:t>
            </a:r>
            <a:r>
              <a:rPr lang="es-MX" dirty="0"/>
              <a:t> </a:t>
            </a:r>
            <a:r>
              <a:rPr lang="es-MX" dirty="0" err="1"/>
              <a:t>rsautl</a:t>
            </a:r>
            <a:r>
              <a:rPr lang="es-MX" dirty="0"/>
              <a:t> -</a:t>
            </a:r>
            <a:r>
              <a:rPr lang="es-MX" dirty="0" err="1"/>
              <a:t>decrypt</a:t>
            </a:r>
            <a:r>
              <a:rPr lang="es-MX" dirty="0"/>
              <a:t> -</a:t>
            </a:r>
            <a:r>
              <a:rPr lang="es-MX" dirty="0" err="1"/>
              <a:t>inkey</a:t>
            </a:r>
            <a:r>
              <a:rPr lang="es-MX" dirty="0"/>
              <a:t> </a:t>
            </a:r>
            <a:r>
              <a:rPr lang="es-MX" dirty="0" err="1"/>
              <a:t>privada_b.pem</a:t>
            </a:r>
            <a:r>
              <a:rPr lang="es-MX" dirty="0"/>
              <a:t> -in </a:t>
            </a:r>
            <a:r>
              <a:rPr lang="es-MX" dirty="0" err="1"/>
              <a:t>secreto.enc</a:t>
            </a:r>
            <a:r>
              <a:rPr lang="es-MX" dirty="0"/>
              <a:t> -</a:t>
            </a:r>
            <a:r>
              <a:rPr lang="es-MX" dirty="0" err="1"/>
              <a:t>out</a:t>
            </a:r>
            <a:r>
              <a:rPr lang="es-MX" dirty="0"/>
              <a:t> secreto_descifrado.txt</a:t>
            </a:r>
          </a:p>
          <a:p>
            <a:pPr marL="146050" indent="0">
              <a:buNone/>
            </a:pPr>
            <a:endParaRPr lang="es-AR" dirty="0"/>
          </a:p>
        </p:txBody>
      </p:sp>
    </p:spTree>
    <p:extLst>
      <p:ext uri="{BB962C8B-B14F-4D97-AF65-F5344CB8AC3E}">
        <p14:creationId xmlns:p14="http://schemas.microsoft.com/office/powerpoint/2010/main" val="2282818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Certificado Digital</a:t>
            </a:r>
            <a:endParaRPr lang="es-AR" dirty="0"/>
          </a:p>
        </p:txBody>
      </p:sp>
      <p:sp>
        <p:nvSpPr>
          <p:cNvPr id="3" name="Marcador de texto 2"/>
          <p:cNvSpPr>
            <a:spLocks noGrp="1"/>
          </p:cNvSpPr>
          <p:nvPr>
            <p:ph type="body" idx="1"/>
          </p:nvPr>
        </p:nvSpPr>
        <p:spPr>
          <a:xfrm>
            <a:off x="1297500" y="1972550"/>
            <a:ext cx="5906188" cy="2415900"/>
          </a:xfrm>
        </p:spPr>
        <p:txBody>
          <a:bodyPr/>
          <a:lstStyle/>
          <a:p>
            <a:pPr marL="146050" indent="0">
              <a:buNone/>
            </a:pPr>
            <a:r>
              <a:rPr lang="es-MX" sz="1500" dirty="0"/>
              <a:t>Un certificado digital es un archivo electrónico que valida la identidad de una persona, organización o sitio web en transacciones en línea. Utiliza criptografía para asegurar la comunicación y generar confianza.</a:t>
            </a:r>
            <a:endParaRPr lang="es-AR" sz="1500" dirty="0"/>
          </a:p>
        </p:txBody>
      </p:sp>
    </p:spTree>
    <p:extLst>
      <p:ext uri="{BB962C8B-B14F-4D97-AF65-F5344CB8AC3E}">
        <p14:creationId xmlns:p14="http://schemas.microsoft.com/office/powerpoint/2010/main" val="843246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Características principales:</a:t>
            </a:r>
            <a:endParaRPr lang="es-AR" dirty="0"/>
          </a:p>
        </p:txBody>
      </p:sp>
      <p:sp>
        <p:nvSpPr>
          <p:cNvPr id="3" name="Marcador de texto 2"/>
          <p:cNvSpPr>
            <a:spLocks noGrp="1"/>
          </p:cNvSpPr>
          <p:nvPr>
            <p:ph type="body" idx="1"/>
          </p:nvPr>
        </p:nvSpPr>
        <p:spPr>
          <a:xfrm>
            <a:off x="1297500" y="1459594"/>
            <a:ext cx="6567827" cy="2415900"/>
          </a:xfrm>
        </p:spPr>
        <p:txBody>
          <a:bodyPr/>
          <a:lstStyle/>
          <a:p>
            <a:pPr fontAlgn="ctr"/>
            <a:r>
              <a:rPr lang="es-MX" sz="1500" b="1" dirty="0"/>
              <a:t>Autenticación:</a:t>
            </a:r>
            <a:r>
              <a:rPr lang="es-MX" sz="1500" dirty="0"/>
              <a:t> Verifica la identidad de la entidad o persona en línea.  </a:t>
            </a:r>
          </a:p>
          <a:p>
            <a:pPr fontAlgn="ctr"/>
            <a:r>
              <a:rPr lang="es-MX" sz="1500" b="1" dirty="0"/>
              <a:t>Integridad:</a:t>
            </a:r>
            <a:r>
              <a:rPr lang="es-MX" sz="1500" dirty="0"/>
              <a:t> Asegura que la información no ha sido modificada durante la transmisión. </a:t>
            </a:r>
          </a:p>
          <a:p>
            <a:pPr fontAlgn="ctr"/>
            <a:r>
              <a:rPr lang="es-MX" sz="1500" b="1" dirty="0"/>
              <a:t>No Repudio:</a:t>
            </a:r>
            <a:r>
              <a:rPr lang="es-MX" sz="1500" dirty="0"/>
              <a:t> La entidad que emite el certificado no puede negar su autoría o responsabilidad. </a:t>
            </a:r>
          </a:p>
          <a:p>
            <a:pPr fontAlgn="ctr"/>
            <a:r>
              <a:rPr lang="es-MX" sz="1500" b="1" dirty="0"/>
              <a:t>Validez:</a:t>
            </a:r>
            <a:r>
              <a:rPr lang="es-MX" sz="1500" dirty="0"/>
              <a:t> Tiene una fecha de expiración, por lo que requiere renovación periódica. </a:t>
            </a:r>
          </a:p>
          <a:p>
            <a:r>
              <a:rPr lang="es-MX" sz="1500" b="1" dirty="0"/>
              <a:t>Autoridad Certificadora (CA):</a:t>
            </a:r>
            <a:r>
              <a:rPr lang="es-MX" sz="1500" dirty="0"/>
              <a:t> Es emitida por una CA, que valida la información y la firma digitalmente. </a:t>
            </a:r>
          </a:p>
          <a:p>
            <a:endParaRPr lang="es-AR" dirty="0"/>
          </a:p>
        </p:txBody>
      </p:sp>
    </p:spTree>
    <p:extLst>
      <p:ext uri="{BB962C8B-B14F-4D97-AF65-F5344CB8AC3E}">
        <p14:creationId xmlns:p14="http://schemas.microsoft.com/office/powerpoint/2010/main" val="468510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45461" y="185594"/>
            <a:ext cx="3798900" cy="1493100"/>
          </a:xfrm>
        </p:spPr>
        <p:txBody>
          <a:bodyPr/>
          <a:lstStyle/>
          <a:p>
            <a:r>
              <a:rPr lang="es-AR" dirty="0"/>
              <a:t>Tipos de certificados digitales:</a:t>
            </a:r>
            <a:endParaRPr lang="es-AR" dirty="0"/>
          </a:p>
        </p:txBody>
      </p:sp>
      <p:sp>
        <p:nvSpPr>
          <p:cNvPr id="3" name="Marcador de texto 2"/>
          <p:cNvSpPr>
            <a:spLocks noGrp="1"/>
          </p:cNvSpPr>
          <p:nvPr>
            <p:ph type="body" idx="1"/>
          </p:nvPr>
        </p:nvSpPr>
        <p:spPr>
          <a:xfrm>
            <a:off x="1007568" y="1868473"/>
            <a:ext cx="7147690" cy="2415900"/>
          </a:xfrm>
        </p:spPr>
        <p:txBody>
          <a:bodyPr/>
          <a:lstStyle/>
          <a:p>
            <a:pPr fontAlgn="ctr"/>
            <a:r>
              <a:rPr lang="es-MX" sz="1500" b="1" u="sng" dirty="0">
                <a:solidFill>
                  <a:schemeClr val="bg1"/>
                </a:solidFill>
                <a:hlinkClick r:id="rId2"/>
              </a:rPr>
              <a:t>Certificados de Validación de Dominio (DV)</a:t>
            </a:r>
            <a:r>
              <a:rPr lang="es-MX" sz="1500" b="1" u="sng" dirty="0">
                <a:solidFill>
                  <a:schemeClr val="bg1"/>
                </a:solidFill>
              </a:rPr>
              <a:t>:</a:t>
            </a:r>
            <a:r>
              <a:rPr lang="es-MX" sz="1500" dirty="0"/>
              <a:t> Ofrecen cifrado básico y verifican la titularidad del nombre de dominio. </a:t>
            </a:r>
          </a:p>
          <a:p>
            <a:pPr fontAlgn="ctr"/>
            <a:r>
              <a:rPr lang="es-MX" sz="1500" b="1" dirty="0" smtClean="0">
                <a:hlinkClick r:id="rId3"/>
              </a:rPr>
              <a:t>Certificados </a:t>
            </a:r>
            <a:r>
              <a:rPr lang="es-MX" sz="1500" b="1" dirty="0">
                <a:hlinkClick r:id="rId3"/>
              </a:rPr>
              <a:t>de Firma de Código</a:t>
            </a:r>
            <a:r>
              <a:rPr lang="es-MX" sz="1500" b="1" dirty="0"/>
              <a:t>:</a:t>
            </a:r>
            <a:r>
              <a:rPr lang="es-MX" sz="1500" dirty="0"/>
              <a:t> Utilizados para firmar digitalmente software y archivos, verificando su origen. </a:t>
            </a:r>
          </a:p>
          <a:p>
            <a:r>
              <a:rPr lang="es-MX" sz="1500" b="1" dirty="0">
                <a:hlinkClick r:id="rId4"/>
              </a:rPr>
              <a:t>Certificados de Cliente</a:t>
            </a:r>
            <a:r>
              <a:rPr lang="es-MX" sz="1500" b="1" dirty="0"/>
              <a:t>:</a:t>
            </a:r>
            <a:r>
              <a:rPr lang="es-MX" sz="1500" dirty="0"/>
              <a:t> Permiten la autenticación de usuarios y dispositivos en redes y sistemas. </a:t>
            </a:r>
          </a:p>
          <a:p>
            <a:endParaRPr lang="es-AR" dirty="0"/>
          </a:p>
        </p:txBody>
      </p:sp>
    </p:spTree>
    <p:extLst>
      <p:ext uri="{BB962C8B-B14F-4D97-AF65-F5344CB8AC3E}">
        <p14:creationId xmlns:p14="http://schemas.microsoft.com/office/powerpoint/2010/main" val="1732107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Ejemplos de uso:</a:t>
            </a:r>
            <a:endParaRPr lang="es-AR" dirty="0"/>
          </a:p>
        </p:txBody>
      </p:sp>
      <p:sp>
        <p:nvSpPr>
          <p:cNvPr id="3" name="Marcador de texto 2"/>
          <p:cNvSpPr>
            <a:spLocks noGrp="1"/>
          </p:cNvSpPr>
          <p:nvPr>
            <p:ph type="body" idx="1"/>
          </p:nvPr>
        </p:nvSpPr>
        <p:spPr>
          <a:xfrm>
            <a:off x="1208289" y="1140300"/>
            <a:ext cx="6753681" cy="2703154"/>
          </a:xfrm>
        </p:spPr>
        <p:txBody>
          <a:bodyPr/>
          <a:lstStyle/>
          <a:p>
            <a:r>
              <a:rPr lang="es-MX" b="1" dirty="0"/>
              <a:t>Trámites con la administración pública:</a:t>
            </a:r>
            <a:endParaRPr lang="es-MX" dirty="0"/>
          </a:p>
          <a:p>
            <a:pPr marL="146050" indent="0" fontAlgn="ctr">
              <a:buNone/>
            </a:pPr>
            <a:r>
              <a:rPr lang="es-MX" dirty="0"/>
              <a:t>Permite realizar trámites online de forma segura con entidades gubernamentales. </a:t>
            </a:r>
          </a:p>
          <a:p>
            <a:r>
              <a:rPr lang="es-MX" b="1" dirty="0"/>
              <a:t>Firmas electrónicas:</a:t>
            </a:r>
            <a:endParaRPr lang="es-MX" dirty="0"/>
          </a:p>
          <a:p>
            <a:pPr marL="146050" indent="0" fontAlgn="ctr">
              <a:buNone/>
            </a:pPr>
            <a:r>
              <a:rPr lang="es-MX" dirty="0"/>
              <a:t>Permite firmar contratos, documentos y transacciones con validez legal. </a:t>
            </a:r>
          </a:p>
          <a:p>
            <a:r>
              <a:rPr lang="es-MX" b="1" dirty="0"/>
              <a:t>Acceso a plataformas y servicios:</a:t>
            </a:r>
            <a:endParaRPr lang="es-MX" dirty="0"/>
          </a:p>
          <a:p>
            <a:pPr marL="146050" indent="0" fontAlgn="ctr">
              <a:buNone/>
            </a:pPr>
            <a:r>
              <a:rPr lang="es-MX" dirty="0"/>
              <a:t>Se utiliza para autenticarse en plataformas online, como banca online, servicios de salud, etc. </a:t>
            </a:r>
          </a:p>
          <a:p>
            <a:r>
              <a:rPr lang="es-MX" b="1" dirty="0"/>
              <a:t>Navegación segura:</a:t>
            </a:r>
            <a:endParaRPr lang="es-MX" dirty="0"/>
          </a:p>
          <a:p>
            <a:pPr marL="146050" indent="0" fontAlgn="ctr">
              <a:buNone/>
            </a:pPr>
            <a:r>
              <a:rPr lang="es-MX" dirty="0"/>
              <a:t>Los certificados SSL/TLS protegen la comunicación entre el navegador y el sitio web. </a:t>
            </a:r>
          </a:p>
          <a:p>
            <a:r>
              <a:rPr lang="es-MX" b="1" dirty="0"/>
              <a:t>Software y descargas:</a:t>
            </a:r>
            <a:endParaRPr lang="es-MX" dirty="0"/>
          </a:p>
          <a:p>
            <a:pPr marL="146050" indent="0">
              <a:buNone/>
            </a:pPr>
            <a:r>
              <a:rPr lang="es-MX" dirty="0"/>
              <a:t>Los certificados de firma de código garantizan la autenticidad del software descargado. </a:t>
            </a:r>
          </a:p>
          <a:p>
            <a:endParaRPr lang="es-AR" dirty="0"/>
          </a:p>
        </p:txBody>
      </p:sp>
    </p:spTree>
    <p:extLst>
      <p:ext uri="{BB962C8B-B14F-4D97-AF65-F5344CB8AC3E}">
        <p14:creationId xmlns:p14="http://schemas.microsoft.com/office/powerpoint/2010/main" val="1518064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2"/>
          <p:cNvSpPr txBox="1">
            <a:spLocks noGrp="1"/>
          </p:cNvSpPr>
          <p:nvPr>
            <p:ph type="title"/>
          </p:nvPr>
        </p:nvSpPr>
        <p:spPr>
          <a:xfrm>
            <a:off x="2936900" y="1825200"/>
            <a:ext cx="3798900" cy="149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3000"/>
              <a:t>Muchas Gracias!</a:t>
            </a:r>
            <a:endParaRPr sz="3000"/>
          </a:p>
        </p:txBody>
      </p:sp>
      <p:sp>
        <p:nvSpPr>
          <p:cNvPr id="332" name="Google Shape;332;p32"/>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TotalTime>
  <Words>1066</Words>
  <Application>Microsoft Office PowerPoint</Application>
  <PresentationFormat>Presentación en pantalla (16:9)</PresentationFormat>
  <Paragraphs>154</Paragraphs>
  <Slides>29</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Lato</vt:lpstr>
      <vt:lpstr>Arial</vt:lpstr>
      <vt:lpstr>Montserrat</vt:lpstr>
      <vt:lpstr>Average</vt:lpstr>
      <vt:lpstr>Focus</vt:lpstr>
      <vt:lpstr>Criptografía simétrica y asimétrica</vt:lpstr>
      <vt:lpstr>Presentación de PowerPoint</vt:lpstr>
      <vt:lpstr>Procedimiento Criptografía Simétrica</vt:lpstr>
      <vt:lpstr>Procedimiento Criptografía Simétrica </vt:lpstr>
      <vt:lpstr>Principales algoritmos (DES)</vt:lpstr>
      <vt:lpstr>Principales algoritmos (DES)</vt:lpstr>
      <vt:lpstr>Principales algoritmos (DES)</vt:lpstr>
      <vt:lpstr>Principales algoritmos (AES)</vt:lpstr>
      <vt:lpstr>Principales algoritmos (AES)</vt:lpstr>
      <vt:lpstr>Principales algoritmos (AES)</vt:lpstr>
      <vt:lpstr>Ventajas:</vt:lpstr>
      <vt:lpstr>Desventajas:</vt:lpstr>
      <vt:lpstr>Ejemplos:</vt:lpstr>
      <vt:lpstr>Practica</vt:lpstr>
      <vt:lpstr>Presentación de PowerPoint</vt:lpstr>
      <vt:lpstr>Procedimiento Criptografía Asimétrica</vt:lpstr>
      <vt:lpstr>Procedimiento Criptografía Asimétrica </vt:lpstr>
      <vt:lpstr>Principales algoritmos (RSA)</vt:lpstr>
      <vt:lpstr>Principales algoritmos (RSA)</vt:lpstr>
      <vt:lpstr>¿Cómo funciona? </vt:lpstr>
      <vt:lpstr>Proceso de generación de claves: </vt:lpstr>
      <vt:lpstr>Ventajas:</vt:lpstr>
      <vt:lpstr>Desventajas:</vt:lpstr>
      <vt:lpstr>Practica</vt:lpstr>
      <vt:lpstr>Certificado Digital</vt:lpstr>
      <vt:lpstr>Características principales:</vt:lpstr>
      <vt:lpstr>Tipos de certificados digitales:</vt:lpstr>
      <vt:lpstr>Ejemplos de uso:</vt:lpstr>
      <vt:lpstr>Muchas Gracias!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Criptografía simétrica y asimétrica</dc:title>
  <cp:lastModifiedBy>Mariano</cp:lastModifiedBy>
  <cp:revision>11</cp:revision>
  <dcterms:modified xsi:type="dcterms:W3CDTF">2025-08-01T19:02:04Z</dcterms:modified>
</cp:coreProperties>
</file>