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8" r:id="rId3"/>
    <p:sldId id="261" r:id="rId4"/>
    <p:sldId id="262" r:id="rId5"/>
    <p:sldId id="263" r:id="rId6"/>
    <p:sldId id="274" r:id="rId7"/>
    <p:sldId id="275" r:id="rId8"/>
    <p:sldId id="276" r:id="rId9"/>
    <p:sldId id="277" r:id="rId10"/>
    <p:sldId id="278" r:id="rId11"/>
    <p:sldId id="281" r:id="rId12"/>
    <p:sldId id="279" r:id="rId13"/>
    <p:sldId id="280" r:id="rId14"/>
    <p:sldId id="282" r:id="rId15"/>
    <p:sldId id="283" r:id="rId16"/>
    <p:sldId id="284" r:id="rId17"/>
    <p:sldId id="285" r:id="rId18"/>
    <p:sldId id="286" r:id="rId19"/>
    <p:sldId id="287" r:id="rId20"/>
    <p:sldId id="288" r:id="rId21"/>
    <p:sldId id="289" r:id="rId22"/>
    <p:sldId id="290" r:id="rId23"/>
    <p:sldId id="273"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Gill Sans"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gRsv/yEuYVlJLWJEnGbw0W7Gs8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5042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6467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4175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16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8" name="Google Shape;1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1175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8"/>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8"/>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8"/>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2"/>
        <p:cNvGrpSpPr/>
        <p:nvPr/>
      </p:nvGrpSpPr>
      <p:grpSpPr>
        <a:xfrm>
          <a:off x="0" y="0"/>
          <a:ext cx="0" cy="0"/>
          <a:chOff x="0" y="0"/>
          <a:chExt cx="0" cy="0"/>
        </a:xfrm>
      </p:grpSpPr>
      <p:sp>
        <p:nvSpPr>
          <p:cNvPr id="33" name="Google Shape;33;p10"/>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10"/>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6" name="Google Shape;36;p10"/>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7" name="Google Shape;37;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0"/>
        <p:cNvGrpSpPr/>
        <p:nvPr/>
      </p:nvGrpSpPr>
      <p:grpSpPr>
        <a:xfrm>
          <a:off x="0" y="0"/>
          <a:ext cx="0" cy="0"/>
          <a:chOff x="0" y="0"/>
          <a:chExt cx="0" cy="0"/>
        </a:xfrm>
      </p:grpSpPr>
      <p:sp>
        <p:nvSpPr>
          <p:cNvPr id="41" name="Google Shape;41;p1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44" name="Google Shape;44;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1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2"/>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12"/>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12"/>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12"/>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1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13"/>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3"/>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1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15"/>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5"/>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15"/>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a:spLocks noGrp="1"/>
          </p:cNvSpPr>
          <p:nvPr>
            <p:ph type="pic" idx="2"/>
          </p:nvPr>
        </p:nvSpPr>
        <p:spPr>
          <a:xfrm>
            <a:off x="447817" y="599725"/>
            <a:ext cx="11290859" cy="3557252"/>
          </a:xfrm>
          <a:prstGeom prst="rect">
            <a:avLst/>
          </a:prstGeom>
          <a:noFill/>
          <a:ln>
            <a:noFill/>
          </a:ln>
        </p:spPr>
      </p:sp>
      <p:sp>
        <p:nvSpPr>
          <p:cNvPr id="78" name="Google Shape;78;p16"/>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17"/>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7"/>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18"/>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8"/>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8"/>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18"/>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8"/>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8"/>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7"/>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7"/>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7"/>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virtualbox.org/"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02" name="Google Shape;102;p1" descr="Conexiones digitales"/>
          <p:cNvPicPr preferRelativeResize="0"/>
          <p:nvPr/>
        </p:nvPicPr>
        <p:blipFill rotWithShape="1">
          <a:blip r:embed="rId3">
            <a:alphaModFix/>
          </a:blip>
          <a:srcRect l="13265" t="9089" r="3502"/>
          <a:stretch/>
        </p:blipFill>
        <p:spPr>
          <a:xfrm>
            <a:off x="20" y="10"/>
            <a:ext cx="12191980" cy="6857990"/>
          </a:xfrm>
          <a:prstGeom prst="rect">
            <a:avLst/>
          </a:prstGeom>
          <a:noFill/>
          <a:ln>
            <a:noFill/>
          </a:ln>
        </p:spPr>
      </p:pic>
      <p:grpSp>
        <p:nvGrpSpPr>
          <p:cNvPr id="103" name="Google Shape;103;p1"/>
          <p:cNvGrpSpPr/>
          <p:nvPr/>
        </p:nvGrpSpPr>
        <p:grpSpPr>
          <a:xfrm>
            <a:off x="446534" y="453643"/>
            <a:ext cx="11298933" cy="98554"/>
            <a:chOff x="446534" y="453643"/>
            <a:chExt cx="11298933" cy="98554"/>
          </a:xfrm>
        </p:grpSpPr>
        <p:sp>
          <p:nvSpPr>
            <p:cNvPr id="104" name="Google Shape;104;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7" name="Google Shape;107;p1"/>
          <p:cNvSpPr/>
          <p:nvPr/>
        </p:nvSpPr>
        <p:spPr>
          <a:xfrm>
            <a:off x="446534" y="5864656"/>
            <a:ext cx="11260667" cy="595931"/>
          </a:xfrm>
          <a:prstGeom prst="rect">
            <a:avLst/>
          </a:prstGeom>
          <a:solidFill>
            <a:schemeClr val="accent1">
              <a:alpha val="9607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
          <p:cNvSpPr txBox="1">
            <a:spLocks noGrp="1"/>
          </p:cNvSpPr>
          <p:nvPr>
            <p:ph type="ctrTitle"/>
          </p:nvPr>
        </p:nvSpPr>
        <p:spPr>
          <a:xfrm>
            <a:off x="581191" y="4572000"/>
            <a:ext cx="10993549" cy="895244"/>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4500"/>
              <a:buFont typeface="Gill Sans"/>
              <a:buNone/>
            </a:pPr>
            <a:r>
              <a:rPr lang="es-ES" sz="4500">
                <a:solidFill>
                  <a:schemeClr val="lt1"/>
                </a:solidFill>
              </a:rPr>
              <a:t>Seguridad en los Sistemas de Información  </a:t>
            </a:r>
            <a:r>
              <a:rPr lang="es-ES" sz="4000">
                <a:solidFill>
                  <a:schemeClr val="lt1"/>
                </a:solidFill>
              </a:rPr>
              <a:t>UNIVERSIDAD TECNOLÓGICA NACIONAL </a:t>
            </a:r>
            <a:r>
              <a:rPr lang="es-ES" sz="4500">
                <a:solidFill>
                  <a:schemeClr val="lt1"/>
                </a:solidFill>
              </a:rPr>
              <a:t>AÑO 2022</a:t>
            </a:r>
            <a:endParaRPr sz="4500">
              <a:solidFill>
                <a:schemeClr val="lt1"/>
              </a:solidFill>
            </a:endParaRPr>
          </a:p>
        </p:txBody>
      </p:sp>
      <p:sp>
        <p:nvSpPr>
          <p:cNvPr id="109" name="Google Shape;109;p1"/>
          <p:cNvSpPr txBox="1">
            <a:spLocks noGrp="1"/>
          </p:cNvSpPr>
          <p:nvPr>
            <p:ph type="subTitle" idx="1"/>
          </p:nvPr>
        </p:nvSpPr>
        <p:spPr>
          <a:xfrm>
            <a:off x="580094" y="5896821"/>
            <a:ext cx="10993546" cy="48482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sz="2400">
                <a:solidFill>
                  <a:schemeClr val="lt1"/>
                </a:solidFill>
              </a:rPr>
              <a:t>ING. LEONARDO MATIAS ARRIGONI</a:t>
            </a:r>
            <a:endParaRPr sz="2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pic>
        <p:nvPicPr>
          <p:cNvPr id="133" name="Google Shape;133;p3"/>
          <p:cNvPicPr preferRelativeResize="0"/>
          <p:nvPr/>
        </p:nvPicPr>
        <p:blipFill rotWithShape="1">
          <a:blip r:embed="rId3">
            <a:alphaModFix/>
          </a:blip>
          <a:srcRect/>
          <a:stretch/>
        </p:blipFill>
        <p:spPr>
          <a:xfrm>
            <a:off x="731519" y="1971148"/>
            <a:ext cx="10879289" cy="4404853"/>
          </a:xfrm>
          <a:prstGeom prst="rect">
            <a:avLst/>
          </a:prstGeom>
          <a:noFill/>
          <a:ln>
            <a:noFill/>
          </a:ln>
        </p:spPr>
      </p:pic>
      <p:sp>
        <p:nvSpPr>
          <p:cNvPr id="134" name="Google Shape;134;p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a:t>Seguridad en los Sistemas de Información</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a:t>Virtualización</a:t>
            </a:r>
            <a:endParaRPr sz="3200" dirty="0"/>
          </a:p>
        </p:txBody>
      </p:sp>
      <p:pic>
        <p:nvPicPr>
          <p:cNvPr id="3" name="Imagen 2">
            <a:extLst>
              <a:ext uri="{FF2B5EF4-FFF2-40B4-BE49-F238E27FC236}">
                <a16:creationId xmlns:a16="http://schemas.microsoft.com/office/drawing/2014/main" id="{8936976F-3739-156F-775D-AAC6DD8FFFAC}"/>
              </a:ext>
            </a:extLst>
          </p:cNvPr>
          <p:cNvPicPr>
            <a:picLocks noChangeAspect="1"/>
          </p:cNvPicPr>
          <p:nvPr/>
        </p:nvPicPr>
        <p:blipFill>
          <a:blip r:embed="rId3"/>
          <a:stretch>
            <a:fillRect/>
          </a:stretch>
        </p:blipFill>
        <p:spPr>
          <a:xfrm>
            <a:off x="366712" y="1957145"/>
            <a:ext cx="5972175" cy="4400550"/>
          </a:xfrm>
          <a:prstGeom prst="rect">
            <a:avLst/>
          </a:prstGeom>
        </p:spPr>
      </p:pic>
      <p:pic>
        <p:nvPicPr>
          <p:cNvPr id="5" name="Imagen 4">
            <a:extLst>
              <a:ext uri="{FF2B5EF4-FFF2-40B4-BE49-F238E27FC236}">
                <a16:creationId xmlns:a16="http://schemas.microsoft.com/office/drawing/2014/main" id="{8B7E942F-813D-BD77-2DCF-81A252057768}"/>
              </a:ext>
            </a:extLst>
          </p:cNvPr>
          <p:cNvPicPr>
            <a:picLocks noChangeAspect="1"/>
          </p:cNvPicPr>
          <p:nvPr/>
        </p:nvPicPr>
        <p:blipFill>
          <a:blip r:embed="rId4"/>
          <a:stretch>
            <a:fillRect/>
          </a:stretch>
        </p:blipFill>
        <p:spPr>
          <a:xfrm>
            <a:off x="6352015" y="2978096"/>
            <a:ext cx="5473273" cy="23586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title"/>
          </p:nvPr>
        </p:nvSpPr>
        <p:spPr>
          <a:xfrm>
            <a:off x="673609"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1800"/>
              <a:buNone/>
            </a:pPr>
            <a:r>
              <a:rPr lang="es-ES" sz="2800" dirty="0"/>
              <a:t>Virtualización</a:t>
            </a:r>
            <a:endParaRPr dirty="0"/>
          </a:p>
        </p:txBody>
      </p:sp>
      <p:sp>
        <p:nvSpPr>
          <p:cNvPr id="164" name="Google Shape;164;p22"/>
          <p:cNvSpPr txBox="1">
            <a:spLocks noGrp="1"/>
          </p:cNvSpPr>
          <p:nvPr>
            <p:ph type="body" idx="1"/>
          </p:nvPr>
        </p:nvSpPr>
        <p:spPr>
          <a:xfrm>
            <a:off x="581193" y="2228004"/>
            <a:ext cx="10825560" cy="3900338"/>
          </a:xfrm>
          <a:prstGeom prst="rect">
            <a:avLst/>
          </a:prstGeom>
          <a:noFill/>
          <a:ln>
            <a:noFill/>
          </a:ln>
        </p:spPr>
        <p:txBody>
          <a:bodyPr spcFirstLastPara="1" wrap="square" lIns="91425" tIns="45700" rIns="91425" bIns="45700" anchor="ctr" anchorCtr="0">
            <a:normAutofit/>
          </a:bodyPr>
          <a:lstStyle/>
          <a:p>
            <a:pPr algn="l"/>
            <a:r>
              <a:rPr lang="es-AR" sz="2400" b="0" i="0" dirty="0">
                <a:solidFill>
                  <a:srgbClr val="4C4C51"/>
                </a:solidFill>
                <a:effectLst/>
                <a:latin typeface="+mn-lt"/>
              </a:rPr>
              <a:t>La virtualización crea un entorno informático simulado, o virtual, en lugar de un entorno físico. A menudo, incluye versiones de hardware, sistemas operativos, dispositivos de almacenamiento, etc., generadas por un equipo. </a:t>
            </a:r>
          </a:p>
          <a:p>
            <a:pPr algn="l"/>
            <a:endParaRPr lang="es-AR" sz="2400" b="0" i="0" dirty="0">
              <a:solidFill>
                <a:srgbClr val="4C4C51"/>
              </a:solidFill>
              <a:effectLst/>
              <a:latin typeface="+mn-lt"/>
            </a:endParaRPr>
          </a:p>
          <a:p>
            <a:pPr algn="l"/>
            <a:r>
              <a:rPr lang="es-AR" sz="2400" b="0" i="0" dirty="0">
                <a:solidFill>
                  <a:srgbClr val="4C4C51"/>
                </a:solidFill>
                <a:effectLst/>
                <a:latin typeface="+mn-lt"/>
              </a:rPr>
              <a:t>Esto permite a las organizaciones particionar un equipo o servidor físico en varias máquinas virtuales</a:t>
            </a:r>
            <a:r>
              <a:rPr lang="es-AR" sz="2400" b="1" i="0" dirty="0">
                <a:solidFill>
                  <a:srgbClr val="4C4C51"/>
                </a:solidFill>
                <a:effectLst/>
                <a:latin typeface="+mn-lt"/>
              </a:rPr>
              <a:t>. </a:t>
            </a:r>
            <a:r>
              <a:rPr lang="es-AR" sz="2400" b="0" i="0" dirty="0">
                <a:solidFill>
                  <a:srgbClr val="4C4C51"/>
                </a:solidFill>
                <a:effectLst/>
                <a:latin typeface="+mn-lt"/>
              </a:rPr>
              <a:t>Cada máquina virtual puede interactuar de forma independiente y ejecutar sistemas operativos o aplicaciones diferentes mientras comparten los recursos de una sola máquina host.</a:t>
            </a:r>
          </a:p>
          <a:p>
            <a:pPr marL="123444" lvl="0" indent="0" algn="l" rtl="0">
              <a:lnSpc>
                <a:spcPct val="100000"/>
              </a:lnSpc>
              <a:spcBef>
                <a:spcPts val="360"/>
              </a:spcBef>
              <a:spcAft>
                <a:spcPts val="0"/>
              </a:spcAft>
              <a:buSzPts val="1656"/>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de Servidor</a:t>
            </a:r>
            <a:endParaRPr dirty="0">
              <a:solidFill>
                <a:schemeClr val="lt1"/>
              </a:solidFill>
            </a:endParaRPr>
          </a:p>
        </p:txBody>
      </p:sp>
      <p:pic>
        <p:nvPicPr>
          <p:cNvPr id="7" name="Imagen 6">
            <a:extLst>
              <a:ext uri="{FF2B5EF4-FFF2-40B4-BE49-F238E27FC236}">
                <a16:creationId xmlns:a16="http://schemas.microsoft.com/office/drawing/2014/main" id="{F34FD712-329C-3419-1976-F0949F294A59}"/>
              </a:ext>
            </a:extLst>
          </p:cNvPr>
          <p:cNvPicPr>
            <a:picLocks noChangeAspect="1"/>
          </p:cNvPicPr>
          <p:nvPr/>
        </p:nvPicPr>
        <p:blipFill>
          <a:blip r:embed="rId3"/>
          <a:stretch>
            <a:fillRect/>
          </a:stretch>
        </p:blipFill>
        <p:spPr>
          <a:xfrm>
            <a:off x="756423" y="2256126"/>
            <a:ext cx="6403809" cy="2685889"/>
          </a:xfrm>
          <a:prstGeom prst="rect">
            <a:avLst/>
          </a:prstGeom>
        </p:spPr>
      </p:pic>
      <p:pic>
        <p:nvPicPr>
          <p:cNvPr id="9" name="Imagen 8">
            <a:extLst>
              <a:ext uri="{FF2B5EF4-FFF2-40B4-BE49-F238E27FC236}">
                <a16:creationId xmlns:a16="http://schemas.microsoft.com/office/drawing/2014/main" id="{1EA0A952-9D0B-F344-FF4E-C008054FAAC5}"/>
              </a:ext>
            </a:extLst>
          </p:cNvPr>
          <p:cNvPicPr>
            <a:picLocks noChangeAspect="1"/>
          </p:cNvPicPr>
          <p:nvPr/>
        </p:nvPicPr>
        <p:blipFill>
          <a:blip r:embed="rId4"/>
          <a:stretch>
            <a:fillRect/>
          </a:stretch>
        </p:blipFill>
        <p:spPr>
          <a:xfrm>
            <a:off x="7546949" y="1965763"/>
            <a:ext cx="4338080" cy="2976252"/>
          </a:xfrm>
          <a:prstGeom prst="rect">
            <a:avLst/>
          </a:prstGeom>
        </p:spPr>
      </p:pic>
      <p:sp>
        <p:nvSpPr>
          <p:cNvPr id="10" name="CuadroTexto 9">
            <a:extLst>
              <a:ext uri="{FF2B5EF4-FFF2-40B4-BE49-F238E27FC236}">
                <a16:creationId xmlns:a16="http://schemas.microsoft.com/office/drawing/2014/main" id="{A04286C7-4FEB-3F53-7B5A-AFE43CF62318}"/>
              </a:ext>
            </a:extLst>
          </p:cNvPr>
          <p:cNvSpPr txBox="1"/>
          <p:nvPr/>
        </p:nvSpPr>
        <p:spPr>
          <a:xfrm>
            <a:off x="449451" y="5083449"/>
            <a:ext cx="11161358" cy="1631216"/>
          </a:xfrm>
          <a:prstGeom prst="rect">
            <a:avLst/>
          </a:prstGeom>
          <a:noFill/>
        </p:spPr>
        <p:txBody>
          <a:bodyPr wrap="square" rtlCol="0">
            <a:spAutoFit/>
          </a:bodyPr>
          <a:lstStyle/>
          <a:p>
            <a:r>
              <a:rPr lang="es-AR" sz="2000" b="0" i="0" dirty="0">
                <a:solidFill>
                  <a:srgbClr val="2C2F34"/>
                </a:solidFill>
                <a:effectLst/>
                <a:latin typeface="Arial" panose="020B0604020202020204" pitchFamily="34" charset="0"/>
                <a:cs typeface="Arial" panose="020B0604020202020204" pitchFamily="34" charset="0"/>
              </a:rPr>
              <a:t>Este es el </a:t>
            </a:r>
            <a:r>
              <a:rPr lang="es-AR" sz="2000" b="1" i="0" dirty="0">
                <a:solidFill>
                  <a:srgbClr val="2C2F34"/>
                </a:solidFill>
                <a:effectLst/>
                <a:latin typeface="Arial" panose="020B0604020202020204" pitchFamily="34" charset="0"/>
                <a:cs typeface="Arial" panose="020B0604020202020204" pitchFamily="34" charset="0"/>
              </a:rPr>
              <a:t>método más común y más utilizados en el entorno de servidores</a:t>
            </a:r>
            <a:r>
              <a:rPr lang="es-AR" sz="2000" b="0" i="0" dirty="0">
                <a:solidFill>
                  <a:srgbClr val="2C2F34"/>
                </a:solidFill>
                <a:effectLst/>
                <a:latin typeface="Arial" panose="020B0604020202020204" pitchFamily="34" charset="0"/>
                <a:cs typeface="Arial" panose="020B0604020202020204" pitchFamily="34" charset="0"/>
              </a:rPr>
              <a:t> de empresas. El proceso consiste en crear servidores virtuales más pequeños. El procedimiento consiste en crear diferentes servidores virtuales pequeños o que utilicen pocos recursos en un servidor físico de mayor tamaño y con un hardware potente. De esta forma estas máquinas independientes unas de otras se reparten los recursos hardware para funcionar de forma eficiente.</a:t>
            </a: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a:t>
            </a:r>
            <a:r>
              <a:rPr lang="es-ES" dirty="0"/>
              <a:t>por Software o Sistema Operativo</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2053377"/>
            <a:ext cx="7935132" cy="3170099"/>
          </a:xfrm>
          <a:prstGeom prst="rect">
            <a:avLst/>
          </a:prstGeom>
          <a:noFill/>
        </p:spPr>
        <p:txBody>
          <a:bodyPr wrap="square" rtlCol="0">
            <a:spAutoFit/>
          </a:bodyPr>
          <a:lstStyle/>
          <a:p>
            <a:pPr algn="l"/>
            <a:r>
              <a:rPr lang="es-AR" sz="2000" b="0" i="0" dirty="0">
                <a:solidFill>
                  <a:srgbClr val="2C2F34"/>
                </a:solidFill>
                <a:latin typeface="Arial" panose="020B0604020202020204" pitchFamily="34" charset="0"/>
                <a:cs typeface="Arial" panose="020B0604020202020204" pitchFamily="34" charset="0"/>
              </a:rPr>
              <a:t>Este </a:t>
            </a:r>
            <a:r>
              <a:rPr lang="es-AR" sz="2000" b="1" i="0" dirty="0">
                <a:solidFill>
                  <a:srgbClr val="2C2F34"/>
                </a:solidFill>
                <a:latin typeface="Arial" panose="020B0604020202020204" pitchFamily="34" charset="0"/>
                <a:cs typeface="Arial" panose="020B0604020202020204" pitchFamily="34" charset="0"/>
              </a:rPr>
              <a:t>es el método que nosotros, los usuarios de equipos de escritorio usaremos</a:t>
            </a:r>
            <a:r>
              <a:rPr lang="es-AR" sz="2000" b="0" i="0" dirty="0">
                <a:solidFill>
                  <a:srgbClr val="2C2F34"/>
                </a:solidFill>
                <a:latin typeface="Arial" panose="020B0604020202020204" pitchFamily="34" charset="0"/>
                <a:cs typeface="Arial" panose="020B0604020202020204" pitchFamily="34" charset="0"/>
              </a:rPr>
              <a:t> en la gran mayoría de casos. El método consiste en destinar un ordenador principal para crear uno o varios entornos virtuales con sistemas operativos instalados sobre éste.</a:t>
            </a:r>
          </a:p>
          <a:p>
            <a:pPr algn="l"/>
            <a:r>
              <a:rPr lang="es-AR" sz="2000" b="0" i="0" dirty="0">
                <a:solidFill>
                  <a:srgbClr val="2C2F34"/>
                </a:solidFill>
                <a:latin typeface="Arial" panose="020B0604020202020204" pitchFamily="34" charset="0"/>
                <a:cs typeface="Arial" panose="020B0604020202020204" pitchFamily="34" charset="0"/>
              </a:rPr>
              <a:t>Mediante un ordenador físico creamos una plataforma que permite que por ejemplo un sistema operativo Linux pueda efectuarse dentro de un </a:t>
            </a:r>
            <a:r>
              <a:rPr lang="es-AR" sz="2000" b="1" i="0" dirty="0">
                <a:solidFill>
                  <a:srgbClr val="2C2F34"/>
                </a:solidFill>
                <a:latin typeface="Arial" panose="020B0604020202020204" pitchFamily="34" charset="0"/>
                <a:cs typeface="Arial" panose="020B0604020202020204" pitchFamily="34" charset="0"/>
              </a:rPr>
              <a:t>sistema operativo Windows 10</a:t>
            </a:r>
            <a:r>
              <a:rPr lang="es-AR" sz="2000" b="0" i="0" dirty="0">
                <a:solidFill>
                  <a:srgbClr val="2C2F34"/>
                </a:solidFill>
                <a:latin typeface="Arial" panose="020B0604020202020204" pitchFamily="34" charset="0"/>
                <a:cs typeface="Arial" panose="020B0604020202020204" pitchFamily="34" charset="0"/>
              </a:rPr>
              <a:t>. </a:t>
            </a:r>
          </a:p>
          <a:p>
            <a:pPr algn="l"/>
            <a:r>
              <a:rPr lang="es-AR" sz="2000" b="0" i="0" dirty="0">
                <a:solidFill>
                  <a:srgbClr val="2C2F34"/>
                </a:solidFill>
                <a:latin typeface="Arial" panose="020B0604020202020204" pitchFamily="34" charset="0"/>
                <a:cs typeface="Arial" panose="020B0604020202020204" pitchFamily="34" charset="0"/>
              </a:rPr>
              <a:t>Es sistema Linux tendrá las características propias de un equipo real, con sus distintos dispositivos tomados directamente de los recursos de hardware físicos disponibles.</a:t>
            </a:r>
          </a:p>
        </p:txBody>
      </p:sp>
      <p:pic>
        <p:nvPicPr>
          <p:cNvPr id="3" name="Imagen 2">
            <a:extLst>
              <a:ext uri="{FF2B5EF4-FFF2-40B4-BE49-F238E27FC236}">
                <a16:creationId xmlns:a16="http://schemas.microsoft.com/office/drawing/2014/main" id="{37741163-B2C6-F80F-B464-0BA72044DC11}"/>
              </a:ext>
            </a:extLst>
          </p:cNvPr>
          <p:cNvPicPr>
            <a:picLocks noChangeAspect="1"/>
          </p:cNvPicPr>
          <p:nvPr/>
        </p:nvPicPr>
        <p:blipFill>
          <a:blip r:embed="rId3"/>
          <a:stretch>
            <a:fillRect/>
          </a:stretch>
        </p:blipFill>
        <p:spPr>
          <a:xfrm>
            <a:off x="8384583" y="2616128"/>
            <a:ext cx="3542032" cy="2932265"/>
          </a:xfrm>
          <a:prstGeom prst="rect">
            <a:avLst/>
          </a:prstGeom>
        </p:spPr>
      </p:pic>
    </p:spTree>
    <p:extLst>
      <p:ext uri="{BB962C8B-B14F-4D97-AF65-F5344CB8AC3E}">
        <p14:creationId xmlns:p14="http://schemas.microsoft.com/office/powerpoint/2010/main" val="272837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a:t>
            </a:r>
            <a:r>
              <a:rPr lang="es-ES" dirty="0"/>
              <a:t>de RED</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2053377"/>
            <a:ext cx="7494399" cy="5078313"/>
          </a:xfrm>
          <a:prstGeom prst="rect">
            <a:avLst/>
          </a:prstGeom>
          <a:noFill/>
        </p:spPr>
        <p:txBody>
          <a:bodyPr wrap="square" rtlCol="0">
            <a:spAutoFit/>
          </a:bodyPr>
          <a:lstStyle/>
          <a:p>
            <a:pPr algn="l"/>
            <a:r>
              <a:rPr lang="es-AR" sz="2000" b="0" i="0" dirty="0">
                <a:solidFill>
                  <a:srgbClr val="2C2F34"/>
                </a:solidFill>
                <a:effectLst/>
                <a:latin typeface="Arial" panose="020B0604020202020204" pitchFamily="34" charset="0"/>
                <a:cs typeface="Arial" panose="020B0604020202020204" pitchFamily="34" charset="0"/>
              </a:rPr>
              <a:t>Mediante este método podremos crear redes físicas en redes virtuales para monitorizar un conjunto de máquinas conectadas entre sí. De esta forma podremos recrear una red física mediante un software que además será el encargado de gestión la intercomunicación entre los distintos recursos conectados.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Aumentaremos las tasas de transferencia de datos</a:t>
            </a:r>
            <a:r>
              <a:rPr lang="es-AR" sz="2000" b="0" i="0" dirty="0">
                <a:solidFill>
                  <a:srgbClr val="2C2F34"/>
                </a:solidFill>
                <a:effectLst/>
                <a:latin typeface="Arial" panose="020B0604020202020204" pitchFamily="34" charset="0"/>
                <a:cs typeface="Arial" panose="020B0604020202020204" pitchFamily="34" charset="0"/>
              </a:rPr>
              <a:t>: al no existir limitaciones físicas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Ahorro en material físico:</a:t>
            </a:r>
            <a:r>
              <a:rPr lang="es-AR" sz="2000" b="0" i="0" dirty="0">
                <a:solidFill>
                  <a:srgbClr val="2C2F34"/>
                </a:solidFill>
                <a:effectLst/>
                <a:latin typeface="Arial" panose="020B0604020202020204" pitchFamily="34" charset="0"/>
                <a:cs typeface="Arial" panose="020B0604020202020204" pitchFamily="34" charset="0"/>
              </a:rPr>
              <a:t> gracias a las conexiones virtuales no tendremos la necesidad de proporcionar un cableado físico dedicado a cada una de las máquinas. Con el uso de una interfaz de suficiente anchura como la fibra óptica no tendremos problemas en transmitir todos los datos virtuales por una sola conexión física.</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Escalabilidad:</a:t>
            </a:r>
            <a:r>
              <a:rPr lang="es-AR" sz="2000" b="0" i="0" dirty="0">
                <a:solidFill>
                  <a:srgbClr val="2C2F34"/>
                </a:solidFill>
                <a:effectLst/>
                <a:latin typeface="Arial" panose="020B0604020202020204" pitchFamily="34" charset="0"/>
                <a:cs typeface="Arial" panose="020B0604020202020204" pitchFamily="34" charset="0"/>
              </a:rPr>
              <a:t> al igual que en las anteriores tecnologías, esto garantiza una mejor escalabilidad de recursos.</a:t>
            </a:r>
          </a:p>
          <a:p>
            <a:pPr algn="l"/>
            <a:endParaRPr lang="es-AR" sz="2400" b="0" i="0" dirty="0">
              <a:solidFill>
                <a:srgbClr val="2C2F3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C3368F0-6CD3-7EBD-3277-3F90087C40A4}"/>
              </a:ext>
            </a:extLst>
          </p:cNvPr>
          <p:cNvPicPr>
            <a:picLocks noChangeAspect="1"/>
          </p:cNvPicPr>
          <p:nvPr/>
        </p:nvPicPr>
        <p:blipFill>
          <a:blip r:embed="rId3"/>
          <a:stretch>
            <a:fillRect/>
          </a:stretch>
        </p:blipFill>
        <p:spPr>
          <a:xfrm>
            <a:off x="7943850" y="1905709"/>
            <a:ext cx="4248150" cy="4819650"/>
          </a:xfrm>
          <a:prstGeom prst="rect">
            <a:avLst/>
          </a:prstGeom>
        </p:spPr>
      </p:pic>
    </p:spTree>
    <p:extLst>
      <p:ext uri="{BB962C8B-B14F-4D97-AF65-F5344CB8AC3E}">
        <p14:creationId xmlns:p14="http://schemas.microsoft.com/office/powerpoint/2010/main" val="3001723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a:t>
            </a:r>
            <a:r>
              <a:rPr lang="es-ES" dirty="0"/>
              <a:t>de Almacenamiento</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1905709"/>
            <a:ext cx="7494399" cy="5016758"/>
          </a:xfrm>
          <a:prstGeom prst="rect">
            <a:avLst/>
          </a:prstGeom>
          <a:noFill/>
        </p:spPr>
        <p:txBody>
          <a:bodyPr wrap="square" rtlCol="0">
            <a:spAutoFit/>
          </a:bodyPr>
          <a:lstStyle/>
          <a:p>
            <a:pPr algn="l"/>
            <a:r>
              <a:rPr lang="es-AR" sz="2000" i="0" dirty="0">
                <a:solidFill>
                  <a:srgbClr val="2C2F34"/>
                </a:solidFill>
                <a:effectLst/>
                <a:latin typeface="Arial" panose="020B0604020202020204" pitchFamily="34" charset="0"/>
                <a:cs typeface="Arial" panose="020B0604020202020204" pitchFamily="34" charset="0"/>
              </a:rPr>
              <a:t>Mediante este método de virtualización se crean varios recursos de almacenamiento, normalmente ubicados y distribuidos mediante una red. </a:t>
            </a:r>
          </a:p>
          <a:p>
            <a:pPr algn="l"/>
            <a:r>
              <a:rPr lang="es-AR" sz="2000" b="0" i="0" dirty="0">
                <a:solidFill>
                  <a:srgbClr val="2C2F34"/>
                </a:solidFill>
                <a:effectLst/>
                <a:latin typeface="Arial" panose="020B0604020202020204" pitchFamily="34" charset="0"/>
                <a:cs typeface="Arial" panose="020B0604020202020204" pitchFamily="34" charset="0"/>
              </a:rPr>
              <a:t>Las ventajas de forma resumida son las siguientes:</a:t>
            </a:r>
          </a:p>
          <a:p>
            <a:pPr algn="l"/>
            <a:r>
              <a:rPr lang="es-AR" sz="2000" b="0" i="0" dirty="0">
                <a:solidFill>
                  <a:srgbClr val="2C2F34"/>
                </a:solidFill>
                <a:effectLst/>
                <a:latin typeface="Arial" panose="020B0604020202020204" pitchFamily="34" charset="0"/>
                <a:cs typeface="Arial" panose="020B0604020202020204" pitchFamily="34" charset="0"/>
              </a:rPr>
              <a:t>Aumento de velocidad: el acceso a los datos será más rápido al estar las unidades divididas.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Mejor escalabilidad:</a:t>
            </a:r>
            <a:r>
              <a:rPr lang="es-AR" sz="2000" b="0" i="0" dirty="0">
                <a:solidFill>
                  <a:srgbClr val="2C2F34"/>
                </a:solidFill>
                <a:effectLst/>
                <a:latin typeface="Arial" panose="020B0604020202020204" pitchFamily="34" charset="0"/>
                <a:cs typeface="Arial" panose="020B0604020202020204" pitchFamily="34" charset="0"/>
              </a:rPr>
              <a:t> Cuando queramos aumentar de espacio, solamente tendremos que comprar nuevas unidades dejando las que ya tenemos.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Aumento de la eficiencia:</a:t>
            </a:r>
            <a:r>
              <a:rPr lang="es-AR" sz="2000" b="0" i="0" dirty="0">
                <a:solidFill>
                  <a:srgbClr val="2C2F34"/>
                </a:solidFill>
                <a:effectLst/>
                <a:latin typeface="Arial" panose="020B0604020202020204" pitchFamily="34" charset="0"/>
                <a:cs typeface="Arial" panose="020B0604020202020204" pitchFamily="34" charset="0"/>
              </a:rPr>
              <a:t> no habrá tiempos de esperas ya que la información disponible está dividida y el acceso a ella es directo y sin esperas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Gestión automática de recursos:</a:t>
            </a:r>
            <a:r>
              <a:rPr lang="es-AR" sz="2000" b="0" i="0" dirty="0">
                <a:solidFill>
                  <a:srgbClr val="2C2F34"/>
                </a:solidFill>
                <a:effectLst/>
                <a:latin typeface="Arial" panose="020B0604020202020204" pitchFamily="34" charset="0"/>
                <a:cs typeface="Arial" panose="020B0604020202020204" pitchFamily="34" charset="0"/>
              </a:rPr>
              <a:t> la sincronización y gestión de estos recursos irá controlada mediante protocolos de comunicación, </a:t>
            </a:r>
            <a:r>
              <a:rPr lang="es-AR" sz="2000" b="1" i="0" dirty="0">
                <a:solidFill>
                  <a:srgbClr val="2C2F34"/>
                </a:solidFill>
                <a:effectLst/>
                <a:latin typeface="Arial" panose="020B0604020202020204" pitchFamily="34" charset="0"/>
                <a:cs typeface="Arial" panose="020B0604020202020204" pitchFamily="34" charset="0"/>
              </a:rPr>
              <a:t>TCP/IP</a:t>
            </a:r>
            <a:r>
              <a:rPr lang="es-AR" sz="2000" b="0" i="0" dirty="0">
                <a:solidFill>
                  <a:srgbClr val="2C2F34"/>
                </a:solidFill>
                <a:effectLst/>
                <a:latin typeface="Arial" panose="020B0604020202020204" pitchFamily="34" charset="0"/>
                <a:cs typeface="Arial" panose="020B0604020202020204" pitchFamily="34" charset="0"/>
              </a:rPr>
              <a:t> o los que utilicen las distintas interfaces como </a:t>
            </a:r>
            <a:r>
              <a:rPr lang="es-AR" sz="2000" b="1" i="0" dirty="0">
                <a:solidFill>
                  <a:srgbClr val="2C2F34"/>
                </a:solidFill>
                <a:effectLst/>
                <a:latin typeface="Arial" panose="020B0604020202020204" pitchFamily="34" charset="0"/>
                <a:cs typeface="Arial" panose="020B0604020202020204" pitchFamily="34" charset="0"/>
              </a:rPr>
              <a:t>SAS</a:t>
            </a:r>
            <a:r>
              <a:rPr lang="es-AR" sz="2000" b="0" i="0" dirty="0">
                <a:solidFill>
                  <a:srgbClr val="2C2F34"/>
                </a:solidFill>
                <a:effectLst/>
                <a:latin typeface="Arial" panose="020B0604020202020204" pitchFamily="34" charset="0"/>
                <a:cs typeface="Arial" panose="020B0604020202020204" pitchFamily="34" charset="0"/>
              </a:rPr>
              <a:t> o </a:t>
            </a:r>
            <a:r>
              <a:rPr lang="es-AR" sz="2000" b="1" i="0" dirty="0">
                <a:solidFill>
                  <a:srgbClr val="2C2F34"/>
                </a:solidFill>
                <a:effectLst/>
                <a:latin typeface="Arial" panose="020B0604020202020204" pitchFamily="34" charset="0"/>
                <a:cs typeface="Arial" panose="020B0604020202020204" pitchFamily="34" charset="0"/>
              </a:rPr>
              <a:t>RAID</a:t>
            </a:r>
            <a:r>
              <a:rPr lang="es-AR" sz="2000" b="0" i="0" dirty="0">
                <a:solidFill>
                  <a:srgbClr val="2C2F34"/>
                </a:solidFill>
                <a:effectLst/>
                <a:latin typeface="Arial" panose="020B0604020202020204" pitchFamily="34" charset="0"/>
                <a:cs typeface="Arial" panose="020B0604020202020204" pitchFamily="34" charset="0"/>
              </a:rPr>
              <a:t>.</a:t>
            </a:r>
            <a:endParaRPr lang="es-AR" sz="2400" b="0" i="0" dirty="0">
              <a:solidFill>
                <a:srgbClr val="2C2F3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6BF43874-74FF-52C2-CF76-F33ABF0B1500}"/>
              </a:ext>
            </a:extLst>
          </p:cNvPr>
          <p:cNvPicPr>
            <a:picLocks noChangeAspect="1"/>
          </p:cNvPicPr>
          <p:nvPr/>
        </p:nvPicPr>
        <p:blipFill>
          <a:blip r:embed="rId3"/>
          <a:stretch>
            <a:fillRect/>
          </a:stretch>
        </p:blipFill>
        <p:spPr>
          <a:xfrm>
            <a:off x="8129340" y="2308664"/>
            <a:ext cx="3890062" cy="3472203"/>
          </a:xfrm>
          <a:prstGeom prst="rect">
            <a:avLst/>
          </a:prstGeom>
        </p:spPr>
      </p:pic>
    </p:spTree>
    <p:extLst>
      <p:ext uri="{BB962C8B-B14F-4D97-AF65-F5344CB8AC3E}">
        <p14:creationId xmlns:p14="http://schemas.microsoft.com/office/powerpoint/2010/main" val="611467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a:t>
            </a:r>
            <a:r>
              <a:rPr lang="es-ES" dirty="0"/>
              <a:t>de Memoria</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1905709"/>
            <a:ext cx="11298264" cy="1631216"/>
          </a:xfrm>
          <a:prstGeom prst="rect">
            <a:avLst/>
          </a:prstGeom>
          <a:noFill/>
        </p:spPr>
        <p:txBody>
          <a:bodyPr wrap="square" rtlCol="0">
            <a:spAutoFit/>
          </a:bodyPr>
          <a:lstStyle/>
          <a:p>
            <a:pPr algn="l"/>
            <a:r>
              <a:rPr lang="es-AR" sz="2000" i="0" dirty="0">
                <a:solidFill>
                  <a:srgbClr val="2C2F34"/>
                </a:solidFill>
                <a:effectLst/>
                <a:latin typeface="Arial" panose="020B0604020202020204" pitchFamily="34" charset="0"/>
                <a:cs typeface="Arial" panose="020B0604020202020204" pitchFamily="34" charset="0"/>
              </a:rPr>
              <a:t>El concepto es exactamente el mismo que para la virtualización de almacenamiento. </a:t>
            </a:r>
          </a:p>
          <a:p>
            <a:r>
              <a:rPr lang="es-AR" sz="2000" i="0" dirty="0">
                <a:solidFill>
                  <a:srgbClr val="2C2F34"/>
                </a:solidFill>
                <a:effectLst/>
                <a:latin typeface="Arial" panose="020B0604020202020204" pitchFamily="34" charset="0"/>
                <a:cs typeface="Arial" panose="020B0604020202020204" pitchFamily="34" charset="0"/>
              </a:rPr>
              <a:t>Se crean varios recursos de almacenamiento, normalmente ubicados y distribuidos mediante una red. </a:t>
            </a:r>
            <a:endParaRPr lang="es-AR" sz="2000" dirty="0">
              <a:solidFill>
                <a:srgbClr val="2C2F34"/>
              </a:solidFill>
              <a:latin typeface="Arial" panose="020B0604020202020204" pitchFamily="34" charset="0"/>
              <a:cs typeface="Arial" panose="020B0604020202020204" pitchFamily="34" charset="0"/>
            </a:endParaRPr>
          </a:p>
          <a:p>
            <a:pPr algn="l"/>
            <a:r>
              <a:rPr lang="es-AR" sz="2000" i="0" dirty="0">
                <a:solidFill>
                  <a:srgbClr val="2C2F34"/>
                </a:solidFill>
                <a:effectLst/>
                <a:latin typeface="Arial" panose="020B0604020202020204" pitchFamily="34" charset="0"/>
                <a:cs typeface="Arial" panose="020B0604020202020204" pitchFamily="34" charset="0"/>
              </a:rPr>
              <a:t>La idea es crear una memoria de función compartida mediante una distribución en la red para que los distintos equipos la utilicen. Ofrece las mismas ventajas que el almacenamiento en red.</a:t>
            </a:r>
            <a:endParaRPr lang="es-AR" sz="2000" i="0" dirty="0">
              <a:solidFill>
                <a:srgbClr val="2C2F3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AA1053DB-9920-E59E-7EEF-4C38266487DC}"/>
              </a:ext>
            </a:extLst>
          </p:cNvPr>
          <p:cNvPicPr>
            <a:picLocks noChangeAspect="1"/>
          </p:cNvPicPr>
          <p:nvPr/>
        </p:nvPicPr>
        <p:blipFill>
          <a:blip r:embed="rId3"/>
          <a:stretch>
            <a:fillRect/>
          </a:stretch>
        </p:blipFill>
        <p:spPr>
          <a:xfrm>
            <a:off x="4268227" y="3536925"/>
            <a:ext cx="3655545" cy="3144555"/>
          </a:xfrm>
          <a:prstGeom prst="rect">
            <a:avLst/>
          </a:prstGeom>
        </p:spPr>
      </p:pic>
    </p:spTree>
    <p:extLst>
      <p:ext uri="{BB962C8B-B14F-4D97-AF65-F5344CB8AC3E}">
        <p14:creationId xmlns:p14="http://schemas.microsoft.com/office/powerpoint/2010/main" val="1657377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64516"/>
              <a:buNone/>
            </a:pPr>
            <a:r>
              <a:rPr lang="es-ES" sz="2800" dirty="0"/>
              <a:t>Virtualización </a:t>
            </a:r>
            <a:r>
              <a:rPr lang="es-ES" dirty="0"/>
              <a:t>de Escritorio</a:t>
            </a:r>
            <a:endParaRPr dirty="0">
              <a:solidFill>
                <a:schemeClr val="lt1"/>
              </a:solidFill>
            </a:endParaRPr>
          </a:p>
        </p:txBody>
      </p:sp>
      <p:sp>
        <p:nvSpPr>
          <p:cNvPr id="10" name="CuadroTexto 9">
            <a:extLst>
              <a:ext uri="{FF2B5EF4-FFF2-40B4-BE49-F238E27FC236}">
                <a16:creationId xmlns:a16="http://schemas.microsoft.com/office/drawing/2014/main" id="{A04286C7-4FEB-3F53-7B5A-AFE43CF62318}"/>
              </a:ext>
            </a:extLst>
          </p:cNvPr>
          <p:cNvSpPr txBox="1"/>
          <p:nvPr/>
        </p:nvSpPr>
        <p:spPr>
          <a:xfrm>
            <a:off x="449451" y="1905709"/>
            <a:ext cx="11298264" cy="2554545"/>
          </a:xfrm>
          <a:prstGeom prst="rect">
            <a:avLst/>
          </a:prstGeom>
          <a:noFill/>
        </p:spPr>
        <p:txBody>
          <a:bodyPr wrap="square" rtlCol="0">
            <a:spAutoFit/>
          </a:bodyPr>
          <a:lstStyle/>
          <a:p>
            <a:pPr algn="l"/>
            <a:r>
              <a:rPr lang="es-AR" sz="2000" b="0" i="0" dirty="0">
                <a:solidFill>
                  <a:srgbClr val="2C2F34"/>
                </a:solidFill>
                <a:effectLst/>
                <a:latin typeface="Arial" panose="020B0604020202020204" pitchFamily="34" charset="0"/>
                <a:cs typeface="Arial" panose="020B0604020202020204" pitchFamily="34" charset="0"/>
              </a:rPr>
              <a:t>Mediante este método de virtualización creamos una máquina con un sistema operativo en el que otros usuarios pueden conectarse de forma remota y obtener el escritorio de ese servidor desde otra ubicación. Ventajas:</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Ubicación centralizada</a:t>
            </a:r>
            <a:r>
              <a:rPr lang="es-AR" sz="2000" b="0" i="0" dirty="0">
                <a:solidFill>
                  <a:srgbClr val="2C2F34"/>
                </a:solidFill>
                <a:effectLst/>
                <a:latin typeface="Arial" panose="020B0604020202020204" pitchFamily="34" charset="0"/>
                <a:cs typeface="Arial" panose="020B0604020202020204" pitchFamily="34" charset="0"/>
              </a:rPr>
              <a:t>: solamente será necesario tener un equipo con un solo sistema operativo, en el que varios usuarios podrán conectarse de forma remota.</a:t>
            </a: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Ahorro en licencias de software</a:t>
            </a:r>
            <a:endParaRPr lang="es-AR" sz="2000" b="0" i="0" dirty="0">
              <a:solidFill>
                <a:srgbClr val="2C2F34"/>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s-AR" sz="2000" b="1" i="0" dirty="0">
                <a:solidFill>
                  <a:srgbClr val="2C2F34"/>
                </a:solidFill>
                <a:effectLst/>
                <a:latin typeface="Arial" panose="020B0604020202020204" pitchFamily="34" charset="0"/>
                <a:cs typeface="Arial" panose="020B0604020202020204" pitchFamily="34" charset="0"/>
              </a:rPr>
              <a:t>Seguridad:</a:t>
            </a:r>
            <a:r>
              <a:rPr lang="es-AR" sz="2000" b="0" i="0" dirty="0">
                <a:solidFill>
                  <a:srgbClr val="2C2F34"/>
                </a:solidFill>
                <a:effectLst/>
                <a:latin typeface="Arial" panose="020B0604020202020204" pitchFamily="34" charset="0"/>
                <a:cs typeface="Arial" panose="020B0604020202020204" pitchFamily="34" charset="0"/>
              </a:rPr>
              <a:t> de esta forma los archivos estarán mejor protegido que si estuvieran en equipos independientes.</a:t>
            </a:r>
          </a:p>
        </p:txBody>
      </p:sp>
      <p:pic>
        <p:nvPicPr>
          <p:cNvPr id="3" name="Imagen 2">
            <a:extLst>
              <a:ext uri="{FF2B5EF4-FFF2-40B4-BE49-F238E27FC236}">
                <a16:creationId xmlns:a16="http://schemas.microsoft.com/office/drawing/2014/main" id="{6C2ACADA-A1B6-03DE-E223-9AAF613268DE}"/>
              </a:ext>
            </a:extLst>
          </p:cNvPr>
          <p:cNvPicPr>
            <a:picLocks noChangeAspect="1"/>
          </p:cNvPicPr>
          <p:nvPr/>
        </p:nvPicPr>
        <p:blipFill>
          <a:blip r:embed="rId3"/>
          <a:stretch>
            <a:fillRect/>
          </a:stretch>
        </p:blipFill>
        <p:spPr>
          <a:xfrm>
            <a:off x="4638826" y="4202537"/>
            <a:ext cx="2914348" cy="2605004"/>
          </a:xfrm>
          <a:prstGeom prst="rect">
            <a:avLst/>
          </a:prstGeom>
        </p:spPr>
      </p:pic>
    </p:spTree>
    <p:extLst>
      <p:ext uri="{BB962C8B-B14F-4D97-AF65-F5344CB8AC3E}">
        <p14:creationId xmlns:p14="http://schemas.microsoft.com/office/powerpoint/2010/main" val="3899108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BC8F6C-00AD-1D60-4DAC-89C3017E1203}"/>
              </a:ext>
            </a:extLst>
          </p:cNvPr>
          <p:cNvSpPr>
            <a:spLocks noGrp="1"/>
          </p:cNvSpPr>
          <p:nvPr>
            <p:ph type="title"/>
          </p:nvPr>
        </p:nvSpPr>
        <p:spPr/>
        <p:txBody>
          <a:bodyPr/>
          <a:lstStyle/>
          <a:p>
            <a:r>
              <a:rPr lang="es-AR" dirty="0"/>
              <a:t>Software de Virtualización</a:t>
            </a:r>
            <a:endParaRPr lang="en-US" dirty="0"/>
          </a:p>
        </p:txBody>
      </p:sp>
      <p:sp>
        <p:nvSpPr>
          <p:cNvPr id="3" name="Marcador de texto 2">
            <a:extLst>
              <a:ext uri="{FF2B5EF4-FFF2-40B4-BE49-F238E27FC236}">
                <a16:creationId xmlns:a16="http://schemas.microsoft.com/office/drawing/2014/main" id="{B4A1E5A8-0556-C87C-AA05-7C61601EA695}"/>
              </a:ext>
            </a:extLst>
          </p:cNvPr>
          <p:cNvSpPr>
            <a:spLocks noGrp="1"/>
          </p:cNvSpPr>
          <p:nvPr>
            <p:ph type="body" idx="1"/>
          </p:nvPr>
        </p:nvSpPr>
        <p:spPr>
          <a:xfrm>
            <a:off x="581191" y="1859796"/>
            <a:ext cx="5422390" cy="4268545"/>
          </a:xfrm>
        </p:spPr>
        <p:txBody>
          <a:bodyPr/>
          <a:lstStyle/>
          <a:p>
            <a:pPr marL="123444" indent="0" algn="l">
              <a:buNone/>
            </a:pPr>
            <a:r>
              <a:rPr lang="es-AR" b="1" i="0" dirty="0">
                <a:solidFill>
                  <a:srgbClr val="2C2F34"/>
                </a:solidFill>
                <a:effectLst/>
                <a:latin typeface="Arial" panose="020B0604020202020204" pitchFamily="34" charset="0"/>
                <a:cs typeface="Arial" panose="020B0604020202020204" pitchFamily="34" charset="0"/>
              </a:rPr>
              <a:t>PROGRAMAS LICENCIADOS (Pagos)</a:t>
            </a:r>
          </a:p>
          <a:p>
            <a:pPr algn="l">
              <a:buFont typeface="Arial" panose="020B0604020202020204" pitchFamily="34" charset="0"/>
              <a:buChar char="•"/>
            </a:pPr>
            <a:r>
              <a:rPr lang="es-AR" b="1" i="0" dirty="0">
                <a:solidFill>
                  <a:srgbClr val="2C2F34"/>
                </a:solidFill>
                <a:effectLst/>
                <a:latin typeface="Arial" panose="020B0604020202020204" pitchFamily="34" charset="0"/>
                <a:cs typeface="Arial" panose="020B0604020202020204" pitchFamily="34" charset="0"/>
              </a:rPr>
              <a:t>VMware</a:t>
            </a:r>
            <a:r>
              <a:rPr lang="es-AR" b="0" i="0" dirty="0">
                <a:solidFill>
                  <a:srgbClr val="2C2F34"/>
                </a:solidFill>
                <a:effectLst/>
                <a:latin typeface="Arial" panose="020B0604020202020204" pitchFamily="34" charset="0"/>
                <a:cs typeface="Arial" panose="020B0604020202020204" pitchFamily="34" charset="0"/>
              </a:rPr>
              <a:t>: Propiedad de </a:t>
            </a:r>
            <a:r>
              <a:rPr lang="es-AR" b="1" i="0" dirty="0">
                <a:solidFill>
                  <a:srgbClr val="2C2F34"/>
                </a:solidFill>
                <a:effectLst/>
                <a:latin typeface="Arial" panose="020B0604020202020204" pitchFamily="34" charset="0"/>
                <a:cs typeface="Arial" panose="020B0604020202020204" pitchFamily="34" charset="0"/>
              </a:rPr>
              <a:t>EMC </a:t>
            </a:r>
            <a:r>
              <a:rPr lang="es-AR" b="1" i="0" dirty="0" err="1">
                <a:solidFill>
                  <a:srgbClr val="2C2F34"/>
                </a:solidFill>
                <a:effectLst/>
                <a:latin typeface="Arial" panose="020B0604020202020204" pitchFamily="34" charset="0"/>
                <a:cs typeface="Arial" panose="020B0604020202020204" pitchFamily="34" charset="0"/>
              </a:rPr>
              <a:t>Corporation</a:t>
            </a:r>
            <a:r>
              <a:rPr lang="es-AR" b="0" i="0" dirty="0">
                <a:solidFill>
                  <a:srgbClr val="2C2F34"/>
                </a:solidFill>
                <a:effectLst/>
                <a:latin typeface="Arial" panose="020B0604020202020204" pitchFamily="34" charset="0"/>
                <a:cs typeface="Arial" panose="020B0604020202020204" pitchFamily="34" charset="0"/>
              </a:rPr>
              <a:t> es una de las herramientas más importantes y avanzadas del mercado.</a:t>
            </a:r>
          </a:p>
          <a:p>
            <a:pPr algn="l">
              <a:buFont typeface="Arial" panose="020B0604020202020204" pitchFamily="34" charset="0"/>
              <a:buChar char="•"/>
            </a:pPr>
            <a:r>
              <a:rPr lang="es-AR" b="1" i="0" dirty="0" err="1">
                <a:solidFill>
                  <a:srgbClr val="2C2F34"/>
                </a:solidFill>
                <a:effectLst/>
                <a:latin typeface="Arial" panose="020B0604020202020204" pitchFamily="34" charset="0"/>
                <a:cs typeface="Arial" panose="020B0604020202020204" pitchFamily="34" charset="0"/>
              </a:rPr>
              <a:t>Hyper</a:t>
            </a:r>
            <a:r>
              <a:rPr lang="es-AR" b="1" i="0" dirty="0">
                <a:solidFill>
                  <a:srgbClr val="2C2F34"/>
                </a:solidFill>
                <a:effectLst/>
                <a:latin typeface="Arial" panose="020B0604020202020204" pitchFamily="34" charset="0"/>
                <a:cs typeface="Arial" panose="020B0604020202020204" pitchFamily="34" charset="0"/>
              </a:rPr>
              <a:t>-V</a:t>
            </a:r>
            <a:r>
              <a:rPr lang="es-AR" b="0" i="0" dirty="0">
                <a:solidFill>
                  <a:srgbClr val="2C2F34"/>
                </a:solidFill>
                <a:effectLst/>
                <a:latin typeface="Arial" panose="020B0604020202020204" pitchFamily="34" charset="0"/>
                <a:cs typeface="Arial" panose="020B0604020202020204" pitchFamily="34" charset="0"/>
              </a:rPr>
              <a:t>: es el </a:t>
            </a:r>
            <a:r>
              <a:rPr lang="es-AR" b="1" i="0" dirty="0" err="1">
                <a:solidFill>
                  <a:srgbClr val="2C2F34"/>
                </a:solidFill>
                <a:effectLst/>
                <a:latin typeface="Arial" panose="020B0604020202020204" pitchFamily="34" charset="0"/>
                <a:cs typeface="Arial" panose="020B0604020202020204" pitchFamily="34" charset="0"/>
              </a:rPr>
              <a:t>Hypervisor</a:t>
            </a:r>
            <a:r>
              <a:rPr lang="es-AR" b="0" i="0" dirty="0">
                <a:solidFill>
                  <a:srgbClr val="2C2F34"/>
                </a:solidFill>
                <a:effectLst/>
                <a:latin typeface="Arial" panose="020B0604020202020204" pitchFamily="34" charset="0"/>
                <a:cs typeface="Arial" panose="020B0604020202020204" pitchFamily="34" charset="0"/>
              </a:rPr>
              <a:t> propiedad de </a:t>
            </a:r>
            <a:r>
              <a:rPr lang="es-AR" b="1" i="0" dirty="0">
                <a:solidFill>
                  <a:srgbClr val="2C2F34"/>
                </a:solidFill>
                <a:effectLst/>
                <a:latin typeface="Arial" panose="020B0604020202020204" pitchFamily="34" charset="0"/>
                <a:cs typeface="Arial" panose="020B0604020202020204" pitchFamily="34" charset="0"/>
              </a:rPr>
              <a:t>Microsoft</a:t>
            </a:r>
            <a:r>
              <a:rPr lang="es-AR" b="0" i="0" dirty="0">
                <a:solidFill>
                  <a:srgbClr val="2C2F34"/>
                </a:solidFill>
                <a:effectLst/>
                <a:latin typeface="Arial" panose="020B0604020202020204" pitchFamily="34" charset="0"/>
                <a:cs typeface="Arial" panose="020B0604020202020204" pitchFamily="34" charset="0"/>
              </a:rPr>
              <a:t> y lo tendremos disponible de forma gratuita si adquirimos una licencia de </a:t>
            </a:r>
            <a:r>
              <a:rPr lang="es-AR" b="1" i="0" dirty="0">
                <a:solidFill>
                  <a:srgbClr val="2C2F34"/>
                </a:solidFill>
                <a:effectLst/>
                <a:latin typeface="Arial" panose="020B0604020202020204" pitchFamily="34" charset="0"/>
                <a:cs typeface="Arial" panose="020B0604020202020204" pitchFamily="34" charset="0"/>
              </a:rPr>
              <a:t>Windows server</a:t>
            </a:r>
            <a:r>
              <a:rPr lang="es-AR" b="0" i="0" dirty="0">
                <a:solidFill>
                  <a:srgbClr val="2C2F34"/>
                </a:solidFill>
                <a:effectLst/>
                <a:latin typeface="Arial" panose="020B0604020202020204" pitchFamily="34" charset="0"/>
                <a:cs typeface="Arial" panose="020B0604020202020204" pitchFamily="34" charset="0"/>
              </a:rPr>
              <a:t> o </a:t>
            </a:r>
            <a:r>
              <a:rPr lang="es-AR" b="1" i="0" dirty="0">
                <a:solidFill>
                  <a:srgbClr val="2C2F34"/>
                </a:solidFill>
                <a:effectLst/>
                <a:latin typeface="Arial" panose="020B0604020202020204" pitchFamily="34" charset="0"/>
                <a:cs typeface="Arial" panose="020B0604020202020204" pitchFamily="34" charset="0"/>
              </a:rPr>
              <a:t>Windows 10 Pro</a:t>
            </a:r>
            <a:endParaRPr lang="es-AR" b="0" i="0" dirty="0">
              <a:solidFill>
                <a:srgbClr val="2C2F34"/>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s-AR" b="1" i="0" dirty="0" err="1">
                <a:solidFill>
                  <a:srgbClr val="2C2F34"/>
                </a:solidFill>
                <a:effectLst/>
                <a:latin typeface="Arial" panose="020B0604020202020204" pitchFamily="34" charset="0"/>
                <a:cs typeface="Arial" panose="020B0604020202020204" pitchFamily="34" charset="0"/>
              </a:rPr>
              <a:t>Parallels</a:t>
            </a:r>
            <a:r>
              <a:rPr lang="es-AR" b="0" i="0" dirty="0">
                <a:solidFill>
                  <a:srgbClr val="2C2F34"/>
                </a:solidFill>
                <a:effectLst/>
                <a:latin typeface="Arial" panose="020B0604020202020204" pitchFamily="34" charset="0"/>
                <a:cs typeface="Arial" panose="020B0604020202020204" pitchFamily="34" charset="0"/>
              </a:rPr>
              <a:t>: otro de los programas de pago más famosos. Permite tanto la virtualización por software como por hardware.</a:t>
            </a:r>
          </a:p>
          <a:p>
            <a:pPr algn="l">
              <a:buFont typeface="Arial" panose="020B0604020202020204" pitchFamily="34" charset="0"/>
              <a:buChar char="•"/>
            </a:pPr>
            <a:r>
              <a:rPr lang="es-AR" b="1" i="0" dirty="0" err="1">
                <a:solidFill>
                  <a:srgbClr val="2C2F34"/>
                </a:solidFill>
                <a:effectLst/>
                <a:latin typeface="Arial" panose="020B0604020202020204" pitchFamily="34" charset="0"/>
                <a:cs typeface="Arial" panose="020B0604020202020204" pitchFamily="34" charset="0"/>
              </a:rPr>
              <a:t>Virtuozzo</a:t>
            </a:r>
            <a:r>
              <a:rPr lang="es-AR" b="0" i="0" dirty="0">
                <a:solidFill>
                  <a:srgbClr val="2C2F34"/>
                </a:solidFill>
                <a:effectLst/>
                <a:latin typeface="Arial" panose="020B0604020202020204" pitchFamily="34" charset="0"/>
                <a:cs typeface="Arial" panose="020B0604020202020204" pitchFamily="34" charset="0"/>
              </a:rPr>
              <a:t>: tradicionalmente disponible en</a:t>
            </a:r>
            <a:r>
              <a:rPr lang="es-AR" b="1" i="0" dirty="0">
                <a:solidFill>
                  <a:srgbClr val="2C2F34"/>
                </a:solidFill>
                <a:effectLst/>
                <a:latin typeface="Arial" panose="020B0604020202020204" pitchFamily="34" charset="0"/>
                <a:cs typeface="Arial" panose="020B0604020202020204" pitchFamily="34" charset="0"/>
              </a:rPr>
              <a:t> Linux</a:t>
            </a:r>
            <a:r>
              <a:rPr lang="es-AR" b="0" i="0" dirty="0">
                <a:solidFill>
                  <a:srgbClr val="2C2F34"/>
                </a:solidFill>
                <a:effectLst/>
                <a:latin typeface="Arial" panose="020B0604020202020204" pitchFamily="34" charset="0"/>
                <a:cs typeface="Arial" panose="020B0604020202020204" pitchFamily="34" charset="0"/>
              </a:rPr>
              <a:t>, llegó a Windows allá por el 2005.</a:t>
            </a:r>
          </a:p>
          <a:p>
            <a:pPr marL="123444" indent="0">
              <a:buNone/>
            </a:pPr>
            <a:endParaRPr lang="en-US" dirty="0"/>
          </a:p>
        </p:txBody>
      </p:sp>
      <p:sp>
        <p:nvSpPr>
          <p:cNvPr id="4" name="Marcador de texto 3">
            <a:extLst>
              <a:ext uri="{FF2B5EF4-FFF2-40B4-BE49-F238E27FC236}">
                <a16:creationId xmlns:a16="http://schemas.microsoft.com/office/drawing/2014/main" id="{7B110367-50AC-F2A8-19F0-13E6B9ECDFEE}"/>
              </a:ext>
            </a:extLst>
          </p:cNvPr>
          <p:cNvSpPr>
            <a:spLocks noGrp="1"/>
          </p:cNvSpPr>
          <p:nvPr>
            <p:ph type="body" idx="2"/>
          </p:nvPr>
        </p:nvSpPr>
        <p:spPr>
          <a:xfrm>
            <a:off x="6188417" y="1859797"/>
            <a:ext cx="5422392" cy="4998203"/>
          </a:xfrm>
        </p:spPr>
        <p:txBody>
          <a:bodyPr>
            <a:normAutofit fontScale="92500" lnSpcReduction="20000"/>
          </a:bodyPr>
          <a:lstStyle/>
          <a:p>
            <a:pPr marL="123444" indent="0" algn="l">
              <a:buNone/>
            </a:pPr>
            <a:r>
              <a:rPr lang="es-AR" sz="1900" b="1" i="0" dirty="0">
                <a:solidFill>
                  <a:srgbClr val="2C2F34"/>
                </a:solidFill>
                <a:effectLst/>
                <a:latin typeface="Arial" panose="020B0604020202020204" pitchFamily="34" charset="0"/>
                <a:cs typeface="Arial" panose="020B0604020202020204" pitchFamily="34" charset="0"/>
              </a:rPr>
              <a:t>PROGRAMAS LIBRES (Gratis)</a:t>
            </a:r>
          </a:p>
          <a:p>
            <a:pPr algn="l">
              <a:buFont typeface="Arial" panose="020B0604020202020204" pitchFamily="34" charset="0"/>
              <a:buChar char="•"/>
            </a:pPr>
            <a:r>
              <a:rPr lang="es-AR" sz="1900" b="1" i="0" dirty="0">
                <a:solidFill>
                  <a:srgbClr val="2C2F34"/>
                </a:solidFill>
                <a:effectLst/>
                <a:latin typeface="Arial" panose="020B0604020202020204" pitchFamily="34" charset="0"/>
                <a:cs typeface="Arial" panose="020B0604020202020204" pitchFamily="34" charset="0"/>
              </a:rPr>
              <a:t>VirtualBox</a:t>
            </a:r>
            <a:r>
              <a:rPr lang="es-AR" sz="1900" b="0" i="0" dirty="0">
                <a:solidFill>
                  <a:srgbClr val="2C2F34"/>
                </a:solidFill>
                <a:effectLst/>
                <a:latin typeface="Arial" panose="020B0604020202020204" pitchFamily="34" charset="0"/>
                <a:cs typeface="Arial" panose="020B0604020202020204" pitchFamily="34" charset="0"/>
              </a:rPr>
              <a:t>: es el software de código abierto más famoso y también el que más utilidades tiene. Desarrollado por </a:t>
            </a:r>
            <a:r>
              <a:rPr lang="es-AR" sz="1900" b="1" i="0" dirty="0">
                <a:solidFill>
                  <a:srgbClr val="2C2F34"/>
                </a:solidFill>
                <a:effectLst/>
                <a:latin typeface="Arial" panose="020B0604020202020204" pitchFamily="34" charset="0"/>
                <a:cs typeface="Arial" panose="020B0604020202020204" pitchFamily="34" charset="0"/>
              </a:rPr>
              <a:t>Oracle</a:t>
            </a:r>
            <a:r>
              <a:rPr lang="es-AR" sz="1900" b="0" i="0" dirty="0">
                <a:solidFill>
                  <a:srgbClr val="2C2F34"/>
                </a:solidFill>
                <a:effectLst/>
                <a:latin typeface="Arial" panose="020B0604020202020204" pitchFamily="34" charset="0"/>
                <a:cs typeface="Arial" panose="020B0604020202020204" pitchFamily="34" charset="0"/>
              </a:rPr>
              <a:t>, VirtualBox está disponible para Windows, Mac y Linux y es capaz de virtualizar también todos estos sistemas operativos</a:t>
            </a:r>
          </a:p>
          <a:p>
            <a:pPr algn="l">
              <a:buFont typeface="Arial" panose="020B0604020202020204" pitchFamily="34" charset="0"/>
              <a:buChar char="•"/>
            </a:pPr>
            <a:r>
              <a:rPr lang="es-AR" sz="1900" b="1" i="0" dirty="0">
                <a:solidFill>
                  <a:srgbClr val="2C2F34"/>
                </a:solidFill>
                <a:effectLst/>
                <a:latin typeface="Arial" panose="020B0604020202020204" pitchFamily="34" charset="0"/>
                <a:cs typeface="Arial" panose="020B0604020202020204" pitchFamily="34" charset="0"/>
              </a:rPr>
              <a:t>Virtual PC</a:t>
            </a:r>
            <a:r>
              <a:rPr lang="es-AR" sz="1900" b="0" i="0" dirty="0">
                <a:solidFill>
                  <a:srgbClr val="2C2F34"/>
                </a:solidFill>
                <a:effectLst/>
                <a:latin typeface="Arial" panose="020B0604020202020204" pitchFamily="34" charset="0"/>
                <a:cs typeface="Arial" panose="020B0604020202020204" pitchFamily="34" charset="0"/>
              </a:rPr>
              <a:t>: propiedad también de Microsoft y disponible para versiones de Windows XP, Vista y 7</a:t>
            </a:r>
          </a:p>
          <a:p>
            <a:pPr algn="l">
              <a:buFont typeface="Arial" panose="020B0604020202020204" pitchFamily="34" charset="0"/>
              <a:buChar char="•"/>
            </a:pPr>
            <a:r>
              <a:rPr lang="es-AR" sz="1900" b="1" i="0" dirty="0" err="1">
                <a:solidFill>
                  <a:srgbClr val="2C2F34"/>
                </a:solidFill>
                <a:effectLst/>
                <a:latin typeface="Arial" panose="020B0604020202020204" pitchFamily="34" charset="0"/>
                <a:cs typeface="Arial" panose="020B0604020202020204" pitchFamily="34" charset="0"/>
              </a:rPr>
              <a:t>Xen</a:t>
            </a:r>
            <a:r>
              <a:rPr lang="es-AR" sz="1900" b="0" i="0" dirty="0">
                <a:solidFill>
                  <a:srgbClr val="2C2F34"/>
                </a:solidFill>
                <a:effectLst/>
                <a:latin typeface="Arial" panose="020B0604020202020204" pitchFamily="34" charset="0"/>
                <a:cs typeface="Arial" panose="020B0604020202020204" pitchFamily="34" charset="0"/>
              </a:rPr>
              <a:t>: Desarrollado por la universidad de Cambridge es un software de código libre y disponible para el sistema operativo Linux y Unix</a:t>
            </a:r>
          </a:p>
          <a:p>
            <a:pPr algn="l">
              <a:buFont typeface="Arial" panose="020B0604020202020204" pitchFamily="34" charset="0"/>
              <a:buChar char="•"/>
            </a:pPr>
            <a:r>
              <a:rPr lang="es-AR" sz="1900" b="1" i="0" dirty="0" err="1">
                <a:solidFill>
                  <a:srgbClr val="2C2F34"/>
                </a:solidFill>
                <a:effectLst/>
                <a:latin typeface="Arial" panose="020B0604020202020204" pitchFamily="34" charset="0"/>
                <a:cs typeface="Arial" panose="020B0604020202020204" pitchFamily="34" charset="0"/>
              </a:rPr>
              <a:t>OpenVZ</a:t>
            </a:r>
            <a:r>
              <a:rPr lang="es-AR" sz="1900" b="0" i="0" dirty="0">
                <a:solidFill>
                  <a:srgbClr val="2C2F34"/>
                </a:solidFill>
                <a:effectLst/>
                <a:latin typeface="Arial" panose="020B0604020202020204" pitchFamily="34" charset="0"/>
                <a:cs typeface="Arial" panose="020B0604020202020204" pitchFamily="34" charset="0"/>
              </a:rPr>
              <a:t>: otro software de código libre que es compatible solamente con versiones de Linux, tanto para anfitriones como para virtuales.</a:t>
            </a:r>
          </a:p>
          <a:p>
            <a:pPr algn="l">
              <a:buFont typeface="Arial" panose="020B0604020202020204" pitchFamily="34" charset="0"/>
              <a:buChar char="•"/>
            </a:pPr>
            <a:r>
              <a:rPr lang="es-AR" sz="1900" b="1" i="0" dirty="0">
                <a:solidFill>
                  <a:srgbClr val="2C2F34"/>
                </a:solidFill>
                <a:effectLst/>
                <a:latin typeface="Arial" panose="020B0604020202020204" pitchFamily="34" charset="0"/>
                <a:cs typeface="Arial" panose="020B0604020202020204" pitchFamily="34" charset="0"/>
              </a:rPr>
              <a:t>KVM</a:t>
            </a:r>
            <a:r>
              <a:rPr lang="es-AR" sz="1900" b="0" i="0" dirty="0">
                <a:solidFill>
                  <a:srgbClr val="2C2F34"/>
                </a:solidFill>
                <a:effectLst/>
                <a:latin typeface="Arial" panose="020B0604020202020204" pitchFamily="34" charset="0"/>
                <a:cs typeface="Arial" panose="020B0604020202020204" pitchFamily="34" charset="0"/>
              </a:rPr>
              <a:t>: otra herramienta de virtualización para el sistema operativo Linux</a:t>
            </a:r>
          </a:p>
          <a:p>
            <a:pPr marL="123444" indent="0">
              <a:buNone/>
            </a:pPr>
            <a:endParaRPr lang="en-US" dirty="0"/>
          </a:p>
        </p:txBody>
      </p:sp>
    </p:spTree>
    <p:extLst>
      <p:ext uri="{BB962C8B-B14F-4D97-AF65-F5344CB8AC3E}">
        <p14:creationId xmlns:p14="http://schemas.microsoft.com/office/powerpoint/2010/main" val="505294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C5AC2D-3D53-1278-8C37-B1696741DE1A}"/>
              </a:ext>
            </a:extLst>
          </p:cNvPr>
          <p:cNvSpPr>
            <a:spLocks noGrp="1"/>
          </p:cNvSpPr>
          <p:nvPr>
            <p:ph type="title"/>
          </p:nvPr>
        </p:nvSpPr>
        <p:spPr/>
        <p:txBody>
          <a:bodyPr/>
          <a:lstStyle/>
          <a:p>
            <a:r>
              <a:rPr lang="es-AR" dirty="0"/>
              <a:t>Ventajas de la Virtualización</a:t>
            </a:r>
            <a:endParaRPr lang="en-US" dirty="0"/>
          </a:p>
        </p:txBody>
      </p:sp>
      <p:sp>
        <p:nvSpPr>
          <p:cNvPr id="3" name="Marcador de texto 2">
            <a:extLst>
              <a:ext uri="{FF2B5EF4-FFF2-40B4-BE49-F238E27FC236}">
                <a16:creationId xmlns:a16="http://schemas.microsoft.com/office/drawing/2014/main" id="{E0DC466D-5231-A77F-36AF-034783489F43}"/>
              </a:ext>
            </a:extLst>
          </p:cNvPr>
          <p:cNvSpPr>
            <a:spLocks noGrp="1"/>
          </p:cNvSpPr>
          <p:nvPr>
            <p:ph type="body" idx="1"/>
          </p:nvPr>
        </p:nvSpPr>
        <p:spPr>
          <a:xfrm>
            <a:off x="371959" y="1844298"/>
            <a:ext cx="11468746" cy="5013701"/>
          </a:xfrm>
        </p:spPr>
        <p:txBody>
          <a:bodyPr>
            <a:normAutofit fontScale="70000" lnSpcReduction="20000"/>
          </a:bodyPr>
          <a:lstStyle/>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Reducción de costes</a:t>
            </a:r>
            <a:r>
              <a:rPr lang="es-AR" sz="2900" b="0" i="0" dirty="0">
                <a:solidFill>
                  <a:srgbClr val="2C2F34"/>
                </a:solidFill>
                <a:effectLst/>
                <a:latin typeface="Arial" panose="020B0604020202020204" pitchFamily="34" charset="0"/>
                <a:cs typeface="Arial" panose="020B0604020202020204" pitchFamily="34" charset="0"/>
              </a:rPr>
              <a:t>: una de las ventajas más significativas es el ahorro de costes. Gracias a la virtualización evitaremos comprar hardware o licencia para más sistemas operativos.</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Mayor eficiencia de trabajo:</a:t>
            </a:r>
            <a:r>
              <a:rPr lang="es-AR" sz="2900" b="0" i="0" dirty="0">
                <a:solidFill>
                  <a:srgbClr val="2C2F34"/>
                </a:solidFill>
                <a:effectLst/>
                <a:latin typeface="Arial" panose="020B0604020202020204" pitchFamily="34" charset="0"/>
                <a:cs typeface="Arial" panose="020B0604020202020204" pitchFamily="34" charset="0"/>
              </a:rPr>
              <a:t> gracias a tener los recursos compartidos y escalados en distintos elementos compartido en red, la eficiencia de acceso a los datos o recursos es mucho más rápida.</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Menor consumo de energía</a:t>
            </a:r>
            <a:r>
              <a:rPr lang="es-AR" sz="2900" b="0" i="0" dirty="0">
                <a:solidFill>
                  <a:srgbClr val="2C2F34"/>
                </a:solidFill>
                <a:effectLst/>
                <a:latin typeface="Arial" panose="020B0604020202020204" pitchFamily="34" charset="0"/>
                <a:cs typeface="Arial" panose="020B0604020202020204" pitchFamily="34" charset="0"/>
              </a:rPr>
              <a:t>: esto está directamente relacionado a la cantidad de equipos conectados a una red eléctrica. Si tenemos equipos virtuales solamente habrá consumo de la plataforma que sostiene el resto de sistemas</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Mejora en la seguridad</a:t>
            </a:r>
            <a:r>
              <a:rPr lang="es-AR" sz="2900" b="0" i="0" dirty="0">
                <a:solidFill>
                  <a:srgbClr val="2C2F34"/>
                </a:solidFill>
                <a:effectLst/>
                <a:latin typeface="Arial" panose="020B0604020202020204" pitchFamily="34" charset="0"/>
                <a:cs typeface="Arial" panose="020B0604020202020204" pitchFamily="34" charset="0"/>
              </a:rPr>
              <a:t>: disponer de equipos físicos conectados a una red aumenta la probabilidad de taques a los datos. Mediante la virtualización de servidores y almacenamiento este riesgo se reduce considerablemente.</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Menor necesidad de mantenimiento</a:t>
            </a:r>
            <a:r>
              <a:rPr lang="es-AR" sz="2900" b="0" i="0" dirty="0">
                <a:solidFill>
                  <a:srgbClr val="2C2F34"/>
                </a:solidFill>
                <a:effectLst/>
                <a:latin typeface="Arial" panose="020B0604020202020204" pitchFamily="34" charset="0"/>
                <a:cs typeface="Arial" panose="020B0604020202020204" pitchFamily="34" charset="0"/>
              </a:rPr>
              <a:t>: un equipo virtual no tiene componentes físicos por lo que estos no pueden fallar.</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Posibilidad de clonación</a:t>
            </a:r>
            <a:r>
              <a:rPr lang="es-AR" sz="2900" b="0" i="0" dirty="0">
                <a:solidFill>
                  <a:srgbClr val="2C2F34"/>
                </a:solidFill>
                <a:effectLst/>
                <a:latin typeface="Arial" panose="020B0604020202020204" pitchFamily="34" charset="0"/>
                <a:cs typeface="Arial" panose="020B0604020202020204" pitchFamily="34" charset="0"/>
              </a:rPr>
              <a:t>: disponiendo de una máquina virtual, podemos clonar esta las veces que queramos ni necesidad de instalar nada extra.</a:t>
            </a:r>
          </a:p>
          <a:p>
            <a:pPr algn="l">
              <a:buFont typeface="Arial" panose="020B0604020202020204" pitchFamily="34" charset="0"/>
              <a:buChar char="•"/>
            </a:pPr>
            <a:r>
              <a:rPr lang="es-AR" sz="2900" b="1" i="0" dirty="0">
                <a:solidFill>
                  <a:srgbClr val="2C2F34"/>
                </a:solidFill>
                <a:effectLst/>
                <a:latin typeface="Arial" panose="020B0604020202020204" pitchFamily="34" charset="0"/>
                <a:cs typeface="Arial" panose="020B0604020202020204" pitchFamily="34" charset="0"/>
              </a:rPr>
              <a:t>Portabilidad</a:t>
            </a:r>
            <a:r>
              <a:rPr lang="es-AR" sz="2900" b="0" i="0" dirty="0">
                <a:solidFill>
                  <a:srgbClr val="2C2F34"/>
                </a:solidFill>
                <a:effectLst/>
                <a:latin typeface="Arial" panose="020B0604020202020204" pitchFamily="34" charset="0"/>
                <a:cs typeface="Arial" panose="020B0604020202020204" pitchFamily="34" charset="0"/>
              </a:rPr>
              <a:t>: al igual que el punto anterior, si clonamos una máquina podres destinarla a otro servidor si necesidad de buscar hardware personalizado.</a:t>
            </a:r>
          </a:p>
          <a:p>
            <a:pPr marL="123444"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3933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C5AC2D-3D53-1278-8C37-B1696741DE1A}"/>
              </a:ext>
            </a:extLst>
          </p:cNvPr>
          <p:cNvSpPr>
            <a:spLocks noGrp="1"/>
          </p:cNvSpPr>
          <p:nvPr>
            <p:ph type="title"/>
          </p:nvPr>
        </p:nvSpPr>
        <p:spPr/>
        <p:txBody>
          <a:bodyPr/>
          <a:lstStyle/>
          <a:p>
            <a:r>
              <a:rPr lang="es-AR" dirty="0"/>
              <a:t>Desventajas de la Virtualización</a:t>
            </a:r>
            <a:endParaRPr lang="en-US" dirty="0"/>
          </a:p>
        </p:txBody>
      </p:sp>
      <p:sp>
        <p:nvSpPr>
          <p:cNvPr id="3" name="Marcador de texto 2">
            <a:extLst>
              <a:ext uri="{FF2B5EF4-FFF2-40B4-BE49-F238E27FC236}">
                <a16:creationId xmlns:a16="http://schemas.microsoft.com/office/drawing/2014/main" id="{E0DC466D-5231-A77F-36AF-034783489F43}"/>
              </a:ext>
            </a:extLst>
          </p:cNvPr>
          <p:cNvSpPr>
            <a:spLocks noGrp="1"/>
          </p:cNvSpPr>
          <p:nvPr>
            <p:ph type="body" idx="1"/>
          </p:nvPr>
        </p:nvSpPr>
        <p:spPr>
          <a:xfrm>
            <a:off x="371959" y="1844298"/>
            <a:ext cx="11468746" cy="5013701"/>
          </a:xfrm>
        </p:spPr>
        <p:txBody>
          <a:bodyPr>
            <a:normAutofit/>
          </a:bodyPr>
          <a:lstStyle/>
          <a:p>
            <a:pPr>
              <a:buFont typeface="Arial" panose="020B0604020202020204" pitchFamily="34" charset="0"/>
              <a:buChar char="•"/>
            </a:pPr>
            <a:r>
              <a:rPr lang="es-AR" sz="2000" b="1" dirty="0">
                <a:solidFill>
                  <a:srgbClr val="2C2F34"/>
                </a:solidFill>
                <a:latin typeface="Arial" panose="020B0604020202020204" pitchFamily="34" charset="0"/>
                <a:cs typeface="Arial" panose="020B0604020202020204" pitchFamily="34" charset="0"/>
              </a:rPr>
              <a:t>Fase de aprendizaje: </a:t>
            </a:r>
            <a:r>
              <a:rPr lang="es-AR" sz="2000" dirty="0">
                <a:solidFill>
                  <a:srgbClr val="2C2F34"/>
                </a:solidFill>
                <a:latin typeface="Arial" panose="020B0604020202020204" pitchFamily="34" charset="0"/>
                <a:cs typeface="Arial" panose="020B0604020202020204" pitchFamily="34" charset="0"/>
              </a:rPr>
              <a:t>una de las asignaturas que se deben superar es precisamente el saber manejar el software de virtualización. El personal que utilice este método debe saber exactamente las posibilidad y uso de las herramientas de virtualización, de lo contrario todo terminaría en desastre.</a:t>
            </a:r>
          </a:p>
          <a:p>
            <a:pPr>
              <a:buFont typeface="Arial" panose="020B0604020202020204" pitchFamily="34" charset="0"/>
              <a:buChar char="•"/>
            </a:pPr>
            <a:r>
              <a:rPr lang="es-AR" sz="2000" b="1" dirty="0">
                <a:solidFill>
                  <a:srgbClr val="2C2F34"/>
                </a:solidFill>
                <a:latin typeface="Arial" panose="020B0604020202020204" pitchFamily="34" charset="0"/>
                <a:cs typeface="Arial" panose="020B0604020202020204" pitchFamily="34" charset="0"/>
              </a:rPr>
              <a:t>Aumento de costes iniciales: </a:t>
            </a:r>
            <a:r>
              <a:rPr lang="es-AR" sz="2000" dirty="0">
                <a:solidFill>
                  <a:srgbClr val="2C2F34"/>
                </a:solidFill>
                <a:latin typeface="Arial" panose="020B0604020202020204" pitchFamily="34" charset="0"/>
                <a:cs typeface="Arial" panose="020B0604020202020204" pitchFamily="34" charset="0"/>
              </a:rPr>
              <a:t>para albergar varias máquinas será necesaria la asignación de recursos a cada una de ellas. Por ello es necesario invertir en software potente que quizás una empresa no tenga en un principio.</a:t>
            </a:r>
          </a:p>
          <a:p>
            <a:pPr>
              <a:buFont typeface="Arial" panose="020B0604020202020204" pitchFamily="34" charset="0"/>
              <a:buChar char="•"/>
            </a:pPr>
            <a:r>
              <a:rPr lang="es-AR" sz="2000" b="1" dirty="0">
                <a:solidFill>
                  <a:srgbClr val="2C2F34"/>
                </a:solidFill>
                <a:latin typeface="Arial" panose="020B0604020202020204" pitchFamily="34" charset="0"/>
                <a:cs typeface="Arial" panose="020B0604020202020204" pitchFamily="34" charset="0"/>
              </a:rPr>
              <a:t>Aumento de fallos en cadena: </a:t>
            </a:r>
            <a:r>
              <a:rPr lang="es-AR" sz="2000" dirty="0">
                <a:solidFill>
                  <a:srgbClr val="2C2F34"/>
                </a:solidFill>
                <a:latin typeface="Arial" panose="020B0604020202020204" pitchFamily="34" charset="0"/>
                <a:cs typeface="Arial" panose="020B0604020202020204" pitchFamily="34" charset="0"/>
              </a:rPr>
              <a:t>si el equipo que hace de servidor de máquinas virtuales falla, todas ellas estarán inoperativas, por lo que un fallo provoca un bajón de rendimiento considerable.</a:t>
            </a:r>
          </a:p>
          <a:p>
            <a:pPr marL="123444"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020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C5AC2D-3D53-1278-8C37-B1696741DE1A}"/>
              </a:ext>
            </a:extLst>
          </p:cNvPr>
          <p:cNvSpPr>
            <a:spLocks noGrp="1"/>
          </p:cNvSpPr>
          <p:nvPr>
            <p:ph type="title"/>
          </p:nvPr>
        </p:nvSpPr>
        <p:spPr/>
        <p:txBody>
          <a:bodyPr/>
          <a:lstStyle/>
          <a:p>
            <a:r>
              <a:rPr lang="es-AR" dirty="0"/>
              <a:t>Paso a paso – Virtualización de Sistema operativo </a:t>
            </a:r>
            <a:endParaRPr lang="en-US" dirty="0"/>
          </a:p>
        </p:txBody>
      </p:sp>
      <p:sp>
        <p:nvSpPr>
          <p:cNvPr id="3" name="Marcador de texto 2">
            <a:extLst>
              <a:ext uri="{FF2B5EF4-FFF2-40B4-BE49-F238E27FC236}">
                <a16:creationId xmlns:a16="http://schemas.microsoft.com/office/drawing/2014/main" id="{E0DC466D-5231-A77F-36AF-034783489F43}"/>
              </a:ext>
            </a:extLst>
          </p:cNvPr>
          <p:cNvSpPr>
            <a:spLocks noGrp="1"/>
          </p:cNvSpPr>
          <p:nvPr>
            <p:ph type="body" idx="1"/>
          </p:nvPr>
        </p:nvSpPr>
        <p:spPr>
          <a:xfrm>
            <a:off x="0" y="1844299"/>
            <a:ext cx="12192000" cy="1101962"/>
          </a:xfrm>
        </p:spPr>
        <p:txBody>
          <a:bodyPr>
            <a:normAutofit/>
          </a:bodyPr>
          <a:lstStyle/>
          <a:p>
            <a:pPr marL="123444" indent="0">
              <a:buNone/>
            </a:pPr>
            <a:r>
              <a:rPr lang="es-AR" sz="2000" dirty="0">
                <a:latin typeface="Arial" panose="020B0604020202020204" pitchFamily="34" charset="0"/>
                <a:cs typeface="Arial" panose="020B0604020202020204" pitchFamily="34" charset="0"/>
              </a:rPr>
              <a:t>Ingresar a la BIOS de la máquina / Verificar que esté activada la función de Virtualización por Hardware.</a:t>
            </a:r>
          </a:p>
          <a:p>
            <a:pPr marL="123444" indent="0">
              <a:buNone/>
            </a:pPr>
            <a:endParaRPr lang="en-US" sz="20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833FC170-6F57-B736-5211-77FA2055B3F2}"/>
              </a:ext>
            </a:extLst>
          </p:cNvPr>
          <p:cNvPicPr>
            <a:picLocks noChangeAspect="1"/>
          </p:cNvPicPr>
          <p:nvPr/>
        </p:nvPicPr>
        <p:blipFill>
          <a:blip r:embed="rId2"/>
          <a:stretch>
            <a:fillRect/>
          </a:stretch>
        </p:blipFill>
        <p:spPr>
          <a:xfrm>
            <a:off x="371959" y="2549858"/>
            <a:ext cx="5797314" cy="1758284"/>
          </a:xfrm>
          <a:prstGeom prst="rect">
            <a:avLst/>
          </a:prstGeom>
        </p:spPr>
      </p:pic>
      <p:pic>
        <p:nvPicPr>
          <p:cNvPr id="7" name="Imagen 6">
            <a:extLst>
              <a:ext uri="{FF2B5EF4-FFF2-40B4-BE49-F238E27FC236}">
                <a16:creationId xmlns:a16="http://schemas.microsoft.com/office/drawing/2014/main" id="{C6859491-D551-59B0-28A6-8393C70B3B5D}"/>
              </a:ext>
            </a:extLst>
          </p:cNvPr>
          <p:cNvPicPr>
            <a:picLocks noChangeAspect="1"/>
          </p:cNvPicPr>
          <p:nvPr/>
        </p:nvPicPr>
        <p:blipFill>
          <a:blip r:embed="rId3"/>
          <a:stretch>
            <a:fillRect/>
          </a:stretch>
        </p:blipFill>
        <p:spPr>
          <a:xfrm>
            <a:off x="6394686" y="2588430"/>
            <a:ext cx="5425354" cy="1116253"/>
          </a:xfrm>
          <a:prstGeom prst="rect">
            <a:avLst/>
          </a:prstGeom>
        </p:spPr>
      </p:pic>
      <p:pic>
        <p:nvPicPr>
          <p:cNvPr id="9" name="Imagen 8">
            <a:extLst>
              <a:ext uri="{FF2B5EF4-FFF2-40B4-BE49-F238E27FC236}">
                <a16:creationId xmlns:a16="http://schemas.microsoft.com/office/drawing/2014/main" id="{93709355-80D2-8E3C-A46E-C3D604A20ECA}"/>
              </a:ext>
            </a:extLst>
          </p:cNvPr>
          <p:cNvPicPr>
            <a:picLocks noChangeAspect="1"/>
          </p:cNvPicPr>
          <p:nvPr/>
        </p:nvPicPr>
        <p:blipFill>
          <a:blip r:embed="rId4"/>
          <a:stretch>
            <a:fillRect/>
          </a:stretch>
        </p:blipFill>
        <p:spPr>
          <a:xfrm>
            <a:off x="371960" y="4463107"/>
            <a:ext cx="5797313" cy="2276475"/>
          </a:xfrm>
          <a:prstGeom prst="rect">
            <a:avLst/>
          </a:prstGeom>
        </p:spPr>
      </p:pic>
      <p:pic>
        <p:nvPicPr>
          <p:cNvPr id="11" name="Imagen 10">
            <a:extLst>
              <a:ext uri="{FF2B5EF4-FFF2-40B4-BE49-F238E27FC236}">
                <a16:creationId xmlns:a16="http://schemas.microsoft.com/office/drawing/2014/main" id="{ED24473F-55ED-A52C-B1B9-6C81B4ACA54D}"/>
              </a:ext>
            </a:extLst>
          </p:cNvPr>
          <p:cNvPicPr>
            <a:picLocks noChangeAspect="1"/>
          </p:cNvPicPr>
          <p:nvPr/>
        </p:nvPicPr>
        <p:blipFill>
          <a:blip r:embed="rId5"/>
          <a:stretch>
            <a:fillRect/>
          </a:stretch>
        </p:blipFill>
        <p:spPr>
          <a:xfrm>
            <a:off x="6394686" y="3905573"/>
            <a:ext cx="5425354" cy="2834009"/>
          </a:xfrm>
          <a:prstGeom prst="rect">
            <a:avLst/>
          </a:prstGeom>
        </p:spPr>
      </p:pic>
    </p:spTree>
    <p:extLst>
      <p:ext uri="{BB962C8B-B14F-4D97-AF65-F5344CB8AC3E}">
        <p14:creationId xmlns:p14="http://schemas.microsoft.com/office/powerpoint/2010/main" val="2549750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F4FAC9-CA45-D1D3-8C35-FBDFE521DD14}"/>
              </a:ext>
            </a:extLst>
          </p:cNvPr>
          <p:cNvSpPr>
            <a:spLocks noGrp="1"/>
          </p:cNvSpPr>
          <p:nvPr>
            <p:ph type="title"/>
          </p:nvPr>
        </p:nvSpPr>
        <p:spPr/>
        <p:txBody>
          <a:bodyPr/>
          <a:lstStyle/>
          <a:p>
            <a:r>
              <a:rPr lang="es-AR" dirty="0"/>
              <a:t>Virtualizar desde BIOS</a:t>
            </a:r>
            <a:endParaRPr lang="en-US" dirty="0"/>
          </a:p>
        </p:txBody>
      </p:sp>
      <p:pic>
        <p:nvPicPr>
          <p:cNvPr id="6" name="Imagen 5">
            <a:extLst>
              <a:ext uri="{FF2B5EF4-FFF2-40B4-BE49-F238E27FC236}">
                <a16:creationId xmlns:a16="http://schemas.microsoft.com/office/drawing/2014/main" id="{7B061388-79AB-76C2-A231-38D98B8C8DBB}"/>
              </a:ext>
            </a:extLst>
          </p:cNvPr>
          <p:cNvPicPr>
            <a:picLocks noChangeAspect="1"/>
          </p:cNvPicPr>
          <p:nvPr/>
        </p:nvPicPr>
        <p:blipFill>
          <a:blip r:embed="rId2"/>
          <a:stretch>
            <a:fillRect/>
          </a:stretch>
        </p:blipFill>
        <p:spPr>
          <a:xfrm>
            <a:off x="445900" y="1971889"/>
            <a:ext cx="6774696" cy="4661969"/>
          </a:xfrm>
          <a:prstGeom prst="rect">
            <a:avLst/>
          </a:prstGeom>
        </p:spPr>
      </p:pic>
      <p:pic>
        <p:nvPicPr>
          <p:cNvPr id="8" name="Imagen 7">
            <a:extLst>
              <a:ext uri="{FF2B5EF4-FFF2-40B4-BE49-F238E27FC236}">
                <a16:creationId xmlns:a16="http://schemas.microsoft.com/office/drawing/2014/main" id="{25FE845D-24F6-6BFA-75A7-36ABB82D0EC5}"/>
              </a:ext>
            </a:extLst>
          </p:cNvPr>
          <p:cNvPicPr>
            <a:picLocks noChangeAspect="1"/>
          </p:cNvPicPr>
          <p:nvPr/>
        </p:nvPicPr>
        <p:blipFill>
          <a:blip r:embed="rId3"/>
          <a:stretch>
            <a:fillRect/>
          </a:stretch>
        </p:blipFill>
        <p:spPr>
          <a:xfrm>
            <a:off x="7400758" y="1971889"/>
            <a:ext cx="4345341" cy="1562100"/>
          </a:xfrm>
          <a:prstGeom prst="rect">
            <a:avLst/>
          </a:prstGeom>
        </p:spPr>
      </p:pic>
      <p:pic>
        <p:nvPicPr>
          <p:cNvPr id="10" name="Imagen 9">
            <a:extLst>
              <a:ext uri="{FF2B5EF4-FFF2-40B4-BE49-F238E27FC236}">
                <a16:creationId xmlns:a16="http://schemas.microsoft.com/office/drawing/2014/main" id="{E6146437-B0DE-7EEE-55B1-ECE24F580C59}"/>
              </a:ext>
            </a:extLst>
          </p:cNvPr>
          <p:cNvPicPr>
            <a:picLocks noChangeAspect="1"/>
          </p:cNvPicPr>
          <p:nvPr/>
        </p:nvPicPr>
        <p:blipFill>
          <a:blip r:embed="rId4"/>
          <a:stretch>
            <a:fillRect/>
          </a:stretch>
        </p:blipFill>
        <p:spPr>
          <a:xfrm>
            <a:off x="7400759" y="3671431"/>
            <a:ext cx="4345339" cy="2937159"/>
          </a:xfrm>
          <a:prstGeom prst="rect">
            <a:avLst/>
          </a:prstGeom>
        </p:spPr>
      </p:pic>
    </p:spTree>
    <p:extLst>
      <p:ext uri="{BB962C8B-B14F-4D97-AF65-F5344CB8AC3E}">
        <p14:creationId xmlns:p14="http://schemas.microsoft.com/office/powerpoint/2010/main" val="456682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9A90E6-D37E-7102-94C7-212312FC259E}"/>
              </a:ext>
            </a:extLst>
          </p:cNvPr>
          <p:cNvSpPr>
            <a:spLocks noGrp="1"/>
          </p:cNvSpPr>
          <p:nvPr>
            <p:ph type="title"/>
          </p:nvPr>
        </p:nvSpPr>
        <p:spPr/>
        <p:txBody>
          <a:bodyPr/>
          <a:lstStyle/>
          <a:p>
            <a:r>
              <a:rPr lang="es-AR" dirty="0"/>
              <a:t>Instalando VirtualBox en Windows</a:t>
            </a:r>
            <a:endParaRPr lang="en-US" dirty="0"/>
          </a:p>
        </p:txBody>
      </p:sp>
      <p:sp>
        <p:nvSpPr>
          <p:cNvPr id="3" name="Marcador de texto 2">
            <a:extLst>
              <a:ext uri="{FF2B5EF4-FFF2-40B4-BE49-F238E27FC236}">
                <a16:creationId xmlns:a16="http://schemas.microsoft.com/office/drawing/2014/main" id="{0C4924F0-7121-AF32-D823-A924B43E770F}"/>
              </a:ext>
            </a:extLst>
          </p:cNvPr>
          <p:cNvSpPr>
            <a:spLocks noGrp="1"/>
          </p:cNvSpPr>
          <p:nvPr>
            <p:ph type="body" idx="1"/>
          </p:nvPr>
        </p:nvSpPr>
        <p:spPr>
          <a:xfrm>
            <a:off x="581193" y="2228003"/>
            <a:ext cx="3835824" cy="3633047"/>
          </a:xfrm>
        </p:spPr>
        <p:txBody>
          <a:bodyPr/>
          <a:lstStyle/>
          <a:p>
            <a:pPr marL="123444" indent="0">
              <a:buNone/>
            </a:pPr>
            <a:r>
              <a:rPr lang="es-AR" dirty="0"/>
              <a:t>Ir al sitio </a:t>
            </a:r>
            <a:r>
              <a:rPr lang="es-AR" dirty="0">
                <a:hlinkClick r:id="rId2"/>
              </a:rPr>
              <a:t>https://www.virtualbox.org/</a:t>
            </a:r>
            <a:endParaRPr lang="es-AR" dirty="0"/>
          </a:p>
          <a:p>
            <a:pPr marL="123444" indent="0">
              <a:buNone/>
            </a:pPr>
            <a:endParaRPr lang="es-AR" dirty="0"/>
          </a:p>
          <a:p>
            <a:pPr marL="123444" indent="0">
              <a:buNone/>
            </a:pPr>
            <a:r>
              <a:rPr lang="es-AR" dirty="0"/>
              <a:t>Descargar la versión Windows Hosts.</a:t>
            </a:r>
          </a:p>
          <a:p>
            <a:pPr marL="123444" indent="0">
              <a:buNone/>
            </a:pPr>
            <a:endParaRPr lang="es-AR" dirty="0"/>
          </a:p>
          <a:p>
            <a:pPr marL="123444" indent="0">
              <a:buNone/>
            </a:pPr>
            <a:r>
              <a:rPr lang="es-AR" dirty="0"/>
              <a:t>Una vez descargado proceder a la instalación del programa.</a:t>
            </a:r>
          </a:p>
          <a:p>
            <a:pPr marL="123444" indent="0">
              <a:buNone/>
            </a:pPr>
            <a:endParaRPr lang="en-US" dirty="0"/>
          </a:p>
        </p:txBody>
      </p:sp>
      <p:pic>
        <p:nvPicPr>
          <p:cNvPr id="8" name="Imagen 7">
            <a:extLst>
              <a:ext uri="{FF2B5EF4-FFF2-40B4-BE49-F238E27FC236}">
                <a16:creationId xmlns:a16="http://schemas.microsoft.com/office/drawing/2014/main" id="{7F04C9A8-F52E-A609-28B6-6DD92461E61A}"/>
              </a:ext>
            </a:extLst>
          </p:cNvPr>
          <p:cNvPicPr>
            <a:picLocks noChangeAspect="1"/>
          </p:cNvPicPr>
          <p:nvPr/>
        </p:nvPicPr>
        <p:blipFill>
          <a:blip r:embed="rId3"/>
          <a:stretch>
            <a:fillRect/>
          </a:stretch>
        </p:blipFill>
        <p:spPr>
          <a:xfrm>
            <a:off x="5727431" y="1949033"/>
            <a:ext cx="6015736" cy="4629997"/>
          </a:xfrm>
          <a:prstGeom prst="rect">
            <a:avLst/>
          </a:prstGeom>
        </p:spPr>
      </p:pic>
      <p:pic>
        <p:nvPicPr>
          <p:cNvPr id="10" name="Imagen 9">
            <a:extLst>
              <a:ext uri="{FF2B5EF4-FFF2-40B4-BE49-F238E27FC236}">
                <a16:creationId xmlns:a16="http://schemas.microsoft.com/office/drawing/2014/main" id="{88217774-6027-356B-483F-DC9155CF074E}"/>
              </a:ext>
            </a:extLst>
          </p:cNvPr>
          <p:cNvPicPr>
            <a:picLocks noChangeAspect="1"/>
          </p:cNvPicPr>
          <p:nvPr/>
        </p:nvPicPr>
        <p:blipFill>
          <a:blip r:embed="rId4"/>
          <a:stretch>
            <a:fillRect/>
          </a:stretch>
        </p:blipFill>
        <p:spPr>
          <a:xfrm>
            <a:off x="581193" y="5147132"/>
            <a:ext cx="3835824" cy="488734"/>
          </a:xfrm>
          <a:prstGeom prst="rect">
            <a:avLst/>
          </a:prstGeom>
        </p:spPr>
      </p:pic>
    </p:spTree>
    <p:extLst>
      <p:ext uri="{BB962C8B-B14F-4D97-AF65-F5344CB8AC3E}">
        <p14:creationId xmlns:p14="http://schemas.microsoft.com/office/powerpoint/2010/main" val="1434521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9B6C6B-B5C1-3F57-20EB-62EF0BB0C56C}"/>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675FD8BC-07E2-FA6A-4C88-C354FE05A1AD}"/>
              </a:ext>
            </a:extLst>
          </p:cNvPr>
          <p:cNvPicPr>
            <a:picLocks noChangeAspect="1"/>
          </p:cNvPicPr>
          <p:nvPr/>
        </p:nvPicPr>
        <p:blipFill>
          <a:blip r:embed="rId2"/>
          <a:stretch>
            <a:fillRect/>
          </a:stretch>
        </p:blipFill>
        <p:spPr>
          <a:xfrm>
            <a:off x="379387" y="1974740"/>
            <a:ext cx="3867149" cy="3693682"/>
          </a:xfrm>
          <a:prstGeom prst="rect">
            <a:avLst/>
          </a:prstGeom>
        </p:spPr>
      </p:pic>
      <p:pic>
        <p:nvPicPr>
          <p:cNvPr id="8" name="Imagen 7">
            <a:extLst>
              <a:ext uri="{FF2B5EF4-FFF2-40B4-BE49-F238E27FC236}">
                <a16:creationId xmlns:a16="http://schemas.microsoft.com/office/drawing/2014/main" id="{97E34566-A070-42AA-5859-105968EC16B4}"/>
              </a:ext>
            </a:extLst>
          </p:cNvPr>
          <p:cNvPicPr>
            <a:picLocks noChangeAspect="1"/>
          </p:cNvPicPr>
          <p:nvPr/>
        </p:nvPicPr>
        <p:blipFill>
          <a:blip r:embed="rId3"/>
          <a:stretch>
            <a:fillRect/>
          </a:stretch>
        </p:blipFill>
        <p:spPr>
          <a:xfrm>
            <a:off x="4515496" y="2001297"/>
            <a:ext cx="3520700" cy="3667125"/>
          </a:xfrm>
          <a:prstGeom prst="rect">
            <a:avLst/>
          </a:prstGeom>
        </p:spPr>
      </p:pic>
      <p:pic>
        <p:nvPicPr>
          <p:cNvPr id="10" name="Imagen 9">
            <a:extLst>
              <a:ext uri="{FF2B5EF4-FFF2-40B4-BE49-F238E27FC236}">
                <a16:creationId xmlns:a16="http://schemas.microsoft.com/office/drawing/2014/main" id="{EC0FB667-09FF-347A-2791-1218E9E6CE9A}"/>
              </a:ext>
            </a:extLst>
          </p:cNvPr>
          <p:cNvPicPr>
            <a:picLocks noChangeAspect="1"/>
          </p:cNvPicPr>
          <p:nvPr/>
        </p:nvPicPr>
        <p:blipFill>
          <a:blip r:embed="rId4"/>
          <a:stretch>
            <a:fillRect/>
          </a:stretch>
        </p:blipFill>
        <p:spPr>
          <a:xfrm>
            <a:off x="8305156" y="1982247"/>
            <a:ext cx="3507457" cy="3686175"/>
          </a:xfrm>
          <a:prstGeom prst="rect">
            <a:avLst/>
          </a:prstGeom>
        </p:spPr>
      </p:pic>
    </p:spTree>
    <p:extLst>
      <p:ext uri="{BB962C8B-B14F-4D97-AF65-F5344CB8AC3E}">
        <p14:creationId xmlns:p14="http://schemas.microsoft.com/office/powerpoint/2010/main" val="2470872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46B726-C92C-666D-BBB0-8FD8C145D30A}"/>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FD60DEDC-5542-5A70-BA47-37F628B14786}"/>
              </a:ext>
            </a:extLst>
          </p:cNvPr>
          <p:cNvPicPr>
            <a:picLocks noChangeAspect="1"/>
          </p:cNvPicPr>
          <p:nvPr/>
        </p:nvPicPr>
        <p:blipFill>
          <a:blip r:embed="rId2"/>
          <a:stretch>
            <a:fillRect/>
          </a:stretch>
        </p:blipFill>
        <p:spPr>
          <a:xfrm>
            <a:off x="581191" y="2228003"/>
            <a:ext cx="4705350" cy="3667125"/>
          </a:xfrm>
          <a:prstGeom prst="rect">
            <a:avLst/>
          </a:prstGeom>
        </p:spPr>
      </p:pic>
      <p:pic>
        <p:nvPicPr>
          <p:cNvPr id="8" name="Imagen 7">
            <a:extLst>
              <a:ext uri="{FF2B5EF4-FFF2-40B4-BE49-F238E27FC236}">
                <a16:creationId xmlns:a16="http://schemas.microsoft.com/office/drawing/2014/main" id="{EEAF9C1F-B333-1C2C-93E4-947A633DA446}"/>
              </a:ext>
            </a:extLst>
          </p:cNvPr>
          <p:cNvPicPr>
            <a:picLocks noChangeAspect="1"/>
          </p:cNvPicPr>
          <p:nvPr/>
        </p:nvPicPr>
        <p:blipFill>
          <a:blip r:embed="rId3"/>
          <a:stretch>
            <a:fillRect/>
          </a:stretch>
        </p:blipFill>
        <p:spPr>
          <a:xfrm>
            <a:off x="6096000" y="2247053"/>
            <a:ext cx="4705350" cy="3648075"/>
          </a:xfrm>
          <a:prstGeom prst="rect">
            <a:avLst/>
          </a:prstGeom>
        </p:spPr>
      </p:pic>
    </p:spTree>
    <p:extLst>
      <p:ext uri="{BB962C8B-B14F-4D97-AF65-F5344CB8AC3E}">
        <p14:creationId xmlns:p14="http://schemas.microsoft.com/office/powerpoint/2010/main" val="3466484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FBFC7A-2084-2F12-22E3-F122B44AC81B}"/>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C09A165E-171B-BF38-0C54-88615E0CD3D5}"/>
              </a:ext>
            </a:extLst>
          </p:cNvPr>
          <p:cNvPicPr>
            <a:picLocks noChangeAspect="1"/>
          </p:cNvPicPr>
          <p:nvPr/>
        </p:nvPicPr>
        <p:blipFill>
          <a:blip r:embed="rId2"/>
          <a:stretch>
            <a:fillRect/>
          </a:stretch>
        </p:blipFill>
        <p:spPr>
          <a:xfrm>
            <a:off x="581191" y="1968284"/>
            <a:ext cx="4925524" cy="4742481"/>
          </a:xfrm>
          <a:prstGeom prst="rect">
            <a:avLst/>
          </a:prstGeom>
        </p:spPr>
      </p:pic>
      <p:pic>
        <p:nvPicPr>
          <p:cNvPr id="8" name="Imagen 7">
            <a:extLst>
              <a:ext uri="{FF2B5EF4-FFF2-40B4-BE49-F238E27FC236}">
                <a16:creationId xmlns:a16="http://schemas.microsoft.com/office/drawing/2014/main" id="{9EE1AFB5-DBA5-4B71-F6E4-58FA6032D5F5}"/>
              </a:ext>
            </a:extLst>
          </p:cNvPr>
          <p:cNvPicPr>
            <a:picLocks noChangeAspect="1"/>
          </p:cNvPicPr>
          <p:nvPr/>
        </p:nvPicPr>
        <p:blipFill>
          <a:blip r:embed="rId3"/>
          <a:stretch>
            <a:fillRect/>
          </a:stretch>
        </p:blipFill>
        <p:spPr>
          <a:xfrm>
            <a:off x="6734009" y="2281640"/>
            <a:ext cx="4876800" cy="4429125"/>
          </a:xfrm>
          <a:prstGeom prst="rect">
            <a:avLst/>
          </a:prstGeom>
        </p:spPr>
      </p:pic>
    </p:spTree>
    <p:extLst>
      <p:ext uri="{BB962C8B-B14F-4D97-AF65-F5344CB8AC3E}">
        <p14:creationId xmlns:p14="http://schemas.microsoft.com/office/powerpoint/2010/main" val="116127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246EBF-3E48-A2D2-EFDE-06264BB1FF9E}"/>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B6024856-AC26-1C96-56D6-AE9706E8CFBA}"/>
              </a:ext>
            </a:extLst>
          </p:cNvPr>
          <p:cNvPicPr>
            <a:picLocks noChangeAspect="1"/>
          </p:cNvPicPr>
          <p:nvPr/>
        </p:nvPicPr>
        <p:blipFill>
          <a:blip r:embed="rId2"/>
          <a:stretch>
            <a:fillRect/>
          </a:stretch>
        </p:blipFill>
        <p:spPr>
          <a:xfrm>
            <a:off x="363887" y="2009164"/>
            <a:ext cx="5184506" cy="4636945"/>
          </a:xfrm>
          <a:prstGeom prst="rect">
            <a:avLst/>
          </a:prstGeom>
        </p:spPr>
      </p:pic>
      <p:pic>
        <p:nvPicPr>
          <p:cNvPr id="10" name="Imagen 9">
            <a:extLst>
              <a:ext uri="{FF2B5EF4-FFF2-40B4-BE49-F238E27FC236}">
                <a16:creationId xmlns:a16="http://schemas.microsoft.com/office/drawing/2014/main" id="{D6B75EA8-C116-2A2B-AC06-4A32DC1B7B71}"/>
              </a:ext>
            </a:extLst>
          </p:cNvPr>
          <p:cNvPicPr>
            <a:picLocks noChangeAspect="1"/>
          </p:cNvPicPr>
          <p:nvPr/>
        </p:nvPicPr>
        <p:blipFill>
          <a:blip r:embed="rId3"/>
          <a:stretch>
            <a:fillRect/>
          </a:stretch>
        </p:blipFill>
        <p:spPr>
          <a:xfrm>
            <a:off x="6095999" y="2234419"/>
            <a:ext cx="5754147" cy="3893923"/>
          </a:xfrm>
          <a:prstGeom prst="rect">
            <a:avLst/>
          </a:prstGeom>
        </p:spPr>
      </p:pic>
    </p:spTree>
    <p:extLst>
      <p:ext uri="{BB962C8B-B14F-4D97-AF65-F5344CB8AC3E}">
        <p14:creationId xmlns:p14="http://schemas.microsoft.com/office/powerpoint/2010/main" val="2303737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6AA92E-2C78-0DC7-F358-6C01FDEF556C}"/>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8FDAE9AA-4856-EFA8-8973-1755256F5BEA}"/>
              </a:ext>
            </a:extLst>
          </p:cNvPr>
          <p:cNvPicPr>
            <a:picLocks noChangeAspect="1"/>
          </p:cNvPicPr>
          <p:nvPr/>
        </p:nvPicPr>
        <p:blipFill>
          <a:blip r:embed="rId2"/>
          <a:stretch>
            <a:fillRect/>
          </a:stretch>
        </p:blipFill>
        <p:spPr>
          <a:xfrm>
            <a:off x="385763" y="2016345"/>
            <a:ext cx="5710237" cy="4396966"/>
          </a:xfrm>
          <a:prstGeom prst="rect">
            <a:avLst/>
          </a:prstGeom>
        </p:spPr>
      </p:pic>
      <p:pic>
        <p:nvPicPr>
          <p:cNvPr id="8" name="Imagen 7">
            <a:extLst>
              <a:ext uri="{FF2B5EF4-FFF2-40B4-BE49-F238E27FC236}">
                <a16:creationId xmlns:a16="http://schemas.microsoft.com/office/drawing/2014/main" id="{CAD694AB-5CFF-B31E-BF92-4A1F31F6E4B5}"/>
              </a:ext>
            </a:extLst>
          </p:cNvPr>
          <p:cNvPicPr>
            <a:picLocks noChangeAspect="1"/>
          </p:cNvPicPr>
          <p:nvPr/>
        </p:nvPicPr>
        <p:blipFill>
          <a:blip r:embed="rId3"/>
          <a:stretch>
            <a:fillRect/>
          </a:stretch>
        </p:blipFill>
        <p:spPr>
          <a:xfrm>
            <a:off x="6237341" y="2016345"/>
            <a:ext cx="5676989" cy="4396965"/>
          </a:xfrm>
          <a:prstGeom prst="rect">
            <a:avLst/>
          </a:prstGeom>
        </p:spPr>
      </p:pic>
    </p:spTree>
    <p:extLst>
      <p:ext uri="{BB962C8B-B14F-4D97-AF65-F5344CB8AC3E}">
        <p14:creationId xmlns:p14="http://schemas.microsoft.com/office/powerpoint/2010/main" val="156656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6E6D2-CF9A-FF1E-8E86-28C8F0ACDE62}"/>
              </a:ext>
            </a:extLst>
          </p:cNvPr>
          <p:cNvSpPr>
            <a:spLocks noGrp="1"/>
          </p:cNvSpPr>
          <p:nvPr>
            <p:ph type="title"/>
          </p:nvPr>
        </p:nvSpPr>
        <p:spPr/>
        <p:txBody>
          <a:bodyPr/>
          <a:lstStyle/>
          <a:p>
            <a:r>
              <a:rPr lang="es-AR" dirty="0"/>
              <a:t>Instalación VirtualBox en Windows</a:t>
            </a:r>
            <a:endParaRPr lang="en-US" dirty="0"/>
          </a:p>
        </p:txBody>
      </p:sp>
      <p:pic>
        <p:nvPicPr>
          <p:cNvPr id="6" name="Imagen 5">
            <a:extLst>
              <a:ext uri="{FF2B5EF4-FFF2-40B4-BE49-F238E27FC236}">
                <a16:creationId xmlns:a16="http://schemas.microsoft.com/office/drawing/2014/main" id="{3E23067F-79D4-C703-13DB-DA09CEF8947E}"/>
              </a:ext>
            </a:extLst>
          </p:cNvPr>
          <p:cNvPicPr>
            <a:picLocks noChangeAspect="1"/>
          </p:cNvPicPr>
          <p:nvPr/>
        </p:nvPicPr>
        <p:blipFill>
          <a:blip r:embed="rId2"/>
          <a:stretch>
            <a:fillRect/>
          </a:stretch>
        </p:blipFill>
        <p:spPr>
          <a:xfrm>
            <a:off x="297535" y="2052830"/>
            <a:ext cx="5798465" cy="4471411"/>
          </a:xfrm>
          <a:prstGeom prst="rect">
            <a:avLst/>
          </a:prstGeom>
        </p:spPr>
      </p:pic>
      <p:pic>
        <p:nvPicPr>
          <p:cNvPr id="8" name="Imagen 7">
            <a:extLst>
              <a:ext uri="{FF2B5EF4-FFF2-40B4-BE49-F238E27FC236}">
                <a16:creationId xmlns:a16="http://schemas.microsoft.com/office/drawing/2014/main" id="{3126371B-C3A4-A070-67C6-3664AD650DEC}"/>
              </a:ext>
            </a:extLst>
          </p:cNvPr>
          <p:cNvPicPr>
            <a:picLocks noChangeAspect="1"/>
          </p:cNvPicPr>
          <p:nvPr/>
        </p:nvPicPr>
        <p:blipFill>
          <a:blip r:embed="rId3"/>
          <a:stretch>
            <a:fillRect/>
          </a:stretch>
        </p:blipFill>
        <p:spPr>
          <a:xfrm>
            <a:off x="6096001" y="2052831"/>
            <a:ext cx="5800320" cy="4471410"/>
          </a:xfrm>
          <a:prstGeom prst="rect">
            <a:avLst/>
          </a:prstGeom>
        </p:spPr>
      </p:pic>
    </p:spTree>
    <p:extLst>
      <p:ext uri="{BB962C8B-B14F-4D97-AF65-F5344CB8AC3E}">
        <p14:creationId xmlns:p14="http://schemas.microsoft.com/office/powerpoint/2010/main" val="4079144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
          <p:cNvSpPr/>
          <p:nvPr/>
        </p:nvSpPr>
        <p:spPr>
          <a:xfrm>
            <a:off x="0" y="1"/>
            <a:ext cx="1219199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240" name="Google Shape;240;p6" descr="Números digitales"/>
          <p:cNvPicPr preferRelativeResize="0"/>
          <p:nvPr/>
        </p:nvPicPr>
        <p:blipFill rotWithShape="1">
          <a:blip r:embed="rId3">
            <a:alphaModFix/>
          </a:blip>
          <a:srcRect l="2189" r="9640" b="1"/>
          <a:stretch/>
        </p:blipFill>
        <p:spPr>
          <a:xfrm>
            <a:off x="446534" y="723899"/>
            <a:ext cx="7498616" cy="5676901"/>
          </a:xfrm>
          <a:prstGeom prst="rect">
            <a:avLst/>
          </a:prstGeom>
          <a:noFill/>
          <a:ln>
            <a:noFill/>
          </a:ln>
        </p:spPr>
      </p:pic>
      <p:sp>
        <p:nvSpPr>
          <p:cNvPr id="241" name="Google Shape;241;p6"/>
          <p:cNvSpPr/>
          <p:nvPr/>
        </p:nvSpPr>
        <p:spPr>
          <a:xfrm>
            <a:off x="8042147" y="723899"/>
            <a:ext cx="3703320" cy="566666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6"/>
          <p:cNvSpPr txBox="1">
            <a:spLocks noGrp="1"/>
          </p:cNvSpPr>
          <p:nvPr>
            <p:ph type="ctrTitle"/>
          </p:nvPr>
        </p:nvSpPr>
        <p:spPr>
          <a:xfrm>
            <a:off x="8296275" y="1419226"/>
            <a:ext cx="3081576" cy="174676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FFFFFF"/>
              </a:buClr>
              <a:buSzPts val="3600"/>
              <a:buFont typeface="Gill Sans"/>
              <a:buNone/>
            </a:pPr>
            <a:r>
              <a:rPr lang="es-ES">
                <a:solidFill>
                  <a:srgbClr val="FFFFFF"/>
                </a:solidFill>
              </a:rPr>
              <a:t>GRACIAS</a:t>
            </a:r>
            <a:endParaRPr/>
          </a:p>
        </p:txBody>
      </p:sp>
      <p:grpSp>
        <p:nvGrpSpPr>
          <p:cNvPr id="243" name="Google Shape;243;p6"/>
          <p:cNvGrpSpPr/>
          <p:nvPr/>
        </p:nvGrpSpPr>
        <p:grpSpPr>
          <a:xfrm>
            <a:off x="446534" y="453643"/>
            <a:ext cx="11298933" cy="98554"/>
            <a:chOff x="446534" y="453643"/>
            <a:chExt cx="11298933" cy="98554"/>
          </a:xfrm>
        </p:grpSpPr>
        <p:sp>
          <p:nvSpPr>
            <p:cNvPr id="244" name="Google Shape;244;p6"/>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6"/>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6"/>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7" name="Google Shape;247;p6"/>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p>
            <a:pPr marL="457200" lvl="0" indent="-333756" algn="l" rtl="0">
              <a:lnSpc>
                <a:spcPct val="100000"/>
              </a:lnSpc>
              <a:spcBef>
                <a:spcPts val="320"/>
              </a:spcBef>
              <a:spcAft>
                <a:spcPts val="0"/>
              </a:spcAft>
              <a:buSzPts val="1472"/>
              <a:buNone/>
            </a:pPr>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1334</Words>
  <Application>Microsoft Office PowerPoint</Application>
  <PresentationFormat>Panorámica</PresentationFormat>
  <Paragraphs>79</Paragraphs>
  <Slides>23</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Noto Sans Symbols</vt:lpstr>
      <vt:lpstr>Calibri</vt:lpstr>
      <vt:lpstr>Gill Sans</vt:lpstr>
      <vt:lpstr>Arial</vt:lpstr>
      <vt:lpstr>Dividendo</vt:lpstr>
      <vt:lpstr>Seguridad en los Sistemas de Información  UNIVERSIDAD TECNOLÓGICA NACIONAL AÑO 2022</vt:lpstr>
      <vt:lpstr>Seguridad en los Sistemas de Información</vt:lpstr>
      <vt:lpstr>Virtualización</vt:lpstr>
      <vt:lpstr>Virtualización</vt:lpstr>
      <vt:lpstr>Virtualización de Servidor</vt:lpstr>
      <vt:lpstr>Virtualización por Software o Sistema Operativo</vt:lpstr>
      <vt:lpstr>Virtualización de RED</vt:lpstr>
      <vt:lpstr>Virtualización de Almacenamiento</vt:lpstr>
      <vt:lpstr>Virtualización de Memoria</vt:lpstr>
      <vt:lpstr>Virtualización de Escritorio</vt:lpstr>
      <vt:lpstr>Software de Virtualización</vt:lpstr>
      <vt:lpstr>Ventajas de la Virtualización</vt:lpstr>
      <vt:lpstr>Desventajas de la Virtualización</vt:lpstr>
      <vt:lpstr>Paso a paso – Virtualización de Sistema operativo </vt:lpstr>
      <vt:lpstr>Virtualizar desde BIOS</vt:lpstr>
      <vt:lpstr>Instalando VirtualBox en Windows</vt:lpstr>
      <vt:lpstr>Instalación VirtualBox en Windows</vt:lpstr>
      <vt:lpstr>Instalación VirtualBox en Windows</vt:lpstr>
      <vt:lpstr>Instalación VirtualBox en Windows</vt:lpstr>
      <vt:lpstr>Instalación VirtualBox en Windows</vt:lpstr>
      <vt:lpstr>Instalación VirtualBox en Windows</vt:lpstr>
      <vt:lpstr>Instalación VirtualBox en Windows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Seguridad en los Sistemas de Información  UNIVERSIDAD TECNOLÓGICA NACIONAL AÑO 2022</dc:title>
  <dc:creator>Leonardo Arrigoni</dc:creator>
  <cp:lastModifiedBy>Leonardo Arrigoni</cp:lastModifiedBy>
  <cp:revision>13</cp:revision>
  <dcterms:created xsi:type="dcterms:W3CDTF">2022-07-06T23:07:08Z</dcterms:created>
  <dcterms:modified xsi:type="dcterms:W3CDTF">2022-08-22T19:41:48Z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