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esentación" id="{aebcbf56-8be7-1736-b9a2-17a8709d5b99}">
          <p14:sldIdLst>
            <p14:sldId id="256"/>
            <p14:sldId id="257"/>
          </p14:sldIdLst>
        </p14:section>
        <p14:section name="Controles" id="{8b151e42-071a-f15f-b909-607952b738ac}">
          <p14:sldIdLst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Marco normativo" id="{5a423cdf-d574-36fd-08d9-a32fa03d3328}">
          <p14:sldIdLst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822960" y="1280160"/>
            <a:ext cx="749808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6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46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822960" y="3200400"/>
            <a:ext cx="749808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ISO/IEC 27002 · Controles sobre las personas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822960" y="1280160"/>
            <a:ext cx="7498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600" b="1" dirty="0">
                <a:solidFill>
                  <a:schemeClr val="bg1"/>
                </a:solidFill>
              </a:rPr>
              <a:t>Controles sobre las personas</a:t>
            </a:r>
            <a:endParaRPr lang="en-US" sz="46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822960" y="320040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accent2"/>
                </a:solidFill>
              </a:rPr>
              <a:t>ISO/IEC 27002 · Capítulo 6</a:t>
            </a:r>
            <a:endParaRPr lang="en-US" sz="2200" dirty="0"/>
          </a:p>
        </p:txBody>
      </p:sp>
      <p:sp>
        <p:nvSpPr>
          <p:cNvPr id="4" name="Integrantes"/>
          <p:cNvSpPr txBox="1"/>
          <p:nvPr/>
        </p:nvSpPr>
        <p:spPr>
          <a:xfrm>
            <a:off x="822960" y="4114800"/>
            <a:ext cx="5486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accent2"/>
                </a:solidFill>
              </a:rPr>
              <a:t>Grupo N° __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accent2"/>
                </a:solidFill>
              </a:rPr>
              <a:t>Integrantes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chemeClr val="bg1"/>
                </a:solidFill>
              </a:rPr>
              <a:t>Nombre y Apellido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chemeClr val="bg1"/>
                </a:solidFill>
              </a:rPr>
              <a:t>Nombre y Apellido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chemeClr val="bg1"/>
                </a:solidFill>
              </a:rPr>
              <a:t>Nombre y Apellido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chemeClr val="bg1"/>
                </a:solidFill>
              </a:rPr>
              <a:t>Nombre y Apellido</a:t>
            </a:r>
            <a:endParaRPr lang="en-US" sz="1800" dirty="0"/>
          </a:p>
        </p:txBody>
      </p:sp>
      <p:sp>
        <p:nvSpPr>
          <p:cNvPr id="5" name="Círculo portada"/>
          <p:cNvSpPr/>
          <p:nvPr/>
        </p:nvSpPr>
        <p:spPr>
          <a:xfrm>
            <a:off x="8686800" y="1737360"/>
            <a:ext cx="2926080" cy="2926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ono portada" descr="Persona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0" y="2377440"/>
            <a:ext cx="1645920" cy="16459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El factor humano en la seguridad</a:t>
            </a:r>
            <a:endParaRPr lang="en-US" sz="3600" dirty="0"/>
          </a:p>
        </p:txBody>
      </p:sp>
      <p:sp>
        <p:nvSpPr>
          <p:cNvPr id="3" name="Introducción"/>
          <p:cNvSpPr txBox="1"/>
          <p:nvPr/>
        </p:nvSpPr>
        <p:spPr>
          <a:xfrm>
            <a:off x="548640" y="12801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Los controles sobre las personas gestionan los riesgos de seguridad de la información asociados al factor humano, a lo largo de todo el ciclo de relación con la organización.</a:t>
            </a:r>
            <a:endParaRPr lang="en-US" sz="1800" dirty="0"/>
          </a:p>
        </p:txBody>
      </p:sp>
      <p:sp>
        <p:nvSpPr>
          <p:cNvPr id="4" name="Tarjeta etapa 1"/>
          <p:cNvSpPr/>
          <p:nvPr/>
        </p:nvSpPr>
        <p:spPr>
          <a:xfrm>
            <a:off x="548640" y="2286000"/>
            <a:ext cx="2560320" cy="292608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Etapa 1 círculo"/>
          <p:cNvSpPr/>
          <p:nvPr/>
        </p:nvSpPr>
        <p:spPr>
          <a:xfrm>
            <a:off x="777240" y="251460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Etapa 1 icono" descr="Etapa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4750" y="2712110"/>
            <a:ext cx="336499" cy="336499"/>
          </a:xfrm>
          <a:prstGeom prst="rect">
            <a:avLst/>
          </a:prstGeom>
        </p:spPr>
      </p:pic>
      <p:sp>
        <p:nvSpPr>
          <p:cNvPr id="7" name="Etapa 1 título"/>
          <p:cNvSpPr txBox="1"/>
          <p:nvPr/>
        </p:nvSpPr>
        <p:spPr>
          <a:xfrm>
            <a:off x="777240" y="33832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Antes de incorporarse</a:t>
            </a:r>
            <a:endParaRPr lang="en-US" sz="1800" dirty="0"/>
          </a:p>
        </p:txBody>
      </p:sp>
      <p:sp>
        <p:nvSpPr>
          <p:cNvPr id="8" name="Etapa 1 texto"/>
          <p:cNvSpPr txBox="1"/>
          <p:nvPr/>
        </p:nvSpPr>
        <p:spPr>
          <a:xfrm>
            <a:off x="777240" y="379476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 comprueban los antecedentes de los candidatos.</a:t>
            </a:r>
            <a:endParaRPr lang="en-US" sz="1400" dirty="0"/>
          </a:p>
        </p:txBody>
      </p:sp>
      <p:sp>
        <p:nvSpPr>
          <p:cNvPr id="9" name="Etiqueta 6.1"/>
          <p:cNvSpPr txBox="1"/>
          <p:nvPr/>
        </p:nvSpPr>
        <p:spPr>
          <a:xfrm>
            <a:off x="777240" y="4754880"/>
            <a:ext cx="475488" cy="310896"/>
          </a:xfrm>
          <a:prstGeom prst="roundRect">
            <a:avLst>
              <a:gd name="adj" fmla="val 29412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6.1</a:t>
            </a:r>
            <a:endParaRPr lang="en-US" sz="1400" dirty="0"/>
          </a:p>
        </p:txBody>
      </p:sp>
      <p:sp>
        <p:nvSpPr>
          <p:cNvPr id="10" name="Tarjeta etapa 2"/>
          <p:cNvSpPr/>
          <p:nvPr/>
        </p:nvSpPr>
        <p:spPr>
          <a:xfrm>
            <a:off x="3392424" y="2286000"/>
            <a:ext cx="2560320" cy="292608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Etapa 2 círculo"/>
          <p:cNvSpPr/>
          <p:nvPr/>
        </p:nvSpPr>
        <p:spPr>
          <a:xfrm>
            <a:off x="3621024" y="251460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2" name="Etapa 2 icono" descr="Etapa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8534" y="2712110"/>
            <a:ext cx="336499" cy="336499"/>
          </a:xfrm>
          <a:prstGeom prst="rect">
            <a:avLst/>
          </a:prstGeom>
        </p:spPr>
      </p:pic>
      <p:sp>
        <p:nvSpPr>
          <p:cNvPr id="13" name="Etapa 2 título"/>
          <p:cNvSpPr txBox="1"/>
          <p:nvPr/>
        </p:nvSpPr>
        <p:spPr>
          <a:xfrm>
            <a:off x="3621024" y="33832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Al contratar</a:t>
            </a:r>
            <a:endParaRPr lang="en-US" sz="1800" dirty="0"/>
          </a:p>
        </p:txBody>
      </p:sp>
      <p:sp>
        <p:nvSpPr>
          <p:cNvPr id="14" name="Etapa 2 texto"/>
          <p:cNvSpPr txBox="1"/>
          <p:nvPr/>
        </p:nvSpPr>
        <p:spPr>
          <a:xfrm>
            <a:off x="3621024" y="379476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 definen las responsabilidades y los compromisos de confidencialidad.</a:t>
            </a:r>
            <a:endParaRPr lang="en-US" sz="1400" dirty="0"/>
          </a:p>
        </p:txBody>
      </p:sp>
      <p:sp>
        <p:nvSpPr>
          <p:cNvPr id="15" name="Etiqueta 6.2"/>
          <p:cNvSpPr txBox="1"/>
          <p:nvPr/>
        </p:nvSpPr>
        <p:spPr>
          <a:xfrm>
            <a:off x="3621024" y="4754880"/>
            <a:ext cx="475488" cy="310896"/>
          </a:xfrm>
          <a:prstGeom prst="roundRect">
            <a:avLst>
              <a:gd name="adj" fmla="val 29412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6.2</a:t>
            </a:r>
            <a:endParaRPr lang="en-US" sz="1400" dirty="0"/>
          </a:p>
        </p:txBody>
      </p:sp>
      <p:sp>
        <p:nvSpPr>
          <p:cNvPr id="16" name="Etiqueta 6.6"/>
          <p:cNvSpPr txBox="1"/>
          <p:nvPr/>
        </p:nvSpPr>
        <p:spPr>
          <a:xfrm>
            <a:off x="4151376" y="4754880"/>
            <a:ext cx="475488" cy="310896"/>
          </a:xfrm>
          <a:prstGeom prst="roundRect">
            <a:avLst>
              <a:gd name="adj" fmla="val 29412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6.6</a:t>
            </a:r>
            <a:endParaRPr lang="en-US" sz="1400" dirty="0"/>
          </a:p>
        </p:txBody>
      </p:sp>
      <p:sp>
        <p:nvSpPr>
          <p:cNvPr id="17" name="Tarjeta etapa 3"/>
          <p:cNvSpPr/>
          <p:nvPr/>
        </p:nvSpPr>
        <p:spPr>
          <a:xfrm>
            <a:off x="6236208" y="2286000"/>
            <a:ext cx="2560320" cy="292608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Etapa 3 círculo"/>
          <p:cNvSpPr/>
          <p:nvPr/>
        </p:nvSpPr>
        <p:spPr>
          <a:xfrm>
            <a:off x="6464808" y="251460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9" name="Etapa 3 icono" descr="Etapa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2318" y="2712110"/>
            <a:ext cx="336499" cy="336499"/>
          </a:xfrm>
          <a:prstGeom prst="rect">
            <a:avLst/>
          </a:prstGeom>
        </p:spPr>
      </p:pic>
      <p:sp>
        <p:nvSpPr>
          <p:cNvPr id="20" name="Etapa 3 título"/>
          <p:cNvSpPr txBox="1"/>
          <p:nvPr/>
        </p:nvSpPr>
        <p:spPr>
          <a:xfrm>
            <a:off x="6464808" y="33832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Durante la relación</a:t>
            </a:r>
            <a:endParaRPr lang="en-US" sz="1800" dirty="0"/>
          </a:p>
        </p:txBody>
      </p:sp>
      <p:sp>
        <p:nvSpPr>
          <p:cNvPr id="21" name="Etapa 3 texto"/>
          <p:cNvSpPr txBox="1"/>
          <p:nvPr/>
        </p:nvSpPr>
        <p:spPr>
          <a:xfrm>
            <a:off x="6464808" y="379476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Formación, cumplimiento de políticas, trabajo remoto y notificación de eventos.</a:t>
            </a:r>
            <a:endParaRPr lang="en-US" sz="1400" dirty="0"/>
          </a:p>
        </p:txBody>
      </p:sp>
      <p:sp>
        <p:nvSpPr>
          <p:cNvPr id="22" name="Etiqueta 6.3"/>
          <p:cNvSpPr txBox="1"/>
          <p:nvPr/>
        </p:nvSpPr>
        <p:spPr>
          <a:xfrm>
            <a:off x="6464808" y="4754880"/>
            <a:ext cx="475488" cy="310896"/>
          </a:xfrm>
          <a:prstGeom prst="roundRect">
            <a:avLst>
              <a:gd name="adj" fmla="val 29412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6.3</a:t>
            </a:r>
            <a:endParaRPr lang="en-US" sz="1400" dirty="0"/>
          </a:p>
        </p:txBody>
      </p:sp>
      <p:sp>
        <p:nvSpPr>
          <p:cNvPr id="23" name="Etiqueta 6.4"/>
          <p:cNvSpPr txBox="1"/>
          <p:nvPr/>
        </p:nvSpPr>
        <p:spPr>
          <a:xfrm>
            <a:off x="6995160" y="4754880"/>
            <a:ext cx="475488" cy="310896"/>
          </a:xfrm>
          <a:prstGeom prst="roundRect">
            <a:avLst>
              <a:gd name="adj" fmla="val 29412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6.4</a:t>
            </a:r>
            <a:endParaRPr lang="en-US" sz="1400" dirty="0"/>
          </a:p>
        </p:txBody>
      </p:sp>
      <p:sp>
        <p:nvSpPr>
          <p:cNvPr id="24" name="Etiqueta 6.7"/>
          <p:cNvSpPr txBox="1"/>
          <p:nvPr/>
        </p:nvSpPr>
        <p:spPr>
          <a:xfrm>
            <a:off x="7525512" y="4754880"/>
            <a:ext cx="475488" cy="310896"/>
          </a:xfrm>
          <a:prstGeom prst="roundRect">
            <a:avLst>
              <a:gd name="adj" fmla="val 29412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6.7</a:t>
            </a:r>
            <a:endParaRPr lang="en-US" sz="1400" dirty="0"/>
          </a:p>
        </p:txBody>
      </p:sp>
      <p:sp>
        <p:nvSpPr>
          <p:cNvPr id="25" name="Etiqueta 6.8"/>
          <p:cNvSpPr txBox="1"/>
          <p:nvPr/>
        </p:nvSpPr>
        <p:spPr>
          <a:xfrm>
            <a:off x="8055864" y="4754880"/>
            <a:ext cx="475488" cy="310896"/>
          </a:xfrm>
          <a:prstGeom prst="roundRect">
            <a:avLst>
              <a:gd name="adj" fmla="val 29412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6.8</a:t>
            </a:r>
            <a:endParaRPr lang="en-US" sz="1400" dirty="0"/>
          </a:p>
        </p:txBody>
      </p:sp>
      <p:sp>
        <p:nvSpPr>
          <p:cNvPr id="26" name="Tarjeta etapa 4"/>
          <p:cNvSpPr/>
          <p:nvPr/>
        </p:nvSpPr>
        <p:spPr>
          <a:xfrm>
            <a:off x="9079992" y="2286000"/>
            <a:ext cx="2560320" cy="292608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7" name="Etapa 4 círculo"/>
          <p:cNvSpPr/>
          <p:nvPr/>
        </p:nvSpPr>
        <p:spPr>
          <a:xfrm>
            <a:off x="9308592" y="251460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8" name="Etapa 4 icono" descr="Etapa 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6102" y="2712110"/>
            <a:ext cx="336499" cy="336499"/>
          </a:xfrm>
          <a:prstGeom prst="rect">
            <a:avLst/>
          </a:prstGeom>
        </p:spPr>
      </p:pic>
      <p:sp>
        <p:nvSpPr>
          <p:cNvPr id="29" name="Etapa 4 título"/>
          <p:cNvSpPr txBox="1"/>
          <p:nvPr/>
        </p:nvSpPr>
        <p:spPr>
          <a:xfrm>
            <a:off x="9308592" y="33832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Al finalizar o cambiar</a:t>
            </a:r>
            <a:endParaRPr lang="en-US" sz="1800" dirty="0"/>
          </a:p>
        </p:txBody>
      </p:sp>
      <p:sp>
        <p:nvSpPr>
          <p:cNvPr id="30" name="Etapa 4 texto"/>
          <p:cNvSpPr txBox="1"/>
          <p:nvPr/>
        </p:nvSpPr>
        <p:spPr>
          <a:xfrm>
            <a:off x="9308592" y="379476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Las obligaciones de seguridad permanecen tras el cese o el cambio de puesto.</a:t>
            </a:r>
            <a:endParaRPr lang="en-US" sz="1400" dirty="0"/>
          </a:p>
        </p:txBody>
      </p:sp>
      <p:sp>
        <p:nvSpPr>
          <p:cNvPr id="31" name="Etiqueta 6.5"/>
          <p:cNvSpPr txBox="1"/>
          <p:nvPr/>
        </p:nvSpPr>
        <p:spPr>
          <a:xfrm>
            <a:off x="9308592" y="4754880"/>
            <a:ext cx="475488" cy="310896"/>
          </a:xfrm>
          <a:prstGeom prst="roundRect">
            <a:avLst>
              <a:gd name="adj" fmla="val 29412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6.5</a:t>
            </a:r>
            <a:endParaRPr lang="en-US" sz="1400" dirty="0"/>
          </a:p>
        </p:txBody>
      </p:sp>
      <p:sp>
        <p:nvSpPr>
          <p:cNvPr id="32" name="Cifra 8"/>
          <p:cNvSpPr txBox="1"/>
          <p:nvPr/>
        </p:nvSpPr>
        <p:spPr>
          <a:xfrm>
            <a:off x="548640" y="5440680"/>
            <a:ext cx="914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8</a:t>
            </a:r>
            <a:endParaRPr lang="en-US" sz="5400" dirty="0"/>
          </a:p>
        </p:txBody>
      </p:sp>
      <p:sp>
        <p:nvSpPr>
          <p:cNvPr id="33" name="Cifra 8 texto"/>
          <p:cNvSpPr txBox="1"/>
          <p:nvPr/>
        </p:nvSpPr>
        <p:spPr>
          <a:xfrm>
            <a:off x="1554480" y="5440680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controles del capítulo 6 de ISO/IEC 27002</a:t>
            </a:r>
            <a:endParaRPr lang="en-US" sz="1600" dirty="0"/>
          </a:p>
        </p:txBody>
      </p:sp>
      <p:sp>
        <p:nvSpPr>
          <p:cNvPr id="34" name="Cifra 9"/>
          <p:cNvSpPr txBox="1"/>
          <p:nvPr/>
        </p:nvSpPr>
        <p:spPr>
          <a:xfrm>
            <a:off x="6309360" y="5440680"/>
            <a:ext cx="914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9</a:t>
            </a:r>
            <a:endParaRPr lang="en-US" sz="5400" dirty="0"/>
          </a:p>
        </p:txBody>
      </p:sp>
      <p:sp>
        <p:nvSpPr>
          <p:cNvPr id="35" name="Cifra 9 texto"/>
          <p:cNvSpPr txBox="1"/>
          <p:nvPr/>
        </p:nvSpPr>
        <p:spPr>
          <a:xfrm>
            <a:off x="7315200" y="5440680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normas y regulaciones relacionadas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accent3"/>
                </a:solidFill>
              </a:rPr>
              <a:t>6.1  </a:t>
            </a:r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Comprobación</a:t>
            </a:r>
            <a:endParaRPr lang="en-US" sz="3600" dirty="0"/>
          </a:p>
        </p:txBody>
      </p:sp>
      <p:sp>
        <p:nvSpPr>
          <p:cNvPr id="3" name="Etiqueta Preventivo"/>
          <p:cNvSpPr txBox="1"/>
          <p:nvPr/>
        </p:nvSpPr>
        <p:spPr>
          <a:xfrm>
            <a:off x="548640" y="1280160"/>
            <a:ext cx="1417320" cy="384048"/>
          </a:xfrm>
          <a:prstGeom prst="roundRect">
            <a:avLst>
              <a:gd name="adj" fmla="val 2381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Preventivo</a:t>
            </a:r>
            <a:endParaRPr lang="en-US" sz="1400" dirty="0"/>
          </a:p>
        </p:txBody>
      </p:sp>
      <p:sp>
        <p:nvSpPr>
          <p:cNvPr id="4" name="Etiqueta Protege: CID"/>
          <p:cNvSpPr txBox="1"/>
          <p:nvPr/>
        </p:nvSpPr>
        <p:spPr>
          <a:xfrm>
            <a:off x="2103120" y="1280160"/>
            <a:ext cx="1609344" cy="384048"/>
          </a:xfrm>
          <a:prstGeom prst="roundRect">
            <a:avLst>
              <a:gd name="adj" fmla="val 2381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Protege: CID</a:t>
            </a:r>
            <a:endParaRPr lang="en-US" sz="1400" dirty="0"/>
          </a:p>
        </p:txBody>
      </p:sp>
      <p:sp>
        <p:nvSpPr>
          <p:cNvPr id="5" name="Panel objetivo"/>
          <p:cNvSpPr/>
          <p:nvPr/>
        </p:nvSpPr>
        <p:spPr>
          <a:xfrm>
            <a:off x="548640" y="1874520"/>
            <a:ext cx="3749040" cy="4434840"/>
          </a:xfrm>
          <a:prstGeom prst="roundRect">
            <a:avLst>
              <a:gd name="adj" fmla="val 292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Control 6.1 círculo"/>
          <p:cNvSpPr/>
          <p:nvPr/>
        </p:nvSpPr>
        <p:spPr>
          <a:xfrm>
            <a:off x="822960" y="2148840"/>
            <a:ext cx="914400" cy="914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Control 6.1 icono" descr="Control 6.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2395728"/>
            <a:ext cx="420624" cy="420624"/>
          </a:xfrm>
          <a:prstGeom prst="rect">
            <a:avLst/>
          </a:prstGeom>
        </p:spPr>
      </p:pic>
      <p:sp>
        <p:nvSpPr>
          <p:cNvPr id="8" name="Etiqueta objetivo"/>
          <p:cNvSpPr txBox="1"/>
          <p:nvPr/>
        </p:nvSpPr>
        <p:spPr>
          <a:xfrm>
            <a:off x="822960" y="32461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Objetivo</a:t>
            </a:r>
            <a:endParaRPr lang="en-US" sz="1800" dirty="0"/>
          </a:p>
        </p:txBody>
      </p:sp>
      <p:sp>
        <p:nvSpPr>
          <p:cNvPr id="9" name="Texto objetivo"/>
          <p:cNvSpPr txBox="1"/>
          <p:nvPr/>
        </p:nvSpPr>
        <p:spPr>
          <a:xfrm>
            <a:off x="822960" y="3657600"/>
            <a:ext cx="32004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Comprobar los antecedentes de todos los candidatos (“screening”) para garantizar que son adecuados al puesto, de forma proporcional a los requisitos laborales, los riesgos y la información a la que accederán.</a:t>
            </a:r>
            <a:endParaRPr lang="en-US" sz="1600" dirty="0"/>
          </a:p>
        </p:txBody>
      </p:sp>
      <p:sp>
        <p:nvSpPr>
          <p:cNvPr id="10" name="Etiqueta puntos clave"/>
          <p:cNvSpPr txBox="1"/>
          <p:nvPr/>
        </p:nvSpPr>
        <p:spPr>
          <a:xfrm>
            <a:off x="4663440" y="1874520"/>
            <a:ext cx="6976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Puntos clave</a:t>
            </a:r>
            <a:endParaRPr lang="en-US" sz="2200" dirty="0"/>
          </a:p>
        </p:txBody>
      </p:sp>
      <p:sp>
        <p:nvSpPr>
          <p:cNvPr id="11" name="Puntos clave"/>
          <p:cNvSpPr txBox="1"/>
          <p:nvPr/>
        </p:nvSpPr>
        <p:spPr>
          <a:xfrm>
            <a:off x="4663440" y="2423160"/>
            <a:ext cx="6976872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900" b="1" dirty="0">
                <a:solidFill>
                  <a:schemeClr val="tx1"/>
                </a:solidFill>
              </a:rPr>
              <a:t>Verificación: </a:t>
            </a:r>
            <a:pPr indent="0" marL="0">
              <a:spcAft>
                <a:spcPts val="14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referencias, CV, cualidades académicas o profesionales, identificación y antecedentes crediticios o penales.</a:t>
            </a:r>
            <a:endParaRPr lang="en-US" sz="1900" dirty="0"/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900" b="1" dirty="0">
                <a:solidFill>
                  <a:schemeClr val="tx1"/>
                </a:solidFill>
              </a:rPr>
              <a:t>Roles de seguridad: </a:t>
            </a:r>
            <a:pPr indent="0" marL="0">
              <a:spcAft>
                <a:spcPts val="14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asegurar competencia y confiabilidad del candidato.</a:t>
            </a:r>
            <a:endParaRPr lang="en-US" sz="1900" dirty="0"/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900" b="1" dirty="0">
                <a:solidFill>
                  <a:schemeClr val="tx1"/>
                </a:solidFill>
              </a:rPr>
              <a:t>Periodicidad: </a:t>
            </a:r>
            <a:pPr indent="0" marL="0">
              <a:spcAft>
                <a:spcPts val="14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según la importancia de la función de cada persona.</a:t>
            </a:r>
            <a:endParaRPr lang="en-US" sz="1900" dirty="0"/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900" b="1" dirty="0">
                <a:solidFill>
                  <a:schemeClr val="tx1"/>
                </a:solidFill>
              </a:rPr>
              <a:t>Alcance: </a:t>
            </a:r>
            <a:pPr indent="0" marL="0">
              <a:spcAft>
                <a:spcPts val="14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también personal ya contratado y personal de proveedores (previsto en el contrato).</a:t>
            </a:r>
            <a:endParaRPr lang="en-US" sz="1900" dirty="0"/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900" b="1" dirty="0">
                <a:solidFill>
                  <a:schemeClr val="tx1"/>
                </a:solidFill>
              </a:rPr>
              <a:t>Si no se completa a tiempo: </a:t>
            </a:r>
            <a:pPr indent="0" marL="0">
              <a:spcAft>
                <a:spcPts val="14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retrasar incorporación, despliegue o dar acceso reducido.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accent3"/>
                </a:solidFill>
              </a:rPr>
              <a:t>6.2  </a:t>
            </a:r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Términos y condiciones de contratación</a:t>
            </a:r>
            <a:endParaRPr lang="en-US" sz="3600" dirty="0"/>
          </a:p>
        </p:txBody>
      </p:sp>
      <p:sp>
        <p:nvSpPr>
          <p:cNvPr id="3" name="Etiqueta Preventivo"/>
          <p:cNvSpPr txBox="1"/>
          <p:nvPr/>
        </p:nvSpPr>
        <p:spPr>
          <a:xfrm>
            <a:off x="548640" y="1280160"/>
            <a:ext cx="1417320" cy="384048"/>
          </a:xfrm>
          <a:prstGeom prst="roundRect">
            <a:avLst>
              <a:gd name="adj" fmla="val 2381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Preventivo</a:t>
            </a:r>
            <a:endParaRPr lang="en-US" sz="1400" dirty="0"/>
          </a:p>
        </p:txBody>
      </p:sp>
      <p:sp>
        <p:nvSpPr>
          <p:cNvPr id="4" name="Etiqueta Protege: CID"/>
          <p:cNvSpPr txBox="1"/>
          <p:nvPr/>
        </p:nvSpPr>
        <p:spPr>
          <a:xfrm>
            <a:off x="2103120" y="1280160"/>
            <a:ext cx="1609344" cy="384048"/>
          </a:xfrm>
          <a:prstGeom prst="roundRect">
            <a:avLst>
              <a:gd name="adj" fmla="val 2381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Protege: CID</a:t>
            </a:r>
            <a:endParaRPr lang="en-US" sz="1400" dirty="0"/>
          </a:p>
        </p:txBody>
      </p:sp>
      <p:sp>
        <p:nvSpPr>
          <p:cNvPr id="5" name="Panel objetivo"/>
          <p:cNvSpPr/>
          <p:nvPr/>
        </p:nvSpPr>
        <p:spPr>
          <a:xfrm>
            <a:off x="548640" y="1874520"/>
            <a:ext cx="3749040" cy="4434840"/>
          </a:xfrm>
          <a:prstGeom prst="roundRect">
            <a:avLst>
              <a:gd name="adj" fmla="val 292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Control 6.2 círculo"/>
          <p:cNvSpPr/>
          <p:nvPr/>
        </p:nvSpPr>
        <p:spPr>
          <a:xfrm>
            <a:off x="822960" y="2148840"/>
            <a:ext cx="914400" cy="914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Control 6.2 icono" descr="Control 6.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2395728"/>
            <a:ext cx="420624" cy="420624"/>
          </a:xfrm>
          <a:prstGeom prst="rect">
            <a:avLst/>
          </a:prstGeom>
        </p:spPr>
      </p:pic>
      <p:sp>
        <p:nvSpPr>
          <p:cNvPr id="8" name="Etiqueta objetivo"/>
          <p:cNvSpPr txBox="1"/>
          <p:nvPr/>
        </p:nvSpPr>
        <p:spPr>
          <a:xfrm>
            <a:off x="822960" y="32461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Objetivo</a:t>
            </a:r>
            <a:endParaRPr lang="en-US" sz="1800" dirty="0"/>
          </a:p>
        </p:txBody>
      </p:sp>
      <p:sp>
        <p:nvSpPr>
          <p:cNvPr id="9" name="Texto objetivo"/>
          <p:cNvSpPr txBox="1"/>
          <p:nvPr/>
        </p:nvSpPr>
        <p:spPr>
          <a:xfrm>
            <a:off x="822960" y="3657600"/>
            <a:ext cx="32004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Los acuerdos de empleo deben indicar las responsabilidades del personal y de la organización en seguridad de la información, para que el personal las conozca y pueda aceptarlas.</a:t>
            </a:r>
            <a:endParaRPr lang="en-US" sz="1600" dirty="0"/>
          </a:p>
        </p:txBody>
      </p:sp>
      <p:sp>
        <p:nvSpPr>
          <p:cNvPr id="10" name="Etiqueta puntos clave"/>
          <p:cNvSpPr txBox="1"/>
          <p:nvPr/>
        </p:nvSpPr>
        <p:spPr>
          <a:xfrm>
            <a:off x="4663440" y="1874520"/>
            <a:ext cx="6976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Puntos clave</a:t>
            </a:r>
            <a:endParaRPr lang="en-US" sz="2200" dirty="0"/>
          </a:p>
        </p:txBody>
      </p:sp>
      <p:sp>
        <p:nvSpPr>
          <p:cNvPr id="11" name="Puntos clave"/>
          <p:cNvSpPr txBox="1"/>
          <p:nvPr/>
        </p:nvSpPr>
        <p:spPr>
          <a:xfrm>
            <a:off x="4663440" y="2423160"/>
            <a:ext cx="6976872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900" b="1" dirty="0">
                <a:solidFill>
                  <a:schemeClr val="tx1"/>
                </a:solidFill>
              </a:rPr>
              <a:t>NDA: </a:t>
            </a:r>
            <a:pPr indent="0" marL="0">
              <a:spcAft>
                <a:spcPts val="14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firmarlo antes de dar acceso a información confidencial y otros activos.</a:t>
            </a:r>
            <a:endParaRPr lang="en-US" sz="1900" dirty="0"/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900" b="1" dirty="0">
                <a:solidFill>
                  <a:schemeClr val="tx1"/>
                </a:solidFill>
              </a:rPr>
              <a:t>Responsabilidades y derechos legales </a:t>
            </a:r>
            <a:pPr indent="0" marL="0">
              <a:spcAft>
                <a:spcPts val="14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de cada parte.</a:t>
            </a:r>
            <a:endParaRPr lang="en-US" sz="1900" dirty="0"/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900" b="1" dirty="0">
                <a:solidFill>
                  <a:schemeClr val="tx1"/>
                </a:solidFill>
              </a:rPr>
              <a:t>Clasificación y gestión </a:t>
            </a:r>
            <a:pPr indent="0" marL="0">
              <a:spcAft>
                <a:spcPts val="14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de la información y de otros activos asociados.</a:t>
            </a:r>
            <a:endParaRPr lang="en-US" sz="1900" dirty="0"/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900" b="1" dirty="0">
                <a:solidFill>
                  <a:schemeClr val="tx1"/>
                </a:solidFill>
              </a:rPr>
              <a:t>Acciones ante el incumplimiento </a:t>
            </a:r>
            <a:pPr indent="0" marL="0">
              <a:spcAft>
                <a:spcPts val="14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de los requisitos de seguridad.</a:t>
            </a:r>
            <a:endParaRPr lang="en-US" sz="1900" dirty="0"/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900" b="1" dirty="0">
                <a:solidFill>
                  <a:schemeClr val="tx1"/>
                </a:solidFill>
              </a:rPr>
              <a:t>Revisión: </a:t>
            </a:r>
            <a:pPr indent="0" marL="0">
              <a:spcAft>
                <a:spcPts val="14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cuando cambien leyes, reglamentos o políticas de seguridad.</a:t>
            </a:r>
            <a:endParaRPr lang="en-US" sz="1900" dirty="0"/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900" b="1" dirty="0">
                <a:solidFill>
                  <a:schemeClr val="tx1"/>
                </a:solidFill>
              </a:rPr>
              <a:t>Código de conducta: </a:t>
            </a:r>
            <a:pPr indent="0" marL="0">
              <a:spcAft>
                <a:spcPts val="14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confidencialidad, datos personales, ética y buena reputación.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accent3"/>
                </a:solidFill>
              </a:rPr>
              <a:t>6.3  </a:t>
            </a:r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Concienciación, educación y formación</a:t>
            </a:r>
            <a:endParaRPr lang="en-US" sz="3600" dirty="0"/>
          </a:p>
        </p:txBody>
      </p:sp>
      <p:sp>
        <p:nvSpPr>
          <p:cNvPr id="3" name="Etiqueta Programa periódico"/>
          <p:cNvSpPr txBox="1"/>
          <p:nvPr/>
        </p:nvSpPr>
        <p:spPr>
          <a:xfrm>
            <a:off x="548640" y="1280160"/>
            <a:ext cx="2185416" cy="384048"/>
          </a:xfrm>
          <a:prstGeom prst="roundRect">
            <a:avLst>
              <a:gd name="adj" fmla="val 2381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Programa periódico</a:t>
            </a:r>
            <a:endParaRPr lang="en-US" sz="1400" dirty="0"/>
          </a:p>
        </p:txBody>
      </p:sp>
      <p:sp>
        <p:nvSpPr>
          <p:cNvPr id="4" name="Etiqueta Adaptado al puesto"/>
          <p:cNvSpPr txBox="1"/>
          <p:nvPr/>
        </p:nvSpPr>
        <p:spPr>
          <a:xfrm>
            <a:off x="2871216" y="1280160"/>
            <a:ext cx="2185416" cy="384048"/>
          </a:xfrm>
          <a:prstGeom prst="roundRect">
            <a:avLst>
              <a:gd name="adj" fmla="val 2381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Adaptado al puesto</a:t>
            </a:r>
            <a:endParaRPr lang="en-US" sz="1400" dirty="0"/>
          </a:p>
        </p:txBody>
      </p:sp>
      <p:sp>
        <p:nvSpPr>
          <p:cNvPr id="5" name="Panel objetivo"/>
          <p:cNvSpPr/>
          <p:nvPr/>
        </p:nvSpPr>
        <p:spPr>
          <a:xfrm>
            <a:off x="548640" y="1874520"/>
            <a:ext cx="3749040" cy="4434840"/>
          </a:xfrm>
          <a:prstGeom prst="roundRect">
            <a:avLst>
              <a:gd name="adj" fmla="val 292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Control 6.3 círculo"/>
          <p:cNvSpPr/>
          <p:nvPr/>
        </p:nvSpPr>
        <p:spPr>
          <a:xfrm>
            <a:off x="822960" y="2148840"/>
            <a:ext cx="914400" cy="914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Control 6.3 icono" descr="Control 6.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2395728"/>
            <a:ext cx="420624" cy="420624"/>
          </a:xfrm>
          <a:prstGeom prst="rect">
            <a:avLst/>
          </a:prstGeom>
        </p:spPr>
      </p:pic>
      <p:sp>
        <p:nvSpPr>
          <p:cNvPr id="8" name="Etiqueta objetivo"/>
          <p:cNvSpPr txBox="1"/>
          <p:nvPr/>
        </p:nvSpPr>
        <p:spPr>
          <a:xfrm>
            <a:off x="822960" y="32461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Objetivo</a:t>
            </a:r>
            <a:endParaRPr lang="en-US" sz="1800" dirty="0"/>
          </a:p>
        </p:txBody>
      </p:sp>
      <p:sp>
        <p:nvSpPr>
          <p:cNvPr id="9" name="Texto objetivo"/>
          <p:cNvSpPr txBox="1"/>
          <p:nvPr/>
        </p:nvSpPr>
        <p:spPr>
          <a:xfrm>
            <a:off x="822960" y="3657600"/>
            <a:ext cx="32004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Brindar al personal y a las partes interesadas concienciación, educación y formación en seguridad de la información, con actualizaciones periódicas de políticas y procedimientos.</a:t>
            </a:r>
            <a:endParaRPr lang="en-US" sz="1600" dirty="0"/>
          </a:p>
        </p:txBody>
      </p:sp>
      <p:sp>
        <p:nvSpPr>
          <p:cNvPr id="10" name="Etiqueta puntos clave"/>
          <p:cNvSpPr txBox="1"/>
          <p:nvPr/>
        </p:nvSpPr>
        <p:spPr>
          <a:xfrm>
            <a:off x="4663440" y="1874520"/>
            <a:ext cx="6976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Puntos clave</a:t>
            </a:r>
            <a:endParaRPr lang="en-US" sz="2200" dirty="0"/>
          </a:p>
        </p:txBody>
      </p:sp>
      <p:sp>
        <p:nvSpPr>
          <p:cNvPr id="11" name="Puntos clave"/>
          <p:cNvSpPr txBox="1"/>
          <p:nvPr/>
        </p:nvSpPr>
        <p:spPr>
          <a:xfrm>
            <a:off x="4663440" y="2423160"/>
            <a:ext cx="6976872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900" b="1" dirty="0">
                <a:solidFill>
                  <a:schemeClr val="tx1"/>
                </a:solidFill>
              </a:rPr>
              <a:t>Formación inicial: </a:t>
            </a:r>
            <a:pPr indent="0" marL="0">
              <a:spcAft>
                <a:spcPts val="14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para personal nuevo y para quienes cambian de puesto.</a:t>
            </a:r>
            <a:endParaRPr lang="en-US" sz="1900" dirty="0"/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900" b="1" dirty="0">
                <a:solidFill>
                  <a:schemeClr val="tx1"/>
                </a:solidFill>
              </a:rPr>
              <a:t>Evaluar la comprensión </a:t>
            </a:r>
            <a:pPr indent="0" marL="0">
              <a:spcAft>
                <a:spcPts val="14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para medir si la capacitación fue efectiva.</a:t>
            </a:r>
            <a:endParaRPr lang="en-US" sz="1900" dirty="0"/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900" b="1" dirty="0">
                <a:solidFill>
                  <a:schemeClr val="tx1"/>
                </a:solidFill>
              </a:rPr>
              <a:t>Enfoque: </a:t>
            </a:r>
            <a:pPr indent="0" marL="0">
              <a:spcAft>
                <a:spcPts val="14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responder “qué”, “cómo” y “por qué”.</a:t>
            </a:r>
            <a:endParaRPr lang="en-US" sz="1900" dirty="0"/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900" b="1" dirty="0">
                <a:solidFill>
                  <a:schemeClr val="tx1"/>
                </a:solidFill>
              </a:rPr>
              <a:t>Contenido: </a:t>
            </a:r>
            <a:pPr indent="0" marL="0">
              <a:spcAft>
                <a:spcPts val="14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responsabilidades, políticas, procedimientos básicos y notificación de eventos.</a:t>
            </a:r>
            <a:endParaRPr lang="en-US" sz="1900" dirty="0"/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900" b="1" dirty="0">
                <a:solidFill>
                  <a:schemeClr val="tx1"/>
                </a:solidFill>
              </a:rPr>
              <a:t>Riesgos del área: </a:t>
            </a:r>
            <a:pPr indent="0" marL="0">
              <a:spcAft>
                <a:spcPts val="14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como phishing; prevenir, mitigar, detectar, contener y recuperar.</a:t>
            </a:r>
            <a:endParaRPr lang="en-US" sz="1900" dirty="0"/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900" b="1" dirty="0">
                <a:solidFill>
                  <a:schemeClr val="tx1"/>
                </a:solidFill>
              </a:rPr>
              <a:t>Equipos técnicos: </a:t>
            </a:r>
            <a:pPr indent="0" marL="0">
              <a:spcAft>
                <a:spcPts val="14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competencias específicas. La dirección provee los recursos.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accent3"/>
                </a:solidFill>
              </a:rPr>
              <a:t>6.4  </a:t>
            </a:r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Proceso disciplinario</a:t>
            </a:r>
            <a:endParaRPr lang="en-US" sz="3600" dirty="0"/>
          </a:p>
        </p:txBody>
      </p:sp>
      <p:sp>
        <p:nvSpPr>
          <p:cNvPr id="3" name="Etiqueta Preventivo y correctivo"/>
          <p:cNvSpPr txBox="1"/>
          <p:nvPr/>
        </p:nvSpPr>
        <p:spPr>
          <a:xfrm>
            <a:off x="548640" y="1280160"/>
            <a:ext cx="2665476" cy="384048"/>
          </a:xfrm>
          <a:prstGeom prst="roundRect">
            <a:avLst>
              <a:gd name="adj" fmla="val 2381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Preventivo y correctivo</a:t>
            </a:r>
            <a:endParaRPr lang="en-US" sz="1400" dirty="0"/>
          </a:p>
        </p:txBody>
      </p:sp>
      <p:sp>
        <p:nvSpPr>
          <p:cNvPr id="4" name="Panel objetivo"/>
          <p:cNvSpPr/>
          <p:nvPr/>
        </p:nvSpPr>
        <p:spPr>
          <a:xfrm>
            <a:off x="548640" y="1874520"/>
            <a:ext cx="3749040" cy="4434840"/>
          </a:xfrm>
          <a:prstGeom prst="roundRect">
            <a:avLst>
              <a:gd name="adj" fmla="val 292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Control 6.4 círculo"/>
          <p:cNvSpPr/>
          <p:nvPr/>
        </p:nvSpPr>
        <p:spPr>
          <a:xfrm>
            <a:off x="822960" y="2148840"/>
            <a:ext cx="914400" cy="914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Control 6.4 icono" descr="Control 6.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2395728"/>
            <a:ext cx="420624" cy="420624"/>
          </a:xfrm>
          <a:prstGeom prst="rect">
            <a:avLst/>
          </a:prstGeom>
        </p:spPr>
      </p:pic>
      <p:sp>
        <p:nvSpPr>
          <p:cNvPr id="7" name="Etiqueta objetivo"/>
          <p:cNvSpPr txBox="1"/>
          <p:nvPr/>
        </p:nvSpPr>
        <p:spPr>
          <a:xfrm>
            <a:off x="822960" y="32461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Objetivo</a:t>
            </a:r>
            <a:endParaRPr lang="en-US" sz="1800" dirty="0"/>
          </a:p>
        </p:txBody>
      </p:sp>
      <p:sp>
        <p:nvSpPr>
          <p:cNvPr id="8" name="Texto objetivo"/>
          <p:cNvSpPr txBox="1"/>
          <p:nvPr/>
        </p:nvSpPr>
        <p:spPr>
          <a:xfrm>
            <a:off x="822960" y="3657600"/>
            <a:ext cx="32004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Contar con un proceso formal, comunicado previamente, que defina las acciones ante infracciones de las políticas, para que se comprendan las consecuencias, disuadir y responder adecuadamente.</a:t>
            </a:r>
            <a:endParaRPr lang="en-US" sz="1600" dirty="0"/>
          </a:p>
        </p:txBody>
      </p:sp>
      <p:sp>
        <p:nvSpPr>
          <p:cNvPr id="9" name="Etiqueta puntos clave"/>
          <p:cNvSpPr txBox="1"/>
          <p:nvPr/>
        </p:nvSpPr>
        <p:spPr>
          <a:xfrm>
            <a:off x="4663440" y="1874520"/>
            <a:ext cx="6976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Puntos clave</a:t>
            </a:r>
            <a:endParaRPr lang="en-US" sz="2200" dirty="0"/>
          </a:p>
        </p:txBody>
      </p:sp>
      <p:sp>
        <p:nvSpPr>
          <p:cNvPr id="10" name="Puntos clave"/>
          <p:cNvSpPr txBox="1"/>
          <p:nvPr/>
        </p:nvSpPr>
        <p:spPr>
          <a:xfrm>
            <a:off x="4663440" y="2423160"/>
            <a:ext cx="6976872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900" b="1" dirty="0">
                <a:solidFill>
                  <a:schemeClr val="tx1"/>
                </a:solidFill>
              </a:rPr>
              <a:t>Verificar primero </a:t>
            </a:r>
            <a:pPr indent="0" marL="0">
              <a:spcAft>
                <a:spcPts val="14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que la infracción efectivamente se produjo.</a:t>
            </a:r>
            <a:endParaRPr lang="en-US" sz="1900" dirty="0"/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900" b="1" dirty="0">
                <a:solidFill>
                  <a:schemeClr val="tx1"/>
                </a:solidFill>
              </a:rPr>
              <a:t>Respuesta gradual: </a:t>
            </a:r>
            <a:pPr indent="0" marL="0">
              <a:spcAft>
                <a:spcPts val="14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gravedad, consecuencias, intención, reincidencia y formación recibida.</a:t>
            </a:r>
            <a:endParaRPr lang="en-US" sz="1900" dirty="0"/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900" b="1" dirty="0">
                <a:solidFill>
                  <a:schemeClr val="tx1"/>
                </a:solidFill>
              </a:rPr>
              <a:t>Marco aplicable: </a:t>
            </a:r>
            <a:pPr indent="0" marL="0">
              <a:spcAft>
                <a:spcPts val="14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requisitos legales, reglamentarios, contractuales y empresariales.</a:t>
            </a:r>
            <a:endParaRPr lang="en-US" sz="1900" dirty="0"/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900" b="1" dirty="0">
                <a:solidFill>
                  <a:schemeClr val="tx1"/>
                </a:solidFill>
              </a:rPr>
              <a:t>Violaciones deliberadas: </a:t>
            </a:r>
            <a:pPr indent="0" marL="0">
              <a:spcAft>
                <a:spcPts val="14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pueden requerir medidas inmediatas.</a:t>
            </a:r>
            <a:endParaRPr lang="en-US" sz="1900" dirty="0"/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900" b="1" dirty="0">
                <a:solidFill>
                  <a:schemeClr val="tx1"/>
                </a:solidFill>
              </a:rPr>
              <a:t>Confidencialidad: </a:t>
            </a:r>
            <a:pPr indent="0" marL="0">
              <a:spcAft>
                <a:spcPts val="14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proteger la identidad de los sancionados cuando sea posible.</a:t>
            </a:r>
            <a:endParaRPr lang="en-US" sz="1900" dirty="0"/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900" b="1" dirty="0">
                <a:solidFill>
                  <a:schemeClr val="tx1"/>
                </a:solidFill>
              </a:rPr>
              <a:t>Incentivos: </a:t>
            </a:r>
            <a:pPr indent="0" marL="0">
              <a:spcAft>
                <a:spcPts val="14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puede plantearse un sistema de recompensas.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accent3"/>
                </a:solidFill>
              </a:rPr>
              <a:t>6.5  </a:t>
            </a:r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Finalización o cambio de empleo</a:t>
            </a:r>
            <a:endParaRPr lang="en-US" sz="3600" dirty="0"/>
          </a:p>
        </p:txBody>
      </p:sp>
      <p:sp>
        <p:nvSpPr>
          <p:cNvPr id="3" name="Etiqueta Responsabilidades posteriores al empleo"/>
          <p:cNvSpPr txBox="1"/>
          <p:nvPr/>
        </p:nvSpPr>
        <p:spPr>
          <a:xfrm>
            <a:off x="548640" y="1280160"/>
            <a:ext cx="4201668" cy="384048"/>
          </a:xfrm>
          <a:prstGeom prst="roundRect">
            <a:avLst>
              <a:gd name="adj" fmla="val 2381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Responsabilidades posteriores al empleo</a:t>
            </a:r>
            <a:endParaRPr lang="en-US" sz="1400" dirty="0"/>
          </a:p>
        </p:txBody>
      </p:sp>
      <p:sp>
        <p:nvSpPr>
          <p:cNvPr id="4" name="Panel objetivo"/>
          <p:cNvSpPr/>
          <p:nvPr/>
        </p:nvSpPr>
        <p:spPr>
          <a:xfrm>
            <a:off x="548640" y="1874520"/>
            <a:ext cx="3749040" cy="4434840"/>
          </a:xfrm>
          <a:prstGeom prst="roundRect">
            <a:avLst>
              <a:gd name="adj" fmla="val 292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Control 6.5 círculo"/>
          <p:cNvSpPr/>
          <p:nvPr/>
        </p:nvSpPr>
        <p:spPr>
          <a:xfrm>
            <a:off x="822960" y="2148840"/>
            <a:ext cx="914400" cy="914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Control 6.5 icono" descr="Control 6.5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2395728"/>
            <a:ext cx="420624" cy="420624"/>
          </a:xfrm>
          <a:prstGeom prst="rect">
            <a:avLst/>
          </a:prstGeom>
        </p:spPr>
      </p:pic>
      <p:sp>
        <p:nvSpPr>
          <p:cNvPr id="7" name="Etiqueta objetivo"/>
          <p:cNvSpPr txBox="1"/>
          <p:nvPr/>
        </p:nvSpPr>
        <p:spPr>
          <a:xfrm>
            <a:off x="822960" y="32461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Objetivo</a:t>
            </a:r>
            <a:endParaRPr lang="en-US" sz="1800" dirty="0"/>
          </a:p>
        </p:txBody>
      </p:sp>
      <p:sp>
        <p:nvSpPr>
          <p:cNvPr id="8" name="Texto objetivo"/>
          <p:cNvSpPr txBox="1"/>
          <p:nvPr/>
        </p:nvSpPr>
        <p:spPr>
          <a:xfrm>
            <a:off x="822960" y="3657600"/>
            <a:ext cx="32004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Definir, comunicar y aplicar las obligaciones de seguridad que continúan vigentes tras la finalización o el cambio de empleo, protegiendo los intereses de la organización.</a:t>
            </a:r>
            <a:endParaRPr lang="en-US" sz="1600" dirty="0"/>
          </a:p>
        </p:txBody>
      </p:sp>
      <p:sp>
        <p:nvSpPr>
          <p:cNvPr id="9" name="Etiqueta puntos clave"/>
          <p:cNvSpPr txBox="1"/>
          <p:nvPr/>
        </p:nvSpPr>
        <p:spPr>
          <a:xfrm>
            <a:off x="4663440" y="1874520"/>
            <a:ext cx="6976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Puntos clave</a:t>
            </a:r>
            <a:endParaRPr lang="en-US" sz="2200" dirty="0"/>
          </a:p>
        </p:txBody>
      </p:sp>
      <p:sp>
        <p:nvSpPr>
          <p:cNvPr id="10" name="Puntos clave"/>
          <p:cNvSpPr txBox="1"/>
          <p:nvPr/>
        </p:nvSpPr>
        <p:spPr>
          <a:xfrm>
            <a:off x="4663440" y="2423160"/>
            <a:ext cx="6976872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900" b="1" dirty="0">
                <a:solidFill>
                  <a:schemeClr val="tx1"/>
                </a:solidFill>
              </a:rPr>
              <a:t>Obligaciones vigentes: </a:t>
            </a:r>
            <a:pPr indent="0" marL="0">
              <a:spcAft>
                <a:spcPts val="14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confidencialidad, propiedad intelectual, conocimientos obtenidos y NDA.</a:t>
            </a:r>
            <a:endParaRPr lang="en-US" sz="1900" dirty="0"/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900" b="1" dirty="0">
                <a:solidFill>
                  <a:schemeClr val="tx1"/>
                </a:solidFill>
              </a:rPr>
              <a:t>Formalización: </a:t>
            </a:r>
            <a:pPr indent="0" marL="0">
              <a:spcAft>
                <a:spcPts val="14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en términos de empleo, contratos o acuerdos.</a:t>
            </a:r>
            <a:endParaRPr lang="en-US" sz="1900" dirty="0"/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900" b="1" dirty="0">
                <a:solidFill>
                  <a:schemeClr val="tx1"/>
                </a:solidFill>
              </a:rPr>
              <a:t>Cambio de puesto: </a:t>
            </a:r>
            <a:pPr indent="0" marL="0">
              <a:spcAft>
                <a:spcPts val="14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se gestiona como cese de las responsabilidades anteriores y comienzo de las nuevas.</a:t>
            </a:r>
            <a:endParaRPr lang="en-US" sz="1900" dirty="0"/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900" b="1" dirty="0">
                <a:solidFill>
                  <a:schemeClr val="tx1"/>
                </a:solidFill>
              </a:rPr>
              <a:t>Transferir </a:t>
            </a:r>
            <a:pPr indent="0" marL="0">
              <a:spcAft>
                <a:spcPts val="14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responsabilidades de seguridad a otra persona y comunicarlo a las partes interesadas.</a:t>
            </a:r>
            <a:endParaRPr lang="en-US" sz="1900" dirty="0"/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900" b="1" dirty="0">
                <a:solidFill>
                  <a:schemeClr val="tx1"/>
                </a:solidFill>
              </a:rPr>
              <a:t>Personal externo: </a:t>
            </a:r>
            <a:pPr indent="0" marL="0">
              <a:spcAft>
                <a:spcPts val="14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el mismo proceso al finalizar o cambiar su relación contractual.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accent3"/>
                </a:solidFill>
              </a:rPr>
              <a:t>6.6  </a:t>
            </a:r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Acuerdos de confidencialidad (NDA)</a:t>
            </a:r>
            <a:endParaRPr lang="en-US" sz="3600" dirty="0"/>
          </a:p>
        </p:txBody>
      </p:sp>
      <p:sp>
        <p:nvSpPr>
          <p:cNvPr id="3" name="Etiqueta Términos legalmente exigibles"/>
          <p:cNvSpPr txBox="1"/>
          <p:nvPr/>
        </p:nvSpPr>
        <p:spPr>
          <a:xfrm>
            <a:off x="548640" y="1280160"/>
            <a:ext cx="3241548" cy="384048"/>
          </a:xfrm>
          <a:prstGeom prst="roundRect">
            <a:avLst>
              <a:gd name="adj" fmla="val 2381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Términos legalmente exigibles</a:t>
            </a:r>
            <a:endParaRPr lang="en-US" sz="1400" dirty="0"/>
          </a:p>
        </p:txBody>
      </p:sp>
      <p:sp>
        <p:nvSpPr>
          <p:cNvPr id="4" name="Panel objetivo"/>
          <p:cNvSpPr/>
          <p:nvPr/>
        </p:nvSpPr>
        <p:spPr>
          <a:xfrm>
            <a:off x="548640" y="1874520"/>
            <a:ext cx="3749040" cy="4434840"/>
          </a:xfrm>
          <a:prstGeom prst="roundRect">
            <a:avLst>
              <a:gd name="adj" fmla="val 292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Control 6.6 círculo"/>
          <p:cNvSpPr/>
          <p:nvPr/>
        </p:nvSpPr>
        <p:spPr>
          <a:xfrm>
            <a:off x="822960" y="2148840"/>
            <a:ext cx="914400" cy="914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Control 6.6 icono" descr="Control 6.6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2395728"/>
            <a:ext cx="420624" cy="420624"/>
          </a:xfrm>
          <a:prstGeom prst="rect">
            <a:avLst/>
          </a:prstGeom>
        </p:spPr>
      </p:pic>
      <p:sp>
        <p:nvSpPr>
          <p:cNvPr id="7" name="Etiqueta objetivo"/>
          <p:cNvSpPr txBox="1"/>
          <p:nvPr/>
        </p:nvSpPr>
        <p:spPr>
          <a:xfrm>
            <a:off x="822960" y="32461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Objetivo</a:t>
            </a:r>
            <a:endParaRPr lang="en-US" sz="1800" dirty="0"/>
          </a:p>
        </p:txBody>
      </p:sp>
      <p:sp>
        <p:nvSpPr>
          <p:cNvPr id="8" name="Texto objetivo"/>
          <p:cNvSpPr txBox="1"/>
          <p:nvPr/>
        </p:nvSpPr>
        <p:spPr>
          <a:xfrm>
            <a:off x="822960" y="3657600"/>
            <a:ext cx="32004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Identificar, documentar, revisar periódicamente y proteger las necesidades de información de la organización mediante acuerdos firmados por el personal y otras partes interesadas.</a:t>
            </a:r>
            <a:endParaRPr lang="en-US" sz="1600" dirty="0"/>
          </a:p>
        </p:txBody>
      </p:sp>
      <p:sp>
        <p:nvSpPr>
          <p:cNvPr id="9" name="Etiqueta puntos clave"/>
          <p:cNvSpPr txBox="1"/>
          <p:nvPr/>
        </p:nvSpPr>
        <p:spPr>
          <a:xfrm>
            <a:off x="4663440" y="1874520"/>
            <a:ext cx="6976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Puntos clave</a:t>
            </a:r>
            <a:endParaRPr lang="en-US" sz="2200" dirty="0"/>
          </a:p>
        </p:txBody>
      </p:sp>
      <p:sp>
        <p:nvSpPr>
          <p:cNvPr id="10" name="Puntos clave"/>
          <p:cNvSpPr txBox="1"/>
          <p:nvPr/>
        </p:nvSpPr>
        <p:spPr>
          <a:xfrm>
            <a:off x="4663440" y="2423160"/>
            <a:ext cx="6976872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900" b="1" dirty="0">
                <a:solidFill>
                  <a:schemeClr val="tx1"/>
                </a:solidFill>
              </a:rPr>
              <a:t>Contenido: </a:t>
            </a:r>
            <a:pPr indent="0" marL="0">
              <a:spcAft>
                <a:spcPts val="14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adecuado al tipo de información, su clasificación, uso previsto y nivel de acceso.</a:t>
            </a:r>
            <a:endParaRPr lang="en-US" sz="1900" dirty="0"/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900" b="1" dirty="0">
                <a:solidFill>
                  <a:schemeClr val="tx1"/>
                </a:solidFill>
              </a:rPr>
              <a:t>Debe definir: </a:t>
            </a:r>
            <a:pPr indent="0" marL="0">
              <a:spcAft>
                <a:spcPts val="14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qué información se protege, por cuánto tiempo y las responsabilidades de los firmantes.</a:t>
            </a:r>
            <a:endParaRPr lang="en-US" sz="1900" dirty="0"/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900" b="1" dirty="0">
                <a:solidFill>
                  <a:schemeClr val="tx1"/>
                </a:solidFill>
              </a:rPr>
              <a:t>Otras cláusulas: </a:t>
            </a:r>
            <a:pPr indent="0" marL="0">
              <a:spcAft>
                <a:spcPts val="14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propiedad intelectual, usos permitidos y notificación de divulgaciones no autorizadas.</a:t>
            </a:r>
            <a:endParaRPr lang="en-US" sz="1900" dirty="0"/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900" b="1" dirty="0">
                <a:solidFill>
                  <a:schemeClr val="tx1"/>
                </a:solidFill>
              </a:rPr>
              <a:t>Fin del acuerdo: </a:t>
            </a:r>
            <a:pPr indent="0" marL="0">
              <a:spcAft>
                <a:spcPts val="14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devolución o destrucción de la información.</a:t>
            </a:r>
            <a:endParaRPr lang="en-US" sz="1900" dirty="0"/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900" b="1" dirty="0">
                <a:solidFill>
                  <a:schemeClr val="tx1"/>
                </a:solidFill>
              </a:rPr>
              <a:t>Incumplimiento: </a:t>
            </a:r>
            <a:pPr indent="0" marL="0">
              <a:spcAft>
                <a:spcPts val="14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acciones previstas. Revisión periódica y ante cambios.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accent3"/>
                </a:solidFill>
              </a:rPr>
              <a:t>6.7  </a:t>
            </a:r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Teletrabajo</a:t>
            </a:r>
            <a:endParaRPr lang="en-US" sz="3600" dirty="0"/>
          </a:p>
        </p:txBody>
      </p:sp>
      <p:sp>
        <p:nvSpPr>
          <p:cNvPr id="3" name="Etiqueta Preventivo"/>
          <p:cNvSpPr txBox="1"/>
          <p:nvPr/>
        </p:nvSpPr>
        <p:spPr>
          <a:xfrm>
            <a:off x="548640" y="1280160"/>
            <a:ext cx="1417320" cy="384048"/>
          </a:xfrm>
          <a:prstGeom prst="roundRect">
            <a:avLst>
              <a:gd name="adj" fmla="val 2381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Preventivo</a:t>
            </a:r>
            <a:endParaRPr lang="en-US" sz="1400" dirty="0"/>
          </a:p>
        </p:txBody>
      </p:sp>
      <p:sp>
        <p:nvSpPr>
          <p:cNvPr id="4" name="Etiqueta Incluye dispositivos móviles"/>
          <p:cNvSpPr txBox="1"/>
          <p:nvPr/>
        </p:nvSpPr>
        <p:spPr>
          <a:xfrm>
            <a:off x="2103120" y="1280160"/>
            <a:ext cx="3145536" cy="384048"/>
          </a:xfrm>
          <a:prstGeom prst="roundRect">
            <a:avLst>
              <a:gd name="adj" fmla="val 2381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Incluye dispositivos móviles</a:t>
            </a:r>
            <a:endParaRPr lang="en-US" sz="1400" dirty="0"/>
          </a:p>
        </p:txBody>
      </p:sp>
      <p:sp>
        <p:nvSpPr>
          <p:cNvPr id="5" name="Panel objetivo"/>
          <p:cNvSpPr/>
          <p:nvPr/>
        </p:nvSpPr>
        <p:spPr>
          <a:xfrm>
            <a:off x="548640" y="1874520"/>
            <a:ext cx="3749040" cy="4434840"/>
          </a:xfrm>
          <a:prstGeom prst="roundRect">
            <a:avLst>
              <a:gd name="adj" fmla="val 292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Control 6.7 círculo"/>
          <p:cNvSpPr/>
          <p:nvPr/>
        </p:nvSpPr>
        <p:spPr>
          <a:xfrm>
            <a:off x="822960" y="2148840"/>
            <a:ext cx="914400" cy="914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Control 6.7 icono" descr="Control 6.7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2395728"/>
            <a:ext cx="420624" cy="420624"/>
          </a:xfrm>
          <a:prstGeom prst="rect">
            <a:avLst/>
          </a:prstGeom>
        </p:spPr>
      </p:pic>
      <p:sp>
        <p:nvSpPr>
          <p:cNvPr id="8" name="Etiqueta objetivo"/>
          <p:cNvSpPr txBox="1"/>
          <p:nvPr/>
        </p:nvSpPr>
        <p:spPr>
          <a:xfrm>
            <a:off x="822960" y="32461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Objetivo</a:t>
            </a:r>
            <a:endParaRPr lang="en-US" sz="1800" dirty="0"/>
          </a:p>
        </p:txBody>
      </p:sp>
      <p:sp>
        <p:nvSpPr>
          <p:cNvPr id="9" name="Texto objetivo"/>
          <p:cNvSpPr txBox="1"/>
          <p:nvPr/>
        </p:nvSpPr>
        <p:spPr>
          <a:xfrm>
            <a:off x="822960" y="3657600"/>
            <a:ext cx="32004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Proteger la información a la que se accede, que se procesa o almacena fuera de las instalaciones: hogar, lugares públicos y otros espacios de trabajo remoto.</a:t>
            </a:r>
            <a:endParaRPr lang="en-US" sz="1600" dirty="0"/>
          </a:p>
        </p:txBody>
      </p:sp>
      <p:sp>
        <p:nvSpPr>
          <p:cNvPr id="10" name="Etiqueta puntos clave"/>
          <p:cNvSpPr txBox="1"/>
          <p:nvPr/>
        </p:nvSpPr>
        <p:spPr>
          <a:xfrm>
            <a:off x="4663440" y="1874520"/>
            <a:ext cx="6976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Puntos clave</a:t>
            </a:r>
            <a:endParaRPr lang="en-US" sz="2200" dirty="0"/>
          </a:p>
        </p:txBody>
      </p:sp>
      <p:sp>
        <p:nvSpPr>
          <p:cNvPr id="11" name="Puntos clave"/>
          <p:cNvSpPr txBox="1"/>
          <p:nvPr/>
        </p:nvSpPr>
        <p:spPr>
          <a:xfrm>
            <a:off x="4663440" y="2423160"/>
            <a:ext cx="6976872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900" b="1" dirty="0">
                <a:solidFill>
                  <a:schemeClr val="tx1"/>
                </a:solidFill>
              </a:rPr>
              <a:t>Política específica: </a:t>
            </a:r>
            <a:pPr indent="0" marL="0">
              <a:spcAft>
                <a:spcPts val="14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condiciones y restricciones del trabajo remoto.</a:t>
            </a:r>
            <a:endParaRPr lang="en-US" sz="1900" dirty="0"/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900" b="1" dirty="0">
                <a:solidFill>
                  <a:schemeClr val="tx1"/>
                </a:solidFill>
              </a:rPr>
              <a:t>A considerar: </a:t>
            </a:r>
            <a:pPr indent="0" marL="0">
              <a:spcAft>
                <a:spcPts val="14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seguridad física, redes domésticas y públicas, acceso remoto y personas del entorno.</a:t>
            </a:r>
            <a:endParaRPr lang="en-US" sz="1900" dirty="0"/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900" b="1" dirty="0">
                <a:solidFill>
                  <a:schemeClr val="tx1"/>
                </a:solidFill>
              </a:rPr>
              <a:t>Medidas: </a:t>
            </a:r>
            <a:pPr indent="0" marL="0">
              <a:spcAft>
                <a:spcPts val="14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autenticación segura, cortafuegos, antimalware, bloqueo de pantalla y borrado remoto.</a:t>
            </a:r>
            <a:endParaRPr lang="en-US" sz="1900" dirty="0"/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900" b="1" dirty="0">
                <a:solidFill>
                  <a:schemeClr val="tx1"/>
                </a:solidFill>
              </a:rPr>
              <a:t>Organización: </a:t>
            </a:r>
            <a:pPr indent="0" marL="0">
              <a:spcAft>
                <a:spcPts val="14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formación, soporte, copias de seguridad y continuidad.</a:t>
            </a:r>
            <a:endParaRPr lang="en-US" sz="1900" dirty="0"/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900" b="1" dirty="0">
                <a:solidFill>
                  <a:schemeClr val="tx1"/>
                </a:solidFill>
              </a:rPr>
              <a:t>Al finalizar: </a:t>
            </a:r>
            <a:pPr indent="0" marL="0">
              <a:spcAft>
                <a:spcPts val="14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revocar accesos y recuperar equipos.</a:t>
            </a:r>
            <a:endParaRPr lang="en-US" sz="1900" dirty="0"/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900" b="1" dirty="0">
                <a:solidFill>
                  <a:schemeClr val="tx1"/>
                </a:solidFill>
              </a:rPr>
              <a:t>Móviles: </a:t>
            </a:r>
            <a:pPr indent="0" marL="0">
              <a:spcAft>
                <a:spcPts val="14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mismas medidas; definir qué se almacena y qué hacer ante pérdida o robo.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accent3"/>
                </a:solidFill>
              </a:rPr>
              <a:t>6.8  </a:t>
            </a:r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Notificación de eventos de seguridad</a:t>
            </a:r>
            <a:endParaRPr lang="en-US" sz="3600" dirty="0"/>
          </a:p>
        </p:txBody>
      </p:sp>
      <p:sp>
        <p:nvSpPr>
          <p:cNvPr id="3" name="Etiqueta Finalidad: detectar infracciones"/>
          <p:cNvSpPr txBox="1"/>
          <p:nvPr/>
        </p:nvSpPr>
        <p:spPr>
          <a:xfrm>
            <a:off x="548640" y="1280160"/>
            <a:ext cx="3529584" cy="384048"/>
          </a:xfrm>
          <a:prstGeom prst="roundRect">
            <a:avLst>
              <a:gd name="adj" fmla="val 2381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Finalidad: detectar infracciones</a:t>
            </a:r>
            <a:endParaRPr lang="en-US" sz="1400" dirty="0"/>
          </a:p>
        </p:txBody>
      </p:sp>
      <p:sp>
        <p:nvSpPr>
          <p:cNvPr id="4" name="Panel objetivo"/>
          <p:cNvSpPr/>
          <p:nvPr/>
        </p:nvSpPr>
        <p:spPr>
          <a:xfrm>
            <a:off x="548640" y="1874520"/>
            <a:ext cx="3749040" cy="4434840"/>
          </a:xfrm>
          <a:prstGeom prst="roundRect">
            <a:avLst>
              <a:gd name="adj" fmla="val 292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Control 6.8 círculo"/>
          <p:cNvSpPr/>
          <p:nvPr/>
        </p:nvSpPr>
        <p:spPr>
          <a:xfrm>
            <a:off x="822960" y="2148840"/>
            <a:ext cx="914400" cy="914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Control 6.8 icono" descr="Control 6.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2395728"/>
            <a:ext cx="420624" cy="420624"/>
          </a:xfrm>
          <a:prstGeom prst="rect">
            <a:avLst/>
          </a:prstGeom>
        </p:spPr>
      </p:pic>
      <p:sp>
        <p:nvSpPr>
          <p:cNvPr id="7" name="Etiqueta objetivo"/>
          <p:cNvSpPr txBox="1"/>
          <p:nvPr/>
        </p:nvSpPr>
        <p:spPr>
          <a:xfrm>
            <a:off x="822960" y="32461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Objetivo</a:t>
            </a:r>
            <a:endParaRPr lang="en-US" sz="1800" dirty="0"/>
          </a:p>
        </p:txBody>
      </p:sp>
      <p:sp>
        <p:nvSpPr>
          <p:cNvPr id="8" name="Texto objetivo"/>
          <p:cNvSpPr txBox="1"/>
          <p:nvPr/>
        </p:nvSpPr>
        <p:spPr>
          <a:xfrm>
            <a:off x="822960" y="3657600"/>
            <a:ext cx="32004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Ofrecer un mecanismo para que el personal notifique oportunamente los eventos observados o sospechados, de forma rápida, coherente y eficaz, para prevenir o minimizar sus consecuencias.</a:t>
            </a:r>
            <a:endParaRPr lang="en-US" sz="1600" dirty="0"/>
          </a:p>
        </p:txBody>
      </p:sp>
      <p:sp>
        <p:nvSpPr>
          <p:cNvPr id="9" name="Etiqueta puntos clave"/>
          <p:cNvSpPr txBox="1"/>
          <p:nvPr/>
        </p:nvSpPr>
        <p:spPr>
          <a:xfrm>
            <a:off x="4663440" y="1874520"/>
            <a:ext cx="6976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Puntos clave</a:t>
            </a:r>
            <a:endParaRPr lang="en-US" sz="2200" dirty="0"/>
          </a:p>
        </p:txBody>
      </p:sp>
      <p:sp>
        <p:nvSpPr>
          <p:cNvPr id="10" name="Puntos clave"/>
          <p:cNvSpPr txBox="1"/>
          <p:nvPr/>
        </p:nvSpPr>
        <p:spPr>
          <a:xfrm>
            <a:off x="4663440" y="2423160"/>
            <a:ext cx="6976872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900" b="1" dirty="0">
                <a:solidFill>
                  <a:schemeClr val="tx1"/>
                </a:solidFill>
              </a:rPr>
              <a:t>El personal debe conocer </a:t>
            </a:r>
            <a:pPr indent="0" marL="0">
              <a:spcAft>
                <a:spcPts val="14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su responsabilidad, el procedimiento y el punto de contacto.</a:t>
            </a:r>
            <a:endParaRPr lang="en-US" sz="1900" dirty="0"/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900" b="1" dirty="0">
                <a:solidFill>
                  <a:schemeClr val="tx1"/>
                </a:solidFill>
              </a:rPr>
              <a:t>Mecanismo: </a:t>
            </a:r>
            <a:pPr indent="0" marL="0">
              <a:spcAft>
                <a:spcPts val="14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sencillo, accesible y disponible.</a:t>
            </a:r>
            <a:endParaRPr lang="en-US" sz="1900" dirty="0"/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900" b="1" dirty="0">
                <a:solidFill>
                  <a:schemeClr val="tx1"/>
                </a:solidFill>
              </a:rPr>
              <a:t>Eventos: </a:t>
            </a:r>
            <a:pPr indent="0" marL="0">
              <a:spcAft>
                <a:spcPts val="14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controles ineficaces, errores humanos, accesos no autorizados, vulnerabilidades, comportamientos anómalos, sospecha de malware.</a:t>
            </a:r>
            <a:endParaRPr lang="en-US" sz="1900" dirty="0"/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900" b="1" dirty="0">
                <a:solidFill>
                  <a:schemeClr val="tx1"/>
                </a:solidFill>
              </a:rPr>
              <a:t>No comprobar ni explotar </a:t>
            </a:r>
            <a:pPr indent="0" marL="0">
              <a:spcAft>
                <a:spcPts val="14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vulnerabilidades por cuenta propia: puede causar daños, alterar pruebas digitales o generar responsabilidades legales.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SRT · Res. 23/2023</a:t>
            </a:r>
            <a:endParaRPr lang="en-US" sz="3600" dirty="0"/>
          </a:p>
        </p:txBody>
      </p:sp>
      <p:sp>
        <p:nvSpPr>
          <p:cNvPr id="3" name="Subtítulo"/>
          <p:cNvSpPr txBox="1"/>
          <p:nvPr/>
        </p:nvSpPr>
        <p:spPr>
          <a:xfrm>
            <a:off x="548640" y="118872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Superintendencia de Riesgos del Trabajo</a:t>
            </a:r>
            <a:endParaRPr lang="en-US" sz="1800" dirty="0"/>
          </a:p>
        </p:txBody>
      </p:sp>
      <p:sp>
        <p:nvSpPr>
          <p:cNvPr id="4" name="Panel tipo"/>
          <p:cNvSpPr/>
          <p:nvPr/>
        </p:nvSpPr>
        <p:spPr>
          <a:xfrm>
            <a:off x="548640" y="1828800"/>
            <a:ext cx="3566160" cy="4480560"/>
          </a:xfrm>
          <a:prstGeom prst="roundRect">
            <a:avLst>
              <a:gd name="adj" fmla="val 307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SRT · Res. 23/2023 círculo"/>
          <p:cNvSpPr/>
          <p:nvPr/>
        </p:nvSpPr>
        <p:spPr>
          <a:xfrm>
            <a:off x="822960" y="2103120"/>
            <a:ext cx="1005840" cy="10058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SRT · Res. 23/2023 icono" descr="SRT · Res. 23/202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4537" y="2374697"/>
            <a:ext cx="462686" cy="462686"/>
          </a:xfrm>
          <a:prstGeom prst="rect">
            <a:avLst/>
          </a:prstGeom>
        </p:spPr>
      </p:pic>
      <p:sp>
        <p:nvSpPr>
          <p:cNvPr id="7" name="Tipo de norma"/>
          <p:cNvSpPr txBox="1"/>
          <p:nvPr/>
        </p:nvSpPr>
        <p:spPr>
          <a:xfrm>
            <a:off x="822960" y="32918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Resolución</a:t>
            </a:r>
            <a:endParaRPr lang="en-US" sz="2000" dirty="0"/>
          </a:p>
        </p:txBody>
      </p:sp>
      <p:sp>
        <p:nvSpPr>
          <p:cNvPr id="8" name="Etiqueta controles"/>
          <p:cNvSpPr txBox="1"/>
          <p:nvPr/>
        </p:nvSpPr>
        <p:spPr>
          <a:xfrm>
            <a:off x="822960" y="38862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Controles relacionados</a:t>
            </a:r>
            <a:endParaRPr lang="en-US" sz="1400" dirty="0"/>
          </a:p>
        </p:txBody>
      </p:sp>
      <p:sp>
        <p:nvSpPr>
          <p:cNvPr id="9" name="Etiqueta 6.1"/>
          <p:cNvSpPr txBox="1"/>
          <p:nvPr/>
        </p:nvSpPr>
        <p:spPr>
          <a:xfrm>
            <a:off x="822960" y="4297680"/>
            <a:ext cx="621792" cy="457200"/>
          </a:xfrm>
          <a:prstGeom prst="roundRect">
            <a:avLst>
              <a:gd name="adj" fmla="val 2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6.1</a:t>
            </a:r>
            <a:endParaRPr lang="en-US" sz="1600" dirty="0"/>
          </a:p>
        </p:txBody>
      </p:sp>
      <p:sp>
        <p:nvSpPr>
          <p:cNvPr id="10" name="Etiqueta 6.2"/>
          <p:cNvSpPr txBox="1"/>
          <p:nvPr/>
        </p:nvSpPr>
        <p:spPr>
          <a:xfrm>
            <a:off x="1536192" y="4297680"/>
            <a:ext cx="621792" cy="457200"/>
          </a:xfrm>
          <a:prstGeom prst="roundRect">
            <a:avLst>
              <a:gd name="adj" fmla="val 2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6.2</a:t>
            </a:r>
            <a:endParaRPr lang="en-US" sz="1600" dirty="0"/>
          </a:p>
        </p:txBody>
      </p:sp>
      <p:sp>
        <p:nvSpPr>
          <p:cNvPr id="11" name="Etiqueta 6.4"/>
          <p:cNvSpPr txBox="1"/>
          <p:nvPr/>
        </p:nvSpPr>
        <p:spPr>
          <a:xfrm>
            <a:off x="2249424" y="4297680"/>
            <a:ext cx="621792" cy="457200"/>
          </a:xfrm>
          <a:prstGeom prst="roundRect">
            <a:avLst>
              <a:gd name="adj" fmla="val 2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6.4</a:t>
            </a:r>
            <a:endParaRPr lang="en-US" sz="1600" dirty="0"/>
          </a:p>
        </p:txBody>
      </p:sp>
      <p:sp>
        <p:nvSpPr>
          <p:cNvPr id="12" name="Etiqueta 6.5"/>
          <p:cNvSpPr txBox="1"/>
          <p:nvPr/>
        </p:nvSpPr>
        <p:spPr>
          <a:xfrm>
            <a:off x="2962656" y="4297680"/>
            <a:ext cx="621792" cy="457200"/>
          </a:xfrm>
          <a:prstGeom prst="roundRect">
            <a:avLst>
              <a:gd name="adj" fmla="val 2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6.5</a:t>
            </a:r>
            <a:endParaRPr lang="en-US" sz="1600" dirty="0"/>
          </a:p>
        </p:txBody>
      </p:sp>
      <p:sp>
        <p:nvSpPr>
          <p:cNvPr id="13" name="Tarjeta qué establece"/>
          <p:cNvSpPr/>
          <p:nvPr/>
        </p:nvSpPr>
        <p:spPr>
          <a:xfrm>
            <a:off x="4480560" y="1828800"/>
            <a:ext cx="7159752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Etiqueta qué establece"/>
          <p:cNvSpPr txBox="1"/>
          <p:nvPr/>
        </p:nvSpPr>
        <p:spPr>
          <a:xfrm>
            <a:off x="4754880" y="1938528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Qué establece</a:t>
            </a:r>
            <a:endParaRPr lang="en-US" sz="1800" dirty="0"/>
          </a:p>
        </p:txBody>
      </p:sp>
      <p:sp>
        <p:nvSpPr>
          <p:cNvPr id="15" name="Texto qué establece"/>
          <p:cNvSpPr txBox="1"/>
          <p:nvPr/>
        </p:nvSpPr>
        <p:spPr>
          <a:xfrm>
            <a:off x="4754880" y="2304288"/>
            <a:ext cx="6583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La SRT supervisa el sistema de riesgos del trabajo. La Res. 23/2023 fija directrices internas y operativas estrictas, alineadas a ISO 27001 y 27002.</a:t>
            </a:r>
            <a:endParaRPr lang="en-US" sz="1600" dirty="0"/>
          </a:p>
        </p:txBody>
      </p:sp>
      <p:sp>
        <p:nvSpPr>
          <p:cNvPr id="16" name="Tarjeta relación"/>
          <p:cNvSpPr/>
          <p:nvPr/>
        </p:nvSpPr>
        <p:spPr>
          <a:xfrm>
            <a:off x="4480560" y="3840480"/>
            <a:ext cx="7159752" cy="246888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Etiqueta relación"/>
          <p:cNvSpPr txBox="1"/>
          <p:nvPr/>
        </p:nvSpPr>
        <p:spPr>
          <a:xfrm>
            <a:off x="4754880" y="3950208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Relación con ISO/IEC 27002</a:t>
            </a:r>
            <a:endParaRPr lang="en-US" sz="1800" dirty="0"/>
          </a:p>
        </p:txBody>
      </p:sp>
      <p:sp>
        <p:nvSpPr>
          <p:cNvPr id="18" name="Texto relación"/>
          <p:cNvSpPr txBox="1"/>
          <p:nvPr/>
        </p:nvSpPr>
        <p:spPr>
          <a:xfrm>
            <a:off x="4754880" y="4343400"/>
            <a:ext cx="65836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6.1: 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pautas de comprobación de antecedentes.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6.2: 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términos contractuales de responsabilidad.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6.4: 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procedimientos disciplinarios.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6.5: 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indisponibilidad y revocación inmediata de accesos ante el cese laboral.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ISO/IEC 27035</a:t>
            </a:r>
            <a:endParaRPr lang="en-US" sz="3600" dirty="0"/>
          </a:p>
        </p:txBody>
      </p:sp>
      <p:sp>
        <p:nvSpPr>
          <p:cNvPr id="3" name="Subtítulo"/>
          <p:cNvSpPr txBox="1"/>
          <p:nvPr/>
        </p:nvSpPr>
        <p:spPr>
          <a:xfrm>
            <a:off x="548640" y="118872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Gestión de incidentes de seguridad de la información</a:t>
            </a:r>
            <a:endParaRPr lang="en-US" sz="1800" dirty="0"/>
          </a:p>
        </p:txBody>
      </p:sp>
      <p:sp>
        <p:nvSpPr>
          <p:cNvPr id="4" name="Panel tipo"/>
          <p:cNvSpPr/>
          <p:nvPr/>
        </p:nvSpPr>
        <p:spPr>
          <a:xfrm>
            <a:off x="548640" y="1828800"/>
            <a:ext cx="3566160" cy="4480560"/>
          </a:xfrm>
          <a:prstGeom prst="roundRect">
            <a:avLst>
              <a:gd name="adj" fmla="val 307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ISO/IEC 27035 círculo"/>
          <p:cNvSpPr/>
          <p:nvPr/>
        </p:nvSpPr>
        <p:spPr>
          <a:xfrm>
            <a:off x="822960" y="2103120"/>
            <a:ext cx="1005840" cy="10058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SO/IEC 27035 icono" descr="ISO/IEC 27035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4537" y="2374697"/>
            <a:ext cx="462686" cy="462686"/>
          </a:xfrm>
          <a:prstGeom prst="rect">
            <a:avLst/>
          </a:prstGeom>
        </p:spPr>
      </p:pic>
      <p:sp>
        <p:nvSpPr>
          <p:cNvPr id="7" name="Tipo de norma"/>
          <p:cNvSpPr txBox="1"/>
          <p:nvPr/>
        </p:nvSpPr>
        <p:spPr>
          <a:xfrm>
            <a:off x="822960" y="32918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Norma internacional</a:t>
            </a:r>
            <a:endParaRPr lang="en-US" sz="2000" dirty="0"/>
          </a:p>
        </p:txBody>
      </p:sp>
      <p:sp>
        <p:nvSpPr>
          <p:cNvPr id="8" name="Etiqueta controles"/>
          <p:cNvSpPr txBox="1"/>
          <p:nvPr/>
        </p:nvSpPr>
        <p:spPr>
          <a:xfrm>
            <a:off x="822960" y="38862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Controles relacionados</a:t>
            </a:r>
            <a:endParaRPr lang="en-US" sz="1400" dirty="0"/>
          </a:p>
        </p:txBody>
      </p:sp>
      <p:sp>
        <p:nvSpPr>
          <p:cNvPr id="9" name="Etiqueta 6.8"/>
          <p:cNvSpPr txBox="1"/>
          <p:nvPr/>
        </p:nvSpPr>
        <p:spPr>
          <a:xfrm>
            <a:off x="822960" y="4297680"/>
            <a:ext cx="621792" cy="457200"/>
          </a:xfrm>
          <a:prstGeom prst="roundRect">
            <a:avLst>
              <a:gd name="adj" fmla="val 2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6.8</a:t>
            </a:r>
            <a:endParaRPr lang="en-US" sz="1600" dirty="0"/>
          </a:p>
        </p:txBody>
      </p:sp>
      <p:sp>
        <p:nvSpPr>
          <p:cNvPr id="10" name="Tarjeta qué establece"/>
          <p:cNvSpPr/>
          <p:nvPr/>
        </p:nvSpPr>
        <p:spPr>
          <a:xfrm>
            <a:off x="4480560" y="1828800"/>
            <a:ext cx="7159752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Etiqueta qué establece"/>
          <p:cNvSpPr txBox="1"/>
          <p:nvPr/>
        </p:nvSpPr>
        <p:spPr>
          <a:xfrm>
            <a:off x="4754880" y="1938528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Qué establece</a:t>
            </a:r>
            <a:endParaRPr lang="en-US" sz="1800" dirty="0"/>
          </a:p>
        </p:txBody>
      </p:sp>
      <p:sp>
        <p:nvSpPr>
          <p:cNvPr id="12" name="Texto qué establece"/>
          <p:cNvSpPr txBox="1"/>
          <p:nvPr/>
        </p:nvSpPr>
        <p:spPr>
          <a:xfrm>
            <a:off x="4754880" y="2304288"/>
            <a:ext cx="6583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Familia de normas orientada a la gestión de incidentes. Su alcance es el ciclo de vida completo del incidente.</a:t>
            </a:r>
            <a:endParaRPr lang="en-US" sz="1600" dirty="0"/>
          </a:p>
        </p:txBody>
      </p:sp>
      <p:sp>
        <p:nvSpPr>
          <p:cNvPr id="13" name="Tarjeta relación"/>
          <p:cNvSpPr/>
          <p:nvPr/>
        </p:nvSpPr>
        <p:spPr>
          <a:xfrm>
            <a:off x="4480560" y="3840480"/>
            <a:ext cx="7159752" cy="246888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Etiqueta relación"/>
          <p:cNvSpPr txBox="1"/>
          <p:nvPr/>
        </p:nvSpPr>
        <p:spPr>
          <a:xfrm>
            <a:off x="4754880" y="3950208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Relación con ISO/IEC 27002</a:t>
            </a:r>
            <a:endParaRPr lang="en-US" sz="1800" dirty="0"/>
          </a:p>
        </p:txBody>
      </p:sp>
      <p:sp>
        <p:nvSpPr>
          <p:cNvPr id="15" name="Texto relación"/>
          <p:cNvSpPr txBox="1"/>
          <p:nvPr/>
        </p:nvSpPr>
        <p:spPr>
          <a:xfrm>
            <a:off x="4754880" y="4343400"/>
            <a:ext cx="65836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27002: 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especifica, entre otros aspectos, que las personas deben estar preparadas para reportar eventos (6.8).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27035: 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profundiza en cómo estructurarse operativamente para detectar, reportar, evaluar, responder y aprender de los eventos ya notificados.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SSN</a:t>
            </a:r>
            <a:endParaRPr lang="en-US" sz="3600" dirty="0"/>
          </a:p>
        </p:txBody>
      </p:sp>
      <p:sp>
        <p:nvSpPr>
          <p:cNvPr id="3" name="Subtítulo"/>
          <p:cNvSpPr txBox="1"/>
          <p:nvPr/>
        </p:nvSpPr>
        <p:spPr>
          <a:xfrm>
            <a:off x="548640" y="118872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Superintendencia de Seguros de la Nación</a:t>
            </a:r>
            <a:endParaRPr lang="en-US" sz="1800" dirty="0"/>
          </a:p>
        </p:txBody>
      </p:sp>
      <p:sp>
        <p:nvSpPr>
          <p:cNvPr id="4" name="Panel tipo"/>
          <p:cNvSpPr/>
          <p:nvPr/>
        </p:nvSpPr>
        <p:spPr>
          <a:xfrm>
            <a:off x="548640" y="1828800"/>
            <a:ext cx="3566160" cy="4480560"/>
          </a:xfrm>
          <a:prstGeom prst="roundRect">
            <a:avLst>
              <a:gd name="adj" fmla="val 307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SSN círculo"/>
          <p:cNvSpPr/>
          <p:nvPr/>
        </p:nvSpPr>
        <p:spPr>
          <a:xfrm>
            <a:off x="822960" y="2103120"/>
            <a:ext cx="1005840" cy="10058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SSN icono" descr="SS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4537" y="2374697"/>
            <a:ext cx="462686" cy="462686"/>
          </a:xfrm>
          <a:prstGeom prst="rect">
            <a:avLst/>
          </a:prstGeom>
        </p:spPr>
      </p:pic>
      <p:sp>
        <p:nvSpPr>
          <p:cNvPr id="7" name="Tipo de norma"/>
          <p:cNvSpPr txBox="1"/>
          <p:nvPr/>
        </p:nvSpPr>
        <p:spPr>
          <a:xfrm>
            <a:off x="822960" y="32918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Organismo regulador</a:t>
            </a:r>
            <a:endParaRPr lang="en-US" sz="2000" dirty="0"/>
          </a:p>
        </p:txBody>
      </p:sp>
      <p:sp>
        <p:nvSpPr>
          <p:cNvPr id="8" name="Etiqueta controles"/>
          <p:cNvSpPr txBox="1"/>
          <p:nvPr/>
        </p:nvSpPr>
        <p:spPr>
          <a:xfrm>
            <a:off x="822960" y="38862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Controles relacionados</a:t>
            </a:r>
            <a:endParaRPr lang="en-US" sz="1400" dirty="0"/>
          </a:p>
        </p:txBody>
      </p:sp>
      <p:sp>
        <p:nvSpPr>
          <p:cNvPr id="9" name="Etiqueta 6.1"/>
          <p:cNvSpPr txBox="1"/>
          <p:nvPr/>
        </p:nvSpPr>
        <p:spPr>
          <a:xfrm>
            <a:off x="822960" y="4297680"/>
            <a:ext cx="621792" cy="457200"/>
          </a:xfrm>
          <a:prstGeom prst="roundRect">
            <a:avLst>
              <a:gd name="adj" fmla="val 2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6.1</a:t>
            </a:r>
            <a:endParaRPr lang="en-US" sz="1600" dirty="0"/>
          </a:p>
        </p:txBody>
      </p:sp>
      <p:sp>
        <p:nvSpPr>
          <p:cNvPr id="10" name="Etiqueta 6.2"/>
          <p:cNvSpPr txBox="1"/>
          <p:nvPr/>
        </p:nvSpPr>
        <p:spPr>
          <a:xfrm>
            <a:off x="1536192" y="4297680"/>
            <a:ext cx="621792" cy="457200"/>
          </a:xfrm>
          <a:prstGeom prst="roundRect">
            <a:avLst>
              <a:gd name="adj" fmla="val 2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6.2</a:t>
            </a:r>
            <a:endParaRPr lang="en-US" sz="1600" dirty="0"/>
          </a:p>
        </p:txBody>
      </p:sp>
      <p:sp>
        <p:nvSpPr>
          <p:cNvPr id="11" name="Etiqueta 6.3"/>
          <p:cNvSpPr txBox="1"/>
          <p:nvPr/>
        </p:nvSpPr>
        <p:spPr>
          <a:xfrm>
            <a:off x="2249424" y="4297680"/>
            <a:ext cx="621792" cy="457200"/>
          </a:xfrm>
          <a:prstGeom prst="roundRect">
            <a:avLst>
              <a:gd name="adj" fmla="val 2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6.3</a:t>
            </a:r>
            <a:endParaRPr lang="en-US" sz="1600" dirty="0"/>
          </a:p>
        </p:txBody>
      </p:sp>
      <p:sp>
        <p:nvSpPr>
          <p:cNvPr id="12" name="Etiqueta 6.6"/>
          <p:cNvSpPr txBox="1"/>
          <p:nvPr/>
        </p:nvSpPr>
        <p:spPr>
          <a:xfrm>
            <a:off x="2962656" y="4297680"/>
            <a:ext cx="621792" cy="457200"/>
          </a:xfrm>
          <a:prstGeom prst="roundRect">
            <a:avLst>
              <a:gd name="adj" fmla="val 2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6.6</a:t>
            </a:r>
            <a:endParaRPr lang="en-US" sz="1600" dirty="0"/>
          </a:p>
        </p:txBody>
      </p:sp>
      <p:sp>
        <p:nvSpPr>
          <p:cNvPr id="13" name="Tarjeta qué establece"/>
          <p:cNvSpPr/>
          <p:nvPr/>
        </p:nvSpPr>
        <p:spPr>
          <a:xfrm>
            <a:off x="4480560" y="1828800"/>
            <a:ext cx="7159752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Etiqueta qué establece"/>
          <p:cNvSpPr txBox="1"/>
          <p:nvPr/>
        </p:nvSpPr>
        <p:spPr>
          <a:xfrm>
            <a:off x="4754880" y="1938528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Qué establece</a:t>
            </a:r>
            <a:endParaRPr lang="en-US" sz="1800" dirty="0"/>
          </a:p>
        </p:txBody>
      </p:sp>
      <p:sp>
        <p:nvSpPr>
          <p:cNvPr id="15" name="Texto qué establece"/>
          <p:cNvSpPr txBox="1"/>
          <p:nvPr/>
        </p:nvSpPr>
        <p:spPr>
          <a:xfrm>
            <a:off x="4754880" y="2304288"/>
            <a:ext cx="6583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Regula y supervisa la actividad aseguradora. Sus requisitos de ciberseguridad abarcan gobierno de la información, gestión de accesos y control sobre empleados e intermediarios.</a:t>
            </a:r>
            <a:endParaRPr lang="en-US" sz="1600" dirty="0"/>
          </a:p>
        </p:txBody>
      </p:sp>
      <p:sp>
        <p:nvSpPr>
          <p:cNvPr id="16" name="Tarjeta relación"/>
          <p:cNvSpPr/>
          <p:nvPr/>
        </p:nvSpPr>
        <p:spPr>
          <a:xfrm>
            <a:off x="4480560" y="3840480"/>
            <a:ext cx="7159752" cy="246888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Etiqueta relación"/>
          <p:cNvSpPr txBox="1"/>
          <p:nvPr/>
        </p:nvSpPr>
        <p:spPr>
          <a:xfrm>
            <a:off x="4754880" y="3950208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Relación con ISO/IEC 27002</a:t>
            </a:r>
            <a:endParaRPr lang="en-US" sz="1800" dirty="0"/>
          </a:p>
        </p:txBody>
      </p:sp>
      <p:sp>
        <p:nvSpPr>
          <p:cNvPr id="18" name="Texto relación"/>
          <p:cNvSpPr txBox="1"/>
          <p:nvPr/>
        </p:nvSpPr>
        <p:spPr>
          <a:xfrm>
            <a:off x="4754880" y="4343400"/>
            <a:ext cx="65836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6.1: 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comprobaciones proporcionales al puesto, riesgo e información.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6.2: 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responsabilidades y perfiles de acceso.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6.3: 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programas continuos de concientización.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6.6: 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acuerdos de confidencialidad en el sector asegurador.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AAIP · Ley 25.326</a:t>
            </a:r>
            <a:endParaRPr lang="en-US" sz="3600" dirty="0"/>
          </a:p>
        </p:txBody>
      </p:sp>
      <p:sp>
        <p:nvSpPr>
          <p:cNvPr id="3" name="Subtítulo"/>
          <p:cNvSpPr txBox="1"/>
          <p:nvPr/>
        </p:nvSpPr>
        <p:spPr>
          <a:xfrm>
            <a:off x="548640" y="118872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Protección de Datos Personales</a:t>
            </a:r>
            <a:endParaRPr lang="en-US" sz="1800" dirty="0"/>
          </a:p>
        </p:txBody>
      </p:sp>
      <p:sp>
        <p:nvSpPr>
          <p:cNvPr id="4" name="Panel tipo"/>
          <p:cNvSpPr/>
          <p:nvPr/>
        </p:nvSpPr>
        <p:spPr>
          <a:xfrm>
            <a:off x="548640" y="1828800"/>
            <a:ext cx="3566160" cy="4480560"/>
          </a:xfrm>
          <a:prstGeom prst="roundRect">
            <a:avLst>
              <a:gd name="adj" fmla="val 307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AAIP · Ley 25.326 círculo"/>
          <p:cNvSpPr/>
          <p:nvPr/>
        </p:nvSpPr>
        <p:spPr>
          <a:xfrm>
            <a:off x="822960" y="2103120"/>
            <a:ext cx="1005840" cy="10058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AAIP · Ley 25.326 icono" descr="AAIP · Ley 25.326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4537" y="2374697"/>
            <a:ext cx="462686" cy="462686"/>
          </a:xfrm>
          <a:prstGeom prst="rect">
            <a:avLst/>
          </a:prstGeom>
        </p:spPr>
      </p:pic>
      <p:sp>
        <p:nvSpPr>
          <p:cNvPr id="7" name="Tipo de norma"/>
          <p:cNvSpPr txBox="1"/>
          <p:nvPr/>
        </p:nvSpPr>
        <p:spPr>
          <a:xfrm>
            <a:off x="822960" y="32918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Ley nacional</a:t>
            </a:r>
            <a:endParaRPr lang="en-US" sz="2000" dirty="0"/>
          </a:p>
        </p:txBody>
      </p:sp>
      <p:sp>
        <p:nvSpPr>
          <p:cNvPr id="8" name="Etiqueta controles"/>
          <p:cNvSpPr txBox="1"/>
          <p:nvPr/>
        </p:nvSpPr>
        <p:spPr>
          <a:xfrm>
            <a:off x="822960" y="38862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Controles relacionados</a:t>
            </a:r>
            <a:endParaRPr lang="en-US" sz="1400" dirty="0"/>
          </a:p>
        </p:txBody>
      </p:sp>
      <p:sp>
        <p:nvSpPr>
          <p:cNvPr id="9" name="Etiqueta 6.5"/>
          <p:cNvSpPr txBox="1"/>
          <p:nvPr/>
        </p:nvSpPr>
        <p:spPr>
          <a:xfrm>
            <a:off x="822960" y="4297680"/>
            <a:ext cx="621792" cy="457200"/>
          </a:xfrm>
          <a:prstGeom prst="roundRect">
            <a:avLst>
              <a:gd name="adj" fmla="val 2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6.5</a:t>
            </a:r>
            <a:endParaRPr lang="en-US" sz="1600" dirty="0"/>
          </a:p>
        </p:txBody>
      </p:sp>
      <p:sp>
        <p:nvSpPr>
          <p:cNvPr id="10" name="Etiqueta 6.6"/>
          <p:cNvSpPr txBox="1"/>
          <p:nvPr/>
        </p:nvSpPr>
        <p:spPr>
          <a:xfrm>
            <a:off x="1536192" y="4297680"/>
            <a:ext cx="621792" cy="457200"/>
          </a:xfrm>
          <a:prstGeom prst="roundRect">
            <a:avLst>
              <a:gd name="adj" fmla="val 2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6.6</a:t>
            </a:r>
            <a:endParaRPr lang="en-US" sz="1600" dirty="0"/>
          </a:p>
        </p:txBody>
      </p:sp>
      <p:sp>
        <p:nvSpPr>
          <p:cNvPr id="11" name="Nota"/>
          <p:cNvSpPr txBox="1"/>
          <p:nvPr/>
        </p:nvSpPr>
        <p:spPr>
          <a:xfrm>
            <a:off x="822960" y="493776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El Art. 9 se relaciona con varios controles del capítulo 6.</a:t>
            </a:r>
            <a:endParaRPr lang="en-US" sz="1600" dirty="0"/>
          </a:p>
        </p:txBody>
      </p:sp>
      <p:sp>
        <p:nvSpPr>
          <p:cNvPr id="12" name="Tarjeta qué establece"/>
          <p:cNvSpPr/>
          <p:nvPr/>
        </p:nvSpPr>
        <p:spPr>
          <a:xfrm>
            <a:off x="4480560" y="1828800"/>
            <a:ext cx="7159752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Etiqueta qué establece"/>
          <p:cNvSpPr txBox="1"/>
          <p:nvPr/>
        </p:nvSpPr>
        <p:spPr>
          <a:xfrm>
            <a:off x="4754880" y="1938528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Qué establece</a:t>
            </a:r>
            <a:endParaRPr lang="en-US" sz="1800" dirty="0"/>
          </a:p>
        </p:txBody>
      </p:sp>
      <p:sp>
        <p:nvSpPr>
          <p:cNvPr id="14" name="Texto qué establece"/>
          <p:cNvSpPr txBox="1"/>
          <p:nvPr/>
        </p:nvSpPr>
        <p:spPr>
          <a:xfrm>
            <a:off x="4754880" y="2304288"/>
            <a:ext cx="6583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Régimen de protección de datos personales. Art. 9: medidas de seguridad contra accesos, alteraciones o usos no autorizados. Art. 10: deber de secreto profesional del personal, que subsiste tras el fin de la relación laboral.</a:t>
            </a:r>
            <a:endParaRPr lang="en-US" sz="1600" dirty="0"/>
          </a:p>
        </p:txBody>
      </p:sp>
      <p:sp>
        <p:nvSpPr>
          <p:cNvPr id="15" name="Tarjeta relación"/>
          <p:cNvSpPr/>
          <p:nvPr/>
        </p:nvSpPr>
        <p:spPr>
          <a:xfrm>
            <a:off x="4480560" y="3840480"/>
            <a:ext cx="7159752" cy="246888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Etiqueta relación"/>
          <p:cNvSpPr txBox="1"/>
          <p:nvPr/>
        </p:nvSpPr>
        <p:spPr>
          <a:xfrm>
            <a:off x="4754880" y="3950208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Relación con ISO/IEC 27002</a:t>
            </a:r>
            <a:endParaRPr lang="en-US" sz="1800" dirty="0"/>
          </a:p>
        </p:txBody>
      </p:sp>
      <p:sp>
        <p:nvSpPr>
          <p:cNvPr id="17" name="Texto relación"/>
          <p:cNvSpPr txBox="1"/>
          <p:nvPr/>
        </p:nvSpPr>
        <p:spPr>
          <a:xfrm>
            <a:off x="4754880" y="4343400"/>
            <a:ext cx="65836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ISO 27002 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plantea controles organizativos sobre las personas; la ley agrega una obligación legal cuando hay datos personales.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6.5 y 6.6: 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el Art. 10 es el respaldo jurídico de la confidencialidad posterior al cese y de los NDA.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Ley 27.555</a:t>
            </a:r>
            <a:endParaRPr lang="en-US" sz="3600" dirty="0"/>
          </a:p>
        </p:txBody>
      </p:sp>
      <p:sp>
        <p:nvSpPr>
          <p:cNvPr id="3" name="Subtítulo"/>
          <p:cNvSpPr txBox="1"/>
          <p:nvPr/>
        </p:nvSpPr>
        <p:spPr>
          <a:xfrm>
            <a:off x="548640" y="118872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Régimen Legal del Teletrabajo</a:t>
            </a:r>
            <a:endParaRPr lang="en-US" sz="1800" dirty="0"/>
          </a:p>
        </p:txBody>
      </p:sp>
      <p:sp>
        <p:nvSpPr>
          <p:cNvPr id="4" name="Panel tipo"/>
          <p:cNvSpPr/>
          <p:nvPr/>
        </p:nvSpPr>
        <p:spPr>
          <a:xfrm>
            <a:off x="548640" y="1828800"/>
            <a:ext cx="3566160" cy="4480560"/>
          </a:xfrm>
          <a:prstGeom prst="roundRect">
            <a:avLst>
              <a:gd name="adj" fmla="val 307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Ley 27.555 círculo"/>
          <p:cNvSpPr/>
          <p:nvPr/>
        </p:nvSpPr>
        <p:spPr>
          <a:xfrm>
            <a:off x="822960" y="2103120"/>
            <a:ext cx="1005840" cy="10058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Ley 27.555 icono" descr="Ley 27.555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4537" y="2374697"/>
            <a:ext cx="462686" cy="462686"/>
          </a:xfrm>
          <a:prstGeom prst="rect">
            <a:avLst/>
          </a:prstGeom>
        </p:spPr>
      </p:pic>
      <p:sp>
        <p:nvSpPr>
          <p:cNvPr id="7" name="Tipo de norma"/>
          <p:cNvSpPr txBox="1"/>
          <p:nvPr/>
        </p:nvSpPr>
        <p:spPr>
          <a:xfrm>
            <a:off x="822960" y="32918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Ley nacional</a:t>
            </a:r>
            <a:endParaRPr lang="en-US" sz="2000" dirty="0"/>
          </a:p>
        </p:txBody>
      </p:sp>
      <p:sp>
        <p:nvSpPr>
          <p:cNvPr id="8" name="Etiqueta controles"/>
          <p:cNvSpPr txBox="1"/>
          <p:nvPr/>
        </p:nvSpPr>
        <p:spPr>
          <a:xfrm>
            <a:off x="822960" y="38862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Controles relacionados</a:t>
            </a:r>
            <a:endParaRPr lang="en-US" sz="1400" dirty="0"/>
          </a:p>
        </p:txBody>
      </p:sp>
      <p:sp>
        <p:nvSpPr>
          <p:cNvPr id="9" name="Etiqueta 6.7"/>
          <p:cNvSpPr txBox="1"/>
          <p:nvPr/>
        </p:nvSpPr>
        <p:spPr>
          <a:xfrm>
            <a:off x="822960" y="4297680"/>
            <a:ext cx="621792" cy="457200"/>
          </a:xfrm>
          <a:prstGeom prst="roundRect">
            <a:avLst>
              <a:gd name="adj" fmla="val 2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6.7</a:t>
            </a:r>
            <a:endParaRPr lang="en-US" sz="1600" dirty="0"/>
          </a:p>
        </p:txBody>
      </p:sp>
      <p:sp>
        <p:nvSpPr>
          <p:cNvPr id="10" name="Tarjeta qué establece"/>
          <p:cNvSpPr/>
          <p:nvPr/>
        </p:nvSpPr>
        <p:spPr>
          <a:xfrm>
            <a:off x="4480560" y="1828800"/>
            <a:ext cx="7159752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Etiqueta qué establece"/>
          <p:cNvSpPr txBox="1"/>
          <p:nvPr/>
        </p:nvSpPr>
        <p:spPr>
          <a:xfrm>
            <a:off x="4754880" y="1938528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Qué establece</a:t>
            </a:r>
            <a:endParaRPr lang="en-US" sz="1800" dirty="0"/>
          </a:p>
        </p:txBody>
      </p:sp>
      <p:sp>
        <p:nvSpPr>
          <p:cNvPr id="12" name="Texto qué establece"/>
          <p:cNvSpPr txBox="1"/>
          <p:nvPr/>
        </p:nvSpPr>
        <p:spPr>
          <a:xfrm>
            <a:off x="4754880" y="2304288"/>
            <a:ext cx="6583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Marco legal del teletrabajo: provisión y mantenimiento del equipamiento, protección de la información, derecho a la desconexión digital y límites al control y monitoreo del empleador.</a:t>
            </a:r>
            <a:endParaRPr lang="en-US" sz="1600" dirty="0"/>
          </a:p>
        </p:txBody>
      </p:sp>
      <p:sp>
        <p:nvSpPr>
          <p:cNvPr id="13" name="Tarjeta relación"/>
          <p:cNvSpPr/>
          <p:nvPr/>
        </p:nvSpPr>
        <p:spPr>
          <a:xfrm>
            <a:off x="4480560" y="3840480"/>
            <a:ext cx="7159752" cy="246888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Etiqueta relación"/>
          <p:cNvSpPr txBox="1"/>
          <p:nvPr/>
        </p:nvSpPr>
        <p:spPr>
          <a:xfrm>
            <a:off x="4754880" y="3950208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Relación con ISO/IEC 27002</a:t>
            </a:r>
            <a:endParaRPr lang="en-US" sz="1800" dirty="0"/>
          </a:p>
        </p:txBody>
      </p:sp>
      <p:sp>
        <p:nvSpPr>
          <p:cNvPr id="15" name="Texto relación"/>
          <p:cNvSpPr txBox="1"/>
          <p:nvPr/>
        </p:nvSpPr>
        <p:spPr>
          <a:xfrm>
            <a:off x="4754880" y="4343400"/>
            <a:ext cx="65836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ISO 27002: 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cómo proteger técnicamente los activos en entornos remotos (cifrado, accesos seguros, borrado a distancia).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Ley 27.555: 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qué derechos laborales respetar. El monitoreo se limita a software de protección exclusivo para el trabajo, sin invadir la vida privada.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Ley 20.744 · LCT</a:t>
            </a:r>
            <a:endParaRPr lang="en-US" sz="3600" dirty="0"/>
          </a:p>
        </p:txBody>
      </p:sp>
      <p:sp>
        <p:nvSpPr>
          <p:cNvPr id="3" name="Subtítulo"/>
          <p:cNvSpPr txBox="1"/>
          <p:nvPr/>
        </p:nvSpPr>
        <p:spPr>
          <a:xfrm>
            <a:off x="548640" y="118872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Ley de Contrato de Trabajo</a:t>
            </a:r>
            <a:endParaRPr lang="en-US" sz="1800" dirty="0"/>
          </a:p>
        </p:txBody>
      </p:sp>
      <p:sp>
        <p:nvSpPr>
          <p:cNvPr id="4" name="Panel tipo"/>
          <p:cNvSpPr/>
          <p:nvPr/>
        </p:nvSpPr>
        <p:spPr>
          <a:xfrm>
            <a:off x="548640" y="1828800"/>
            <a:ext cx="3566160" cy="4480560"/>
          </a:xfrm>
          <a:prstGeom prst="roundRect">
            <a:avLst>
              <a:gd name="adj" fmla="val 307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Ley 20.744 · LCT círculo"/>
          <p:cNvSpPr/>
          <p:nvPr/>
        </p:nvSpPr>
        <p:spPr>
          <a:xfrm>
            <a:off x="822960" y="2103120"/>
            <a:ext cx="1005840" cy="10058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Ley 20.744 · LCT icono" descr="Ley 20.744 · LC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4537" y="2374697"/>
            <a:ext cx="462686" cy="462686"/>
          </a:xfrm>
          <a:prstGeom prst="rect">
            <a:avLst/>
          </a:prstGeom>
        </p:spPr>
      </p:pic>
      <p:sp>
        <p:nvSpPr>
          <p:cNvPr id="7" name="Tipo de norma"/>
          <p:cNvSpPr txBox="1"/>
          <p:nvPr/>
        </p:nvSpPr>
        <p:spPr>
          <a:xfrm>
            <a:off x="822960" y="32918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Ley nacional</a:t>
            </a:r>
            <a:endParaRPr lang="en-US" sz="2000" dirty="0"/>
          </a:p>
        </p:txBody>
      </p:sp>
      <p:sp>
        <p:nvSpPr>
          <p:cNvPr id="8" name="Etiqueta controles"/>
          <p:cNvSpPr txBox="1"/>
          <p:nvPr/>
        </p:nvSpPr>
        <p:spPr>
          <a:xfrm>
            <a:off x="822960" y="38862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Controles relacionados</a:t>
            </a:r>
            <a:endParaRPr lang="en-US" sz="1400" dirty="0"/>
          </a:p>
        </p:txBody>
      </p:sp>
      <p:sp>
        <p:nvSpPr>
          <p:cNvPr id="9" name="Etiqueta 6.2"/>
          <p:cNvSpPr txBox="1"/>
          <p:nvPr/>
        </p:nvSpPr>
        <p:spPr>
          <a:xfrm>
            <a:off x="822960" y="4297680"/>
            <a:ext cx="621792" cy="457200"/>
          </a:xfrm>
          <a:prstGeom prst="roundRect">
            <a:avLst>
              <a:gd name="adj" fmla="val 2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6.2</a:t>
            </a:r>
            <a:endParaRPr lang="en-US" sz="1600" dirty="0"/>
          </a:p>
        </p:txBody>
      </p:sp>
      <p:sp>
        <p:nvSpPr>
          <p:cNvPr id="10" name="Etiqueta 6.4"/>
          <p:cNvSpPr txBox="1"/>
          <p:nvPr/>
        </p:nvSpPr>
        <p:spPr>
          <a:xfrm>
            <a:off x="1536192" y="4297680"/>
            <a:ext cx="621792" cy="457200"/>
          </a:xfrm>
          <a:prstGeom prst="roundRect">
            <a:avLst>
              <a:gd name="adj" fmla="val 2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6.4</a:t>
            </a:r>
            <a:endParaRPr lang="en-US" sz="1600" dirty="0"/>
          </a:p>
        </p:txBody>
      </p:sp>
      <p:sp>
        <p:nvSpPr>
          <p:cNvPr id="11" name="Tarjeta qué establece"/>
          <p:cNvSpPr/>
          <p:nvPr/>
        </p:nvSpPr>
        <p:spPr>
          <a:xfrm>
            <a:off x="4480560" y="1828800"/>
            <a:ext cx="7159752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Etiqueta qué establece"/>
          <p:cNvSpPr txBox="1"/>
          <p:nvPr/>
        </p:nvSpPr>
        <p:spPr>
          <a:xfrm>
            <a:off x="4754880" y="1938528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Qué establece</a:t>
            </a:r>
            <a:endParaRPr lang="en-US" sz="1800" dirty="0"/>
          </a:p>
        </p:txBody>
      </p:sp>
      <p:sp>
        <p:nvSpPr>
          <p:cNvPr id="13" name="Texto qué establece"/>
          <p:cNvSpPr txBox="1"/>
          <p:nvPr/>
        </p:nvSpPr>
        <p:spPr>
          <a:xfrm>
            <a:off x="4754880" y="2304288"/>
            <a:ext cx="6583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Marco general de las relaciones laborales en Argentina. Permite vincular las obligaciones laborales generales del trabajador con las responsabilidades específicas de seguridad de la información.</a:t>
            </a:r>
            <a:endParaRPr lang="en-US" sz="1600" dirty="0"/>
          </a:p>
        </p:txBody>
      </p:sp>
      <p:sp>
        <p:nvSpPr>
          <p:cNvPr id="14" name="Tarjeta relación"/>
          <p:cNvSpPr/>
          <p:nvPr/>
        </p:nvSpPr>
        <p:spPr>
          <a:xfrm>
            <a:off x="4480560" y="3840480"/>
            <a:ext cx="7159752" cy="246888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Etiqueta relación"/>
          <p:cNvSpPr txBox="1"/>
          <p:nvPr/>
        </p:nvSpPr>
        <p:spPr>
          <a:xfrm>
            <a:off x="4754880" y="3950208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Relación con ISO/IEC 27002</a:t>
            </a:r>
            <a:endParaRPr lang="en-US" sz="1800" dirty="0"/>
          </a:p>
        </p:txBody>
      </p:sp>
      <p:sp>
        <p:nvSpPr>
          <p:cNvPr id="16" name="Texto relación"/>
          <p:cNvSpPr txBox="1"/>
          <p:nvPr/>
        </p:nvSpPr>
        <p:spPr>
          <a:xfrm>
            <a:off x="4754880" y="4343400"/>
            <a:ext cx="65836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6.2: 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la LCT es el marco jurídico laboral dentro del cual se establecen las responsabilidades de seguridad en los términos de empleo.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6.4: 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las medidas frente a incumplimientos deben respetar el marco laboral y los requisitos legales y contractuales.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Ley 26.388</a:t>
            </a:r>
            <a:endParaRPr lang="en-US" sz="3600" dirty="0"/>
          </a:p>
        </p:txBody>
      </p:sp>
      <p:sp>
        <p:nvSpPr>
          <p:cNvPr id="3" name="Subtítulo"/>
          <p:cNvSpPr txBox="1"/>
          <p:nvPr/>
        </p:nvSpPr>
        <p:spPr>
          <a:xfrm>
            <a:off x="548640" y="118872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Delitos Informáticos</a:t>
            </a:r>
            <a:endParaRPr lang="en-US" sz="1800" dirty="0"/>
          </a:p>
        </p:txBody>
      </p:sp>
      <p:sp>
        <p:nvSpPr>
          <p:cNvPr id="4" name="Panel tipo"/>
          <p:cNvSpPr/>
          <p:nvPr/>
        </p:nvSpPr>
        <p:spPr>
          <a:xfrm>
            <a:off x="548640" y="1828800"/>
            <a:ext cx="3566160" cy="4480560"/>
          </a:xfrm>
          <a:prstGeom prst="roundRect">
            <a:avLst>
              <a:gd name="adj" fmla="val 307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Ley 26.388 círculo"/>
          <p:cNvSpPr/>
          <p:nvPr/>
        </p:nvSpPr>
        <p:spPr>
          <a:xfrm>
            <a:off x="822960" y="2103120"/>
            <a:ext cx="1005840" cy="10058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Ley 26.388 icono" descr="Ley 26.38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4537" y="2374697"/>
            <a:ext cx="462686" cy="462686"/>
          </a:xfrm>
          <a:prstGeom prst="rect">
            <a:avLst/>
          </a:prstGeom>
        </p:spPr>
      </p:pic>
      <p:sp>
        <p:nvSpPr>
          <p:cNvPr id="7" name="Tipo de norma"/>
          <p:cNvSpPr txBox="1"/>
          <p:nvPr/>
        </p:nvSpPr>
        <p:spPr>
          <a:xfrm>
            <a:off x="822960" y="32918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Ley nacional</a:t>
            </a:r>
            <a:endParaRPr lang="en-US" sz="2000" dirty="0"/>
          </a:p>
        </p:txBody>
      </p:sp>
      <p:sp>
        <p:nvSpPr>
          <p:cNvPr id="8" name="Etiqueta controles"/>
          <p:cNvSpPr txBox="1"/>
          <p:nvPr/>
        </p:nvSpPr>
        <p:spPr>
          <a:xfrm>
            <a:off x="822960" y="38862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Controles relacionados</a:t>
            </a:r>
            <a:endParaRPr lang="en-US" sz="1400" dirty="0"/>
          </a:p>
        </p:txBody>
      </p:sp>
      <p:sp>
        <p:nvSpPr>
          <p:cNvPr id="9" name="Etiqueta 6.2"/>
          <p:cNvSpPr txBox="1"/>
          <p:nvPr/>
        </p:nvSpPr>
        <p:spPr>
          <a:xfrm>
            <a:off x="822960" y="4297680"/>
            <a:ext cx="621792" cy="457200"/>
          </a:xfrm>
          <a:prstGeom prst="roundRect">
            <a:avLst>
              <a:gd name="adj" fmla="val 2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6.2</a:t>
            </a:r>
            <a:endParaRPr lang="en-US" sz="1600" dirty="0"/>
          </a:p>
        </p:txBody>
      </p:sp>
      <p:sp>
        <p:nvSpPr>
          <p:cNvPr id="10" name="Etiqueta 6.4"/>
          <p:cNvSpPr txBox="1"/>
          <p:nvPr/>
        </p:nvSpPr>
        <p:spPr>
          <a:xfrm>
            <a:off x="1536192" y="4297680"/>
            <a:ext cx="621792" cy="457200"/>
          </a:xfrm>
          <a:prstGeom prst="roundRect">
            <a:avLst>
              <a:gd name="adj" fmla="val 2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6.4</a:t>
            </a:r>
            <a:endParaRPr lang="en-US" sz="1600" dirty="0"/>
          </a:p>
        </p:txBody>
      </p:sp>
      <p:sp>
        <p:nvSpPr>
          <p:cNvPr id="11" name="Tarjeta qué establece"/>
          <p:cNvSpPr/>
          <p:nvPr/>
        </p:nvSpPr>
        <p:spPr>
          <a:xfrm>
            <a:off x="4480560" y="1828800"/>
            <a:ext cx="7159752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Etiqueta qué establece"/>
          <p:cNvSpPr txBox="1"/>
          <p:nvPr/>
        </p:nvSpPr>
        <p:spPr>
          <a:xfrm>
            <a:off x="4754880" y="1938528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Qué establece</a:t>
            </a:r>
            <a:endParaRPr lang="en-US" sz="1800" dirty="0"/>
          </a:p>
        </p:txBody>
      </p:sp>
      <p:sp>
        <p:nvSpPr>
          <p:cNvPr id="13" name="Texto qué establece"/>
          <p:cNvSpPr txBox="1"/>
          <p:nvPr/>
        </p:nvSpPr>
        <p:spPr>
          <a:xfrm>
            <a:off x="4754880" y="2304288"/>
            <a:ext cx="6583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Modificó el Código Penal para incorporar delitos informáticos: acceso ilegítimo a sistemas, violación de secretos y daños o alteraciones de información. No fija un control de RR. HH.: establece consecuencias jurídicas.</a:t>
            </a:r>
            <a:endParaRPr lang="en-US" sz="1600" dirty="0"/>
          </a:p>
        </p:txBody>
      </p:sp>
      <p:sp>
        <p:nvSpPr>
          <p:cNvPr id="14" name="Tarjeta relación"/>
          <p:cNvSpPr/>
          <p:nvPr/>
        </p:nvSpPr>
        <p:spPr>
          <a:xfrm>
            <a:off x="4480560" y="3840480"/>
            <a:ext cx="7159752" cy="246888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Etiqueta relación"/>
          <p:cNvSpPr txBox="1"/>
          <p:nvPr/>
        </p:nvSpPr>
        <p:spPr>
          <a:xfrm>
            <a:off x="4754880" y="3950208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Relación con ISO/IEC 27002</a:t>
            </a:r>
            <a:endParaRPr lang="en-US" sz="1800" dirty="0"/>
          </a:p>
        </p:txBody>
      </p:sp>
      <p:sp>
        <p:nvSpPr>
          <p:cNvPr id="16" name="Texto relación"/>
          <p:cNvSpPr txBox="1"/>
          <p:nvPr/>
        </p:nvSpPr>
        <p:spPr>
          <a:xfrm>
            <a:off x="4754880" y="4343400"/>
            <a:ext cx="65836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6.2: 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el personal debe conocer sus responsabilidades legales y las consecuencias de ciertas conductas.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6.4: 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una conducta puede ser a la vez incumplimiento interno, infracción laboral y delito. El proceso disciplinario interno no reemplaza las consecuencias legales externas.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Dir. Nac. de Ciberseguridad / ONTI</a:t>
            </a:r>
            <a:endParaRPr lang="en-US" sz="3600" dirty="0"/>
          </a:p>
        </p:txBody>
      </p:sp>
      <p:sp>
        <p:nvSpPr>
          <p:cNvPr id="3" name="Subtítulo"/>
          <p:cNvSpPr txBox="1"/>
          <p:nvPr/>
        </p:nvSpPr>
        <p:spPr>
          <a:xfrm>
            <a:off x="548640" y="118872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Directrices de ciberseguridad para la Administración Pública</a:t>
            </a:r>
            <a:endParaRPr lang="en-US" sz="1800" dirty="0"/>
          </a:p>
        </p:txBody>
      </p:sp>
      <p:sp>
        <p:nvSpPr>
          <p:cNvPr id="4" name="Panel tipo"/>
          <p:cNvSpPr/>
          <p:nvPr/>
        </p:nvSpPr>
        <p:spPr>
          <a:xfrm>
            <a:off x="548640" y="1828800"/>
            <a:ext cx="3566160" cy="4480560"/>
          </a:xfrm>
          <a:prstGeom prst="roundRect">
            <a:avLst>
              <a:gd name="adj" fmla="val 307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Dir. Nac. de Ciberseguridad / ONTI círculo"/>
          <p:cNvSpPr/>
          <p:nvPr/>
        </p:nvSpPr>
        <p:spPr>
          <a:xfrm>
            <a:off x="822960" y="2103120"/>
            <a:ext cx="1005840" cy="10058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Dir. Nac. de Ciberseguridad / ONTI icono" descr="Dir. Nac. de Ciberseguridad / ONT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4537" y="2374697"/>
            <a:ext cx="462686" cy="462686"/>
          </a:xfrm>
          <a:prstGeom prst="rect">
            <a:avLst/>
          </a:prstGeom>
        </p:spPr>
      </p:pic>
      <p:sp>
        <p:nvSpPr>
          <p:cNvPr id="7" name="Tipo de norma"/>
          <p:cNvSpPr txBox="1"/>
          <p:nvPr/>
        </p:nvSpPr>
        <p:spPr>
          <a:xfrm>
            <a:off x="822960" y="32918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Marco de referencia</a:t>
            </a:r>
            <a:endParaRPr lang="en-US" sz="2000" dirty="0"/>
          </a:p>
        </p:txBody>
      </p:sp>
      <p:sp>
        <p:nvSpPr>
          <p:cNvPr id="8" name="Etiqueta controles"/>
          <p:cNvSpPr txBox="1"/>
          <p:nvPr/>
        </p:nvSpPr>
        <p:spPr>
          <a:xfrm>
            <a:off x="822960" y="38862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Controles relacionados</a:t>
            </a:r>
            <a:endParaRPr lang="en-US" sz="1400" dirty="0"/>
          </a:p>
        </p:txBody>
      </p:sp>
      <p:sp>
        <p:nvSpPr>
          <p:cNvPr id="9" name="Etiqueta 6.3"/>
          <p:cNvSpPr txBox="1"/>
          <p:nvPr/>
        </p:nvSpPr>
        <p:spPr>
          <a:xfrm>
            <a:off x="822960" y="4297680"/>
            <a:ext cx="621792" cy="457200"/>
          </a:xfrm>
          <a:prstGeom prst="roundRect">
            <a:avLst>
              <a:gd name="adj" fmla="val 2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6.3</a:t>
            </a:r>
            <a:endParaRPr lang="en-US" sz="1600" dirty="0"/>
          </a:p>
        </p:txBody>
      </p:sp>
      <p:sp>
        <p:nvSpPr>
          <p:cNvPr id="10" name="Tarjeta qué establece"/>
          <p:cNvSpPr/>
          <p:nvPr/>
        </p:nvSpPr>
        <p:spPr>
          <a:xfrm>
            <a:off x="4480560" y="1828800"/>
            <a:ext cx="7159752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Etiqueta qué establece"/>
          <p:cNvSpPr txBox="1"/>
          <p:nvPr/>
        </p:nvSpPr>
        <p:spPr>
          <a:xfrm>
            <a:off x="4754880" y="1938528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Qué establece</a:t>
            </a:r>
            <a:endParaRPr lang="en-US" sz="1800" dirty="0"/>
          </a:p>
        </p:txBody>
      </p:sp>
      <p:sp>
        <p:nvSpPr>
          <p:cNvPr id="12" name="Texto qué establece"/>
          <p:cNvSpPr txBox="1"/>
          <p:nvPr/>
        </p:nvSpPr>
        <p:spPr>
          <a:xfrm>
            <a:off x="4754880" y="2304288"/>
            <a:ext cx="6583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Marco de referencia para establecer prácticas de seguridad dentro del ámbito estatal.</a:t>
            </a:r>
            <a:endParaRPr lang="en-US" sz="1600" dirty="0"/>
          </a:p>
        </p:txBody>
      </p:sp>
      <p:sp>
        <p:nvSpPr>
          <p:cNvPr id="13" name="Tarjeta relación"/>
          <p:cNvSpPr/>
          <p:nvPr/>
        </p:nvSpPr>
        <p:spPr>
          <a:xfrm>
            <a:off x="4480560" y="3840480"/>
            <a:ext cx="7159752" cy="246888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Etiqueta relación"/>
          <p:cNvSpPr txBox="1"/>
          <p:nvPr/>
        </p:nvSpPr>
        <p:spPr>
          <a:xfrm>
            <a:off x="4754880" y="3950208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Relación con ISO/IEC 27002</a:t>
            </a:r>
            <a:endParaRPr lang="en-US" sz="1800" dirty="0"/>
          </a:p>
        </p:txBody>
      </p:sp>
      <p:sp>
        <p:nvSpPr>
          <p:cNvPr id="15" name="Texto relación"/>
          <p:cNvSpPr txBox="1"/>
          <p:nvPr/>
        </p:nvSpPr>
        <p:spPr>
          <a:xfrm>
            <a:off x="4754880" y="4343400"/>
            <a:ext cx="65836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6.3: 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programa periódico de capacitación, formación inicial y actualización según las responsabilidades de cada persona.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Contenido: 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políticas, procedimientos, responsabilidades, notificación de eventos y riesgos como el phishing.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BCRA · Com. “A” 2659</a:t>
            </a:r>
            <a:endParaRPr lang="en-US" sz="3600" dirty="0"/>
          </a:p>
        </p:txBody>
      </p:sp>
      <p:sp>
        <p:nvSpPr>
          <p:cNvPr id="3" name="Subtítulo"/>
          <p:cNvSpPr txBox="1"/>
          <p:nvPr/>
        </p:nvSpPr>
        <p:spPr>
          <a:xfrm>
            <a:off x="548640" y="118872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Requisitos operativos mínimos del área de sistemas de información (1998)</a:t>
            </a:r>
            <a:endParaRPr lang="en-US" sz="1800" dirty="0"/>
          </a:p>
        </p:txBody>
      </p:sp>
      <p:sp>
        <p:nvSpPr>
          <p:cNvPr id="4" name="Panel tipo"/>
          <p:cNvSpPr/>
          <p:nvPr/>
        </p:nvSpPr>
        <p:spPr>
          <a:xfrm>
            <a:off x="548640" y="1828800"/>
            <a:ext cx="3566160" cy="4480560"/>
          </a:xfrm>
          <a:prstGeom prst="roundRect">
            <a:avLst>
              <a:gd name="adj" fmla="val 307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BCRA · Com. “A” 2659 círculo"/>
          <p:cNvSpPr/>
          <p:nvPr/>
        </p:nvSpPr>
        <p:spPr>
          <a:xfrm>
            <a:off x="822960" y="2103120"/>
            <a:ext cx="1005840" cy="10058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BCRA · Com. “A” 2659 icono" descr="BCRA · Com. “A” 2659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4537" y="2374697"/>
            <a:ext cx="462686" cy="462686"/>
          </a:xfrm>
          <a:prstGeom prst="rect">
            <a:avLst/>
          </a:prstGeom>
        </p:spPr>
      </p:pic>
      <p:sp>
        <p:nvSpPr>
          <p:cNvPr id="7" name="Tipo de norma"/>
          <p:cNvSpPr txBox="1"/>
          <p:nvPr/>
        </p:nvSpPr>
        <p:spPr>
          <a:xfrm>
            <a:off x="822960" y="32918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Comunicación BCRA</a:t>
            </a:r>
            <a:endParaRPr lang="en-US" sz="2000" dirty="0"/>
          </a:p>
        </p:txBody>
      </p:sp>
      <p:sp>
        <p:nvSpPr>
          <p:cNvPr id="8" name="Etiqueta controles"/>
          <p:cNvSpPr txBox="1"/>
          <p:nvPr/>
        </p:nvSpPr>
        <p:spPr>
          <a:xfrm>
            <a:off x="822960" y="38862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Controles relacionados</a:t>
            </a:r>
            <a:endParaRPr lang="en-US" sz="1400" dirty="0"/>
          </a:p>
        </p:txBody>
      </p:sp>
      <p:sp>
        <p:nvSpPr>
          <p:cNvPr id="9" name="Etiqueta 6.2"/>
          <p:cNvSpPr txBox="1"/>
          <p:nvPr/>
        </p:nvSpPr>
        <p:spPr>
          <a:xfrm>
            <a:off x="822960" y="4297680"/>
            <a:ext cx="621792" cy="457200"/>
          </a:xfrm>
          <a:prstGeom prst="roundRect">
            <a:avLst>
              <a:gd name="adj" fmla="val 2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6.2</a:t>
            </a:r>
            <a:endParaRPr lang="en-US" sz="1600" dirty="0"/>
          </a:p>
        </p:txBody>
      </p:sp>
      <p:sp>
        <p:nvSpPr>
          <p:cNvPr id="10" name="Etiqueta 6.4"/>
          <p:cNvSpPr txBox="1"/>
          <p:nvPr/>
        </p:nvSpPr>
        <p:spPr>
          <a:xfrm>
            <a:off x="1536192" y="4297680"/>
            <a:ext cx="621792" cy="457200"/>
          </a:xfrm>
          <a:prstGeom prst="roundRect">
            <a:avLst>
              <a:gd name="adj" fmla="val 2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6.4</a:t>
            </a:r>
            <a:endParaRPr lang="en-US" sz="1600" dirty="0"/>
          </a:p>
        </p:txBody>
      </p:sp>
      <p:sp>
        <p:nvSpPr>
          <p:cNvPr id="11" name="Etiqueta 6.5"/>
          <p:cNvSpPr txBox="1"/>
          <p:nvPr/>
        </p:nvSpPr>
        <p:spPr>
          <a:xfrm>
            <a:off x="2249424" y="4297680"/>
            <a:ext cx="621792" cy="457200"/>
          </a:xfrm>
          <a:prstGeom prst="roundRect">
            <a:avLst>
              <a:gd name="adj" fmla="val 2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6.5</a:t>
            </a:r>
            <a:endParaRPr lang="en-US" sz="1600" dirty="0"/>
          </a:p>
        </p:txBody>
      </p:sp>
      <p:sp>
        <p:nvSpPr>
          <p:cNvPr id="12" name="Etiqueta 6.6"/>
          <p:cNvSpPr txBox="1"/>
          <p:nvPr/>
        </p:nvSpPr>
        <p:spPr>
          <a:xfrm>
            <a:off x="2962656" y="4297680"/>
            <a:ext cx="621792" cy="457200"/>
          </a:xfrm>
          <a:prstGeom prst="roundRect">
            <a:avLst>
              <a:gd name="adj" fmla="val 2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6.6</a:t>
            </a:r>
            <a:endParaRPr lang="en-US" sz="1600" dirty="0"/>
          </a:p>
        </p:txBody>
      </p:sp>
      <p:sp>
        <p:nvSpPr>
          <p:cNvPr id="13" name="Tarjeta qué establece"/>
          <p:cNvSpPr/>
          <p:nvPr/>
        </p:nvSpPr>
        <p:spPr>
          <a:xfrm>
            <a:off x="4480560" y="1828800"/>
            <a:ext cx="7159752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Etiqueta qué establece"/>
          <p:cNvSpPr txBox="1"/>
          <p:nvPr/>
        </p:nvSpPr>
        <p:spPr>
          <a:xfrm>
            <a:off x="4754880" y="1938528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Qué establece</a:t>
            </a:r>
            <a:endParaRPr lang="en-US" sz="1800" dirty="0"/>
          </a:p>
        </p:txBody>
      </p:sp>
      <p:sp>
        <p:nvSpPr>
          <p:cNvPr id="15" name="Texto qué establece"/>
          <p:cNvSpPr txBox="1"/>
          <p:nvPr/>
        </p:nvSpPr>
        <p:spPr>
          <a:xfrm>
            <a:off x="4754880" y="2304288"/>
            <a:ext cx="6583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Fija requisitos mínimos para entidades financieras y cámaras de compensación, con un nivel razonable de seguridad y control sobre datos, sistemas, tecnología, instalaciones y personas (funciones, accesos, proveedores, desvinculación).</a:t>
            </a:r>
            <a:endParaRPr lang="en-US" sz="1600" dirty="0"/>
          </a:p>
        </p:txBody>
      </p:sp>
      <p:sp>
        <p:nvSpPr>
          <p:cNvPr id="16" name="Tarjeta relación"/>
          <p:cNvSpPr/>
          <p:nvPr/>
        </p:nvSpPr>
        <p:spPr>
          <a:xfrm>
            <a:off x="4480560" y="3840480"/>
            <a:ext cx="7159752" cy="246888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Etiqueta relación"/>
          <p:cNvSpPr txBox="1"/>
          <p:nvPr/>
        </p:nvSpPr>
        <p:spPr>
          <a:xfrm>
            <a:off x="4754880" y="3950208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Relación con ISO/IEC 27002</a:t>
            </a:r>
            <a:endParaRPr lang="en-US" sz="1800" dirty="0"/>
          </a:p>
        </p:txBody>
      </p:sp>
      <p:sp>
        <p:nvSpPr>
          <p:cNvPr id="18" name="Texto relación"/>
          <p:cNvSpPr txBox="1"/>
          <p:nvPr/>
        </p:nvSpPr>
        <p:spPr>
          <a:xfrm>
            <a:off x="4754880" y="4343400"/>
            <a:ext cx="65836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6.2: 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definición clara de misiones, funciones y dependencias de cada puesto.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6.4: 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la política debe prever cursos de acción ante sumarios a empleados.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6.5: 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acciones ante desvinculación de empleados o terceros, y gestión de accesos y claves.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6.6: 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antecedente de resguardo de la información, pero no exige NDA.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ntroles personas">
  <a:themeElements>
    <a:clrScheme name="Controles personas">
      <a:dk1>
        <a:srgbClr val="1B1F2A"/>
      </a:dk1>
      <a:lt1>
        <a:srgbClr val="FFFFFF"/>
      </a:lt1>
      <a:dk2>
        <a:srgbClr val="123A40"/>
      </a:dk2>
      <a:lt2>
        <a:srgbClr val="EAF2F1"/>
      </a:lt2>
      <a:accent1>
        <a:srgbClr val="0F766E"/>
      </a:accent1>
      <a:accent2>
        <a:srgbClr val="F59E0B"/>
      </a:accent2>
      <a:accent3>
        <a:srgbClr val="B45309"/>
      </a:accent3>
      <a:accent4>
        <a:srgbClr val="475569"/>
      </a:accent4>
      <a:accent5>
        <a:srgbClr val="0E7490"/>
      </a:accent5>
      <a:accent6>
        <a:srgbClr val="9F1239"/>
      </a:accent6>
      <a:hlink>
        <a:srgbClr val="0E7490"/>
      </a:hlink>
      <a:folHlink>
        <a:srgbClr val="475569"/>
      </a:folHlink>
    </a:clrScheme>
    <a:fontScheme name="Controles persona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Controles sobre las personas — ISO/IEC 27002</dc:title>
  <dc:subject>PptxGenJS Presentation</dc:subject>
  <dc:creator>PptxGenJS</dc:creator>
  <cp:lastModifiedBy>PptxGenJS</cp:lastModifiedBy>
  <cp:revision>1</cp:revision>
  <dcterms:created xsi:type="dcterms:W3CDTF">2026-10-09T23:24:23Z</dcterms:created>
  <dcterms:modified xsi:type="dcterms:W3CDTF">2026-10-09T23:24:23Z</dcterms:modified>
</cp:coreProperties>
</file>