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0fc03a12-fa91-7fd3-dfe5-28ddbf64b719}">
          <p14:sldIdLst>
            <p14:sldId id="256"/>
            <p14:sldId id="257"/>
            <p14:sldId id="258"/>
          </p14:sldIdLst>
        </p14:section>
        <p14:section name="Trabajo realizado" id="{c43e616c-09f1-6ba6-7e32-21ee5956a20c}">
          <p14:sldIdLst>
            <p14:sldId id="259"/>
            <p14:sldId id="260"/>
            <p14:sldId id="261"/>
            <p14:sldId id="262"/>
          </p14:sldIdLst>
        </p14:section>
        <p14:section name="Estado y futuro" id="{29ae2a43-42ba-58c5-cb63-cb8f035d4059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Severidad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IA inexacta</c:v>
                  </c:pt>
                  <c:pt idx="1">
                    <c:v>Costos de nube</c:v>
                  </c:pt>
                  <c:pt idx="2">
                    <c:v>Datos corruptos</c:v>
                  </c:pt>
                  <c:pt idx="3">
                    <c:v>Acceso no autorizado</c:v>
                  </c:pt>
                  <c:pt idx="4">
                    <c:v>Backup fallido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16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1182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188720"/>
            <a:ext cx="76809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251460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Sportwise · Proyecto Final · UTN FRRO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11887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Sportwise</a:t>
            </a:r>
            <a:endParaRPr lang="en-US" sz="6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2514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2"/>
                </a:solidFill>
              </a:rPr>
              <a:t>Plataforma de alto rendimiento: estrategia competitiva, nutrición inteligente y monitoreo del deportista</a:t>
            </a:r>
            <a:endParaRPr lang="en-US" sz="2200" dirty="0"/>
          </a:p>
        </p:txBody>
      </p:sp>
      <p:sp>
        <p:nvSpPr>
          <p:cNvPr id="4" name="Datos del grupo"/>
          <p:cNvSpPr txBox="1"/>
          <p:nvPr/>
        </p:nvSpPr>
        <p:spPr>
          <a:xfrm>
            <a:off x="822960" y="42062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Proyecto Final · UTN FRRO · Ingeniería en Sistemas de Información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Berli · Giampietro · Jaca · Mondino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Tutores: Roca, Marcelo · Stortoni, Silvia · 2026</a:t>
            </a:r>
            <a:endParaRPr lang="en-US" sz="1800" dirty="0"/>
          </a:p>
        </p:txBody>
      </p:sp>
      <p:sp>
        <p:nvSpPr>
          <p:cNvPr id="5" name="Círculo portada"/>
          <p:cNvSpPr/>
          <p:nvPr/>
        </p:nvSpPr>
        <p:spPr>
          <a:xfrm>
            <a:off x="8869680" y="1737360"/>
            <a:ext cx="2743200" cy="2743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o portada" descr="Pelota de fút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33172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Objetivo del proyecto</a:t>
            </a:r>
            <a:endParaRPr lang="en-US" sz="3800" dirty="0"/>
          </a:p>
        </p:txBody>
      </p:sp>
      <p:sp>
        <p:nvSpPr>
          <p:cNvPr id="3" name="Objetivo general"/>
          <p:cNvSpPr txBox="1"/>
          <p:nvPr/>
        </p:nvSpPr>
        <p:spPr>
          <a:xfrm>
            <a:off x="548640" y="12801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Un sistema multiplataforma (web y móvil) para la gestión integral, el seguimiento estadístico y el análisis de rendimiento deportivo.</a:t>
            </a:r>
            <a:endParaRPr lang="en-US" sz="2000" dirty="0"/>
          </a:p>
        </p:txBody>
      </p:sp>
      <p:sp>
        <p:nvSpPr>
          <p:cNvPr id="4" name="Tarjeta objetivo 1"/>
          <p:cNvSpPr/>
          <p:nvPr/>
        </p:nvSpPr>
        <p:spPr>
          <a:xfrm>
            <a:off x="548640" y="2194560"/>
            <a:ext cx="2057400" cy="26974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Objetivo 1 círculo"/>
          <p:cNvSpPr/>
          <p:nvPr/>
        </p:nvSpPr>
        <p:spPr>
          <a:xfrm>
            <a:off x="777240" y="24231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Objetivo 1 icono" descr="Objetiv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" y="2608326"/>
            <a:ext cx="315468" cy="315468"/>
          </a:xfrm>
          <a:prstGeom prst="rect">
            <a:avLst/>
          </a:prstGeom>
        </p:spPr>
      </p:pic>
      <p:sp>
        <p:nvSpPr>
          <p:cNvPr id="7" name="Objetivo 1 título"/>
          <p:cNvSpPr txBox="1"/>
          <p:nvPr/>
        </p:nvSpPr>
        <p:spPr>
          <a:xfrm>
            <a:off x="77724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Centralizar</a:t>
            </a:r>
            <a:endParaRPr lang="en-US" sz="1800" dirty="0"/>
          </a:p>
        </p:txBody>
      </p:sp>
      <p:sp>
        <p:nvSpPr>
          <p:cNvPr id="8" name="Objetivo 1 texto"/>
          <p:cNvSpPr txBox="1"/>
          <p:nvPr/>
        </p:nvSpPr>
        <p:spPr>
          <a:xfrm>
            <a:off x="777240" y="365760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Información técnica y médica en una sola arquitectura de datos</a:t>
            </a:r>
            <a:endParaRPr lang="en-US" sz="1400" dirty="0"/>
          </a:p>
        </p:txBody>
      </p:sp>
      <p:sp>
        <p:nvSpPr>
          <p:cNvPr id="9" name="Tarjeta objetivo 2"/>
          <p:cNvSpPr/>
          <p:nvPr/>
        </p:nvSpPr>
        <p:spPr>
          <a:xfrm>
            <a:off x="2807208" y="2194560"/>
            <a:ext cx="2057400" cy="26974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Objetivo 2 círculo"/>
          <p:cNvSpPr/>
          <p:nvPr/>
        </p:nvSpPr>
        <p:spPr>
          <a:xfrm>
            <a:off x="3035808" y="24231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Objetivo 2 icono" descr="Objetiv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974" y="2608326"/>
            <a:ext cx="315468" cy="315468"/>
          </a:xfrm>
          <a:prstGeom prst="rect">
            <a:avLst/>
          </a:prstGeom>
        </p:spPr>
      </p:pic>
      <p:sp>
        <p:nvSpPr>
          <p:cNvPr id="12" name="Objetivo 2 título"/>
          <p:cNvSpPr txBox="1"/>
          <p:nvPr/>
        </p:nvSpPr>
        <p:spPr>
          <a:xfrm>
            <a:off x="3035808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Automatizar</a:t>
            </a:r>
            <a:endParaRPr lang="en-US" sz="1800" dirty="0"/>
          </a:p>
        </p:txBody>
      </p:sp>
      <p:sp>
        <p:nvSpPr>
          <p:cNvPr id="13" name="Objetivo 2 texto"/>
          <p:cNvSpPr txBox="1"/>
          <p:nvPr/>
        </p:nvSpPr>
        <p:spPr>
          <a:xfrm>
            <a:off x="3035808" y="365760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Seguimiento nutricional con visión artificial desde una foto</a:t>
            </a:r>
            <a:endParaRPr lang="en-US" sz="1400" dirty="0"/>
          </a:p>
        </p:txBody>
      </p:sp>
      <p:sp>
        <p:nvSpPr>
          <p:cNvPr id="14" name="Tarjeta objetivo 3"/>
          <p:cNvSpPr/>
          <p:nvPr/>
        </p:nvSpPr>
        <p:spPr>
          <a:xfrm>
            <a:off x="5065776" y="2194560"/>
            <a:ext cx="2057400" cy="26974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bjetivo 3 círculo"/>
          <p:cNvSpPr/>
          <p:nvPr/>
        </p:nvSpPr>
        <p:spPr>
          <a:xfrm>
            <a:off x="5294376" y="24231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Objetivo 3 icono" descr="Objetiv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542" y="2608326"/>
            <a:ext cx="315468" cy="315468"/>
          </a:xfrm>
          <a:prstGeom prst="rect">
            <a:avLst/>
          </a:prstGeom>
        </p:spPr>
      </p:pic>
      <p:sp>
        <p:nvSpPr>
          <p:cNvPr id="17" name="Objetivo 3 título"/>
          <p:cNvSpPr txBox="1"/>
          <p:nvPr/>
        </p:nvSpPr>
        <p:spPr>
          <a:xfrm>
            <a:off x="5294376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Optimizar</a:t>
            </a:r>
            <a:endParaRPr lang="en-US" sz="1800" dirty="0"/>
          </a:p>
        </p:txBody>
      </p:sp>
      <p:sp>
        <p:nvSpPr>
          <p:cNvPr id="18" name="Objetivo 3 texto"/>
          <p:cNvSpPr txBox="1"/>
          <p:nvPr/>
        </p:nvSpPr>
        <p:spPr>
          <a:xfrm>
            <a:off x="5294376" y="365760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Táctica y alineaciones con inteligencia artificial</a:t>
            </a:r>
            <a:endParaRPr lang="en-US" sz="1400" dirty="0"/>
          </a:p>
        </p:txBody>
      </p:sp>
      <p:sp>
        <p:nvSpPr>
          <p:cNvPr id="19" name="Tarjeta objetivo 4"/>
          <p:cNvSpPr/>
          <p:nvPr/>
        </p:nvSpPr>
        <p:spPr>
          <a:xfrm>
            <a:off x="7324344" y="2194560"/>
            <a:ext cx="2057400" cy="26974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Objetivo 4 círculo"/>
          <p:cNvSpPr/>
          <p:nvPr/>
        </p:nvSpPr>
        <p:spPr>
          <a:xfrm>
            <a:off x="7552944" y="24231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Objetivo 4 icono" descr="Objetivo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8110" y="2608326"/>
            <a:ext cx="315468" cy="315468"/>
          </a:xfrm>
          <a:prstGeom prst="rect">
            <a:avLst/>
          </a:prstGeom>
        </p:spPr>
      </p:pic>
      <p:sp>
        <p:nvSpPr>
          <p:cNvPr id="22" name="Objetivo 4 título"/>
          <p:cNvSpPr txBox="1"/>
          <p:nvPr/>
        </p:nvSpPr>
        <p:spPr>
          <a:xfrm>
            <a:off x="7552944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Registrar</a:t>
            </a:r>
            <a:endParaRPr lang="en-US" sz="1800" dirty="0"/>
          </a:p>
        </p:txBody>
      </p:sp>
      <p:sp>
        <p:nvSpPr>
          <p:cNvPr id="23" name="Objetivo 4 texto"/>
          <p:cNvSpPr txBox="1"/>
          <p:nvPr/>
        </p:nvSpPr>
        <p:spPr>
          <a:xfrm>
            <a:off x="7552944" y="365760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 móvil offline con sincronización diferida</a:t>
            </a:r>
            <a:endParaRPr lang="en-US" sz="1400" dirty="0"/>
          </a:p>
        </p:txBody>
      </p:sp>
      <p:sp>
        <p:nvSpPr>
          <p:cNvPr id="24" name="Tarjeta objetivo 5"/>
          <p:cNvSpPr/>
          <p:nvPr/>
        </p:nvSpPr>
        <p:spPr>
          <a:xfrm>
            <a:off x="9582912" y="2194560"/>
            <a:ext cx="2057400" cy="269748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Objetivo 5 círculo"/>
          <p:cNvSpPr/>
          <p:nvPr/>
        </p:nvSpPr>
        <p:spPr>
          <a:xfrm>
            <a:off x="9811512" y="24231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Objetivo 5 icono" descr="Objetivo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6678" y="2608326"/>
            <a:ext cx="315468" cy="315468"/>
          </a:xfrm>
          <a:prstGeom prst="rect">
            <a:avLst/>
          </a:prstGeom>
        </p:spPr>
      </p:pic>
      <p:sp>
        <p:nvSpPr>
          <p:cNvPr id="27" name="Objetivo 5 título"/>
          <p:cNvSpPr txBox="1"/>
          <p:nvPr/>
        </p:nvSpPr>
        <p:spPr>
          <a:xfrm>
            <a:off x="9811512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Decidir</a:t>
            </a:r>
            <a:endParaRPr lang="en-US" sz="1800" dirty="0"/>
          </a:p>
        </p:txBody>
      </p:sp>
      <p:sp>
        <p:nvSpPr>
          <p:cNvPr id="28" name="Objetivo 5 texto"/>
          <p:cNvSpPr txBox="1"/>
          <p:nvPr/>
        </p:nvSpPr>
        <p:spPr>
          <a:xfrm>
            <a:off x="9811512" y="3657600"/>
            <a:ext cx="160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Tableros de BI sobre desempeño y evolución</a:t>
            </a:r>
            <a:endParaRPr lang="en-US" sz="1400" dirty="0"/>
          </a:p>
        </p:txBody>
      </p:sp>
      <p:sp>
        <p:nvSpPr>
          <p:cNvPr id="29" name="Etiqueta secundarios"/>
          <p:cNvSpPr txBox="1"/>
          <p:nvPr/>
        </p:nvSpPr>
        <p:spPr>
          <a:xfrm>
            <a:off x="54864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Objetivos secundarios</a:t>
            </a:r>
            <a:endParaRPr lang="en-US" sz="1600" dirty="0"/>
          </a:p>
        </p:txBody>
      </p:sp>
      <p:sp>
        <p:nvSpPr>
          <p:cNvPr id="30" name="Etiqueta Escalabilidad"/>
          <p:cNvSpPr txBox="1"/>
          <p:nvPr/>
        </p:nvSpPr>
        <p:spPr>
          <a:xfrm>
            <a:off x="548640" y="5577840"/>
            <a:ext cx="1376172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Escalabilidad</a:t>
            </a:r>
            <a:endParaRPr lang="en-US" sz="1300" dirty="0"/>
          </a:p>
        </p:txBody>
      </p:sp>
      <p:sp>
        <p:nvSpPr>
          <p:cNvPr id="31" name="Etiqueta Seguridad y privacidad"/>
          <p:cNvSpPr txBox="1"/>
          <p:nvPr/>
        </p:nvSpPr>
        <p:spPr>
          <a:xfrm>
            <a:off x="2034540" y="5577840"/>
            <a:ext cx="2075688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Seguridad y privacidad</a:t>
            </a:r>
            <a:endParaRPr lang="en-US" sz="1300" dirty="0"/>
          </a:p>
        </p:txBody>
      </p:sp>
      <p:sp>
        <p:nvSpPr>
          <p:cNvPr id="32" name="Etiqueta Sistema de roles"/>
          <p:cNvSpPr txBox="1"/>
          <p:nvPr/>
        </p:nvSpPr>
        <p:spPr>
          <a:xfrm>
            <a:off x="4219956" y="5577840"/>
            <a:ext cx="160934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Sistema de roles</a:t>
            </a:r>
            <a:endParaRPr lang="en-US" sz="1300" dirty="0"/>
          </a:p>
        </p:txBody>
      </p:sp>
      <p:sp>
        <p:nvSpPr>
          <p:cNvPr id="33" name="Etiqueta Factibilidad"/>
          <p:cNvSpPr txBox="1"/>
          <p:nvPr/>
        </p:nvSpPr>
        <p:spPr>
          <a:xfrm>
            <a:off x="5939028" y="5577840"/>
            <a:ext cx="1298448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Factibilidad</a:t>
            </a:r>
            <a:endParaRPr lang="en-US" sz="1300" dirty="0"/>
          </a:p>
        </p:txBody>
      </p:sp>
      <p:sp>
        <p:nvSpPr>
          <p:cNvPr id="34" name="Etiqueta Modelo adaptable"/>
          <p:cNvSpPr txBox="1"/>
          <p:nvPr/>
        </p:nvSpPr>
        <p:spPr>
          <a:xfrm>
            <a:off x="7347204" y="5577840"/>
            <a:ext cx="160934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Modelo adaptable</a:t>
            </a:r>
            <a:endParaRPr lang="en-US" sz="1300" dirty="0"/>
          </a:p>
        </p:txBody>
      </p:sp>
      <p:sp>
        <p:nvSpPr>
          <p:cNvPr id="35" name="Etiqueta UX"/>
          <p:cNvSpPr txBox="1"/>
          <p:nvPr/>
        </p:nvSpPr>
        <p:spPr>
          <a:xfrm>
            <a:off x="9066276" y="5577840"/>
            <a:ext cx="521208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UX</a:t>
            </a:r>
            <a:endParaRPr lang="en-US" sz="1300" dirty="0"/>
          </a:p>
        </p:txBody>
      </p:sp>
      <p:sp>
        <p:nvSpPr>
          <p:cNvPr id="36" name="Etiqueta Calidad de datos"/>
          <p:cNvSpPr txBox="1"/>
          <p:nvPr/>
        </p:nvSpPr>
        <p:spPr>
          <a:xfrm>
            <a:off x="9697212" y="5577840"/>
            <a:ext cx="1609344" cy="411480"/>
          </a:xfrm>
          <a:prstGeom prst="roundRect">
            <a:avLst>
              <a:gd name="adj" fmla="val 2222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Calidad de datos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Enfoque adoptado</a:t>
            </a:r>
            <a:endParaRPr lang="en-US" sz="3800" dirty="0"/>
          </a:p>
        </p:txBody>
      </p:sp>
      <p:sp>
        <p:nvSpPr>
          <p:cNvPr id="3" name="Tarjeta enfoque 1"/>
          <p:cNvSpPr/>
          <p:nvPr/>
        </p:nvSpPr>
        <p:spPr>
          <a:xfrm>
            <a:off x="548640" y="1463040"/>
            <a:ext cx="2651760" cy="4754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nfoque 1 círculo"/>
          <p:cNvSpPr/>
          <p:nvPr/>
        </p:nvSpPr>
        <p:spPr>
          <a:xfrm>
            <a:off x="822960" y="17373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Enfoque 1 icono" descr="Enfoqu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1959559"/>
            <a:ext cx="378562" cy="378562"/>
          </a:xfrm>
          <a:prstGeom prst="rect">
            <a:avLst/>
          </a:prstGeom>
        </p:spPr>
      </p:pic>
      <p:sp>
        <p:nvSpPr>
          <p:cNvPr id="6" name="Enfoque 1 título"/>
          <p:cNvSpPr txBox="1"/>
          <p:nvPr/>
        </p:nvSpPr>
        <p:spPr>
          <a:xfrm>
            <a:off x="822960" y="2743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Metodología ágil: Scrum</a:t>
            </a:r>
            <a:endParaRPr lang="en-US" sz="2000" dirty="0"/>
          </a:p>
        </p:txBody>
      </p:sp>
      <p:sp>
        <p:nvSpPr>
          <p:cNvPr id="7" name="Enfoque 1 detalle"/>
          <p:cNvSpPr txBox="1"/>
          <p:nvPr/>
        </p:nvSpPr>
        <p:spPr>
          <a:xfrm>
            <a:off x="822960" y="35661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Sprints de 2 a 4 semanas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Un incremento funcional por sprint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RUP evaluado como alternativa</a:t>
            </a:r>
            <a:endParaRPr lang="en-US" sz="1800" dirty="0"/>
          </a:p>
        </p:txBody>
      </p:sp>
      <p:sp>
        <p:nvSpPr>
          <p:cNvPr id="8" name="Tarjeta enfoque 2"/>
          <p:cNvSpPr/>
          <p:nvPr/>
        </p:nvSpPr>
        <p:spPr>
          <a:xfrm>
            <a:off x="3361944" y="1463040"/>
            <a:ext cx="2651760" cy="4754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nfoque 2 círculo"/>
          <p:cNvSpPr/>
          <p:nvPr/>
        </p:nvSpPr>
        <p:spPr>
          <a:xfrm>
            <a:off x="3636264" y="17373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Enfoque 2 icono" descr="Enfoqu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463" y="1959559"/>
            <a:ext cx="378562" cy="378562"/>
          </a:xfrm>
          <a:prstGeom prst="rect">
            <a:avLst/>
          </a:prstGeom>
        </p:spPr>
      </p:pic>
      <p:sp>
        <p:nvSpPr>
          <p:cNvPr id="11" name="Enfoque 2 título"/>
          <p:cNvSpPr txBox="1"/>
          <p:nvPr/>
        </p:nvSpPr>
        <p:spPr>
          <a:xfrm>
            <a:off x="3636264" y="2743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Arquitectura en capas</a:t>
            </a:r>
            <a:endParaRPr lang="en-US" sz="2000" dirty="0"/>
          </a:p>
        </p:txBody>
      </p:sp>
      <p:sp>
        <p:nvSpPr>
          <p:cNvPr id="12" name="Enfoque 2 detalle"/>
          <p:cNvSpPr txBox="1"/>
          <p:nvPr/>
        </p:nvSpPr>
        <p:spPr>
          <a:xfrm>
            <a:off x="3636264" y="35661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Cliente-servidor con API REST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BI desacoplado del núcleo transaccional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Offline-first en el móvil</a:t>
            </a:r>
            <a:endParaRPr lang="en-US" sz="1800" dirty="0"/>
          </a:p>
        </p:txBody>
      </p:sp>
      <p:sp>
        <p:nvSpPr>
          <p:cNvPr id="13" name="Tarjeta enfoque 3"/>
          <p:cNvSpPr/>
          <p:nvPr/>
        </p:nvSpPr>
        <p:spPr>
          <a:xfrm>
            <a:off x="6175248" y="1463040"/>
            <a:ext cx="2651760" cy="4754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Enfoque 3 círculo"/>
          <p:cNvSpPr/>
          <p:nvPr/>
        </p:nvSpPr>
        <p:spPr>
          <a:xfrm>
            <a:off x="6449568" y="17373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Enfoque 3 icono" descr="Enfoqu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767" y="1959559"/>
            <a:ext cx="378562" cy="378562"/>
          </a:xfrm>
          <a:prstGeom prst="rect">
            <a:avLst/>
          </a:prstGeom>
        </p:spPr>
      </p:pic>
      <p:sp>
        <p:nvSpPr>
          <p:cNvPr id="16" name="Enfoque 3 título"/>
          <p:cNvSpPr txBox="1"/>
          <p:nvPr/>
        </p:nvSpPr>
        <p:spPr>
          <a:xfrm>
            <a:off x="6449568" y="2743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Producto SaaS</a:t>
            </a:r>
            <a:endParaRPr lang="en-US" sz="2000" dirty="0"/>
          </a:p>
        </p:txBody>
      </p:sp>
      <p:sp>
        <p:nvSpPr>
          <p:cNvPr id="17" name="Enfoque 3 detalle"/>
          <p:cNvSpPr txBox="1"/>
          <p:nvPr/>
        </p:nvSpPr>
        <p:spPr>
          <a:xfrm>
            <a:off x="6449568" y="35661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Suscripción mensual o anual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Planes: Deportista, Profesional y Élite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Pagos por pasarela certificada</a:t>
            </a:r>
            <a:endParaRPr lang="en-US" sz="1800" dirty="0"/>
          </a:p>
        </p:txBody>
      </p:sp>
      <p:sp>
        <p:nvSpPr>
          <p:cNvPr id="18" name="Tarjeta enfoque 4"/>
          <p:cNvSpPr/>
          <p:nvPr/>
        </p:nvSpPr>
        <p:spPr>
          <a:xfrm>
            <a:off x="8988552" y="1463040"/>
            <a:ext cx="2651760" cy="475488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Enfoque 4 círculo"/>
          <p:cNvSpPr/>
          <p:nvPr/>
        </p:nvSpPr>
        <p:spPr>
          <a:xfrm>
            <a:off x="9262872" y="173736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Enfoque 4 icono" descr="Enfoqu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071" y="1959559"/>
            <a:ext cx="378562" cy="378562"/>
          </a:xfrm>
          <a:prstGeom prst="rect">
            <a:avLst/>
          </a:prstGeom>
        </p:spPr>
      </p:pic>
      <p:sp>
        <p:nvSpPr>
          <p:cNvPr id="21" name="Enfoque 4 título"/>
          <p:cNvSpPr txBox="1"/>
          <p:nvPr/>
        </p:nvSpPr>
        <p:spPr>
          <a:xfrm>
            <a:off x="9262872" y="2743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IA y privacidad</a:t>
            </a:r>
            <a:endParaRPr lang="en-US" sz="2000" dirty="0"/>
          </a:p>
        </p:txBody>
      </p:sp>
      <p:sp>
        <p:nvSpPr>
          <p:cNvPr id="22" name="Enfoque 4 detalle"/>
          <p:cNvSpPr txBox="1"/>
          <p:nvPr/>
        </p:nvSpPr>
        <p:spPr>
          <a:xfrm>
            <a:off x="9262872" y="35661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La IA propone, el usuario valida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El deportista decide con quién comparte (QR)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Seguridad basada en ISO 27002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Principales actividades</a:t>
            </a:r>
            <a:endParaRPr lang="en-US" sz="3800" dirty="0"/>
          </a:p>
        </p:txBody>
      </p:sp>
      <p:sp>
        <p:nvSpPr>
          <p:cNvPr id="3" name="Tarjeta actividad 1"/>
          <p:cNvSpPr/>
          <p:nvPr/>
        </p:nvSpPr>
        <p:spPr>
          <a:xfrm>
            <a:off x="548640" y="1463040"/>
            <a:ext cx="1691640" cy="320040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úmero actividad 1"/>
          <p:cNvSpPr txBox="1"/>
          <p:nvPr/>
        </p:nvSpPr>
        <p:spPr>
          <a:xfrm>
            <a:off x="731520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Actividad 1 título"/>
          <p:cNvSpPr txBox="1"/>
          <p:nvPr/>
        </p:nvSpPr>
        <p:spPr>
          <a:xfrm>
            <a:off x="731520" y="23774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Organización y problema</a:t>
            </a:r>
            <a:endParaRPr lang="en-US" sz="1700" dirty="0"/>
          </a:p>
        </p:txBody>
      </p:sp>
      <p:sp>
        <p:nvSpPr>
          <p:cNvPr id="6" name="Actividad 1 detalle"/>
          <p:cNvSpPr txBox="1"/>
          <p:nvPr/>
        </p:nvSpPr>
        <p:spPr>
          <a:xfrm>
            <a:off x="731520" y="315468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FODA, problemas, objetivos y competencia</a:t>
            </a:r>
            <a:endParaRPr lang="en-US" sz="1400" dirty="0"/>
          </a:p>
        </p:txBody>
      </p:sp>
      <p:sp>
        <p:nvSpPr>
          <p:cNvPr id="7" name="Tarjeta actividad 2"/>
          <p:cNvSpPr/>
          <p:nvPr/>
        </p:nvSpPr>
        <p:spPr>
          <a:xfrm>
            <a:off x="2428646" y="1463040"/>
            <a:ext cx="1691640" cy="320040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Número actividad 2"/>
          <p:cNvSpPr txBox="1"/>
          <p:nvPr/>
        </p:nvSpPr>
        <p:spPr>
          <a:xfrm>
            <a:off x="2611526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Actividad 2 título"/>
          <p:cNvSpPr txBox="1"/>
          <p:nvPr/>
        </p:nvSpPr>
        <p:spPr>
          <a:xfrm>
            <a:off x="2611526" y="23774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Factibilidad</a:t>
            </a:r>
            <a:endParaRPr lang="en-US" sz="1700" dirty="0"/>
          </a:p>
        </p:txBody>
      </p:sp>
      <p:sp>
        <p:nvSpPr>
          <p:cNvPr id="10" name="Actividad 2 detalle"/>
          <p:cNvSpPr txBox="1"/>
          <p:nvPr/>
        </p:nvSpPr>
        <p:spPr>
          <a:xfrm>
            <a:off x="2611526" y="315468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Operacional, técnica, legal y económico-financiera</a:t>
            </a:r>
            <a:endParaRPr lang="en-US" sz="1400" dirty="0"/>
          </a:p>
        </p:txBody>
      </p:sp>
      <p:sp>
        <p:nvSpPr>
          <p:cNvPr id="11" name="Tarjeta actividad 3"/>
          <p:cNvSpPr/>
          <p:nvPr/>
        </p:nvSpPr>
        <p:spPr>
          <a:xfrm>
            <a:off x="4308653" y="1463040"/>
            <a:ext cx="1691640" cy="320040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úmero actividad 3"/>
          <p:cNvSpPr txBox="1"/>
          <p:nvPr/>
        </p:nvSpPr>
        <p:spPr>
          <a:xfrm>
            <a:off x="4491533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Actividad 3 título"/>
          <p:cNvSpPr txBox="1"/>
          <p:nvPr/>
        </p:nvSpPr>
        <p:spPr>
          <a:xfrm>
            <a:off x="4491533" y="23774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Precios y ROI</a:t>
            </a:r>
            <a:endParaRPr lang="en-US" sz="1700" dirty="0"/>
          </a:p>
        </p:txBody>
      </p:sp>
      <p:sp>
        <p:nvSpPr>
          <p:cNvPr id="14" name="Actividad 3 detalle"/>
          <p:cNvSpPr txBox="1"/>
          <p:nvPr/>
        </p:nvSpPr>
        <p:spPr>
          <a:xfrm>
            <a:off x="4491533" y="315468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planes, formas de pago y 3 escenarios</a:t>
            </a:r>
            <a:endParaRPr lang="en-US" sz="1400" dirty="0"/>
          </a:p>
        </p:txBody>
      </p:sp>
      <p:sp>
        <p:nvSpPr>
          <p:cNvPr id="15" name="Tarjeta actividad 4"/>
          <p:cNvSpPr/>
          <p:nvPr/>
        </p:nvSpPr>
        <p:spPr>
          <a:xfrm>
            <a:off x="6188659" y="1463040"/>
            <a:ext cx="1691640" cy="320040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úmero actividad 4"/>
          <p:cNvSpPr txBox="1"/>
          <p:nvPr/>
        </p:nvSpPr>
        <p:spPr>
          <a:xfrm>
            <a:off x="6371539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Actividad 4 título"/>
          <p:cNvSpPr txBox="1"/>
          <p:nvPr/>
        </p:nvSpPr>
        <p:spPr>
          <a:xfrm>
            <a:off x="6371539" y="23774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Datos y casos de uso</a:t>
            </a:r>
            <a:endParaRPr lang="en-US" sz="1700" dirty="0"/>
          </a:p>
        </p:txBody>
      </p:sp>
      <p:sp>
        <p:nvSpPr>
          <p:cNvPr id="18" name="Actividad 4 detalle"/>
          <p:cNvSpPr txBox="1"/>
          <p:nvPr/>
        </p:nvSpPr>
        <p:spPr>
          <a:xfrm>
            <a:off x="6371539" y="315468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Entidades principales, 29 casos de uso, 14 módulos</a:t>
            </a:r>
            <a:endParaRPr lang="en-US" sz="1400" dirty="0"/>
          </a:p>
        </p:txBody>
      </p:sp>
      <p:sp>
        <p:nvSpPr>
          <p:cNvPr id="19" name="Tarjeta actividad 5"/>
          <p:cNvSpPr/>
          <p:nvPr/>
        </p:nvSpPr>
        <p:spPr>
          <a:xfrm>
            <a:off x="8068666" y="1463040"/>
            <a:ext cx="1691640" cy="320040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úmero actividad 5"/>
          <p:cNvSpPr txBox="1"/>
          <p:nvPr/>
        </p:nvSpPr>
        <p:spPr>
          <a:xfrm>
            <a:off x="8251546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1" name="Actividad 5 título"/>
          <p:cNvSpPr txBox="1"/>
          <p:nvPr/>
        </p:nvSpPr>
        <p:spPr>
          <a:xfrm>
            <a:off x="8251546" y="23774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Análisis de riesgos</a:t>
            </a:r>
            <a:endParaRPr lang="en-US" sz="1700" dirty="0"/>
          </a:p>
        </p:txBody>
      </p:sp>
      <p:sp>
        <p:nvSpPr>
          <p:cNvPr id="22" name="Actividad 5 detalle"/>
          <p:cNvSpPr txBox="1"/>
          <p:nvPr/>
        </p:nvSpPr>
        <p:spPr>
          <a:xfrm>
            <a:off x="8251546" y="315468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18 riesgos identificados, 10 desarrollados</a:t>
            </a:r>
            <a:endParaRPr lang="en-US" sz="1400" dirty="0"/>
          </a:p>
        </p:txBody>
      </p:sp>
      <p:sp>
        <p:nvSpPr>
          <p:cNvPr id="23" name="Tarjeta actividad 6"/>
          <p:cNvSpPr/>
          <p:nvPr/>
        </p:nvSpPr>
        <p:spPr>
          <a:xfrm>
            <a:off x="9948672" y="1463040"/>
            <a:ext cx="1691640" cy="320040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úmero actividad 6"/>
          <p:cNvSpPr txBox="1"/>
          <p:nvPr/>
        </p:nvSpPr>
        <p:spPr>
          <a:xfrm>
            <a:off x="10131552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6</a:t>
            </a:r>
            <a:endParaRPr lang="en-US" sz="2200" dirty="0"/>
          </a:p>
        </p:txBody>
      </p:sp>
      <p:sp>
        <p:nvSpPr>
          <p:cNvPr id="25" name="Actividad 6 título"/>
          <p:cNvSpPr txBox="1"/>
          <p:nvPr/>
        </p:nvSpPr>
        <p:spPr>
          <a:xfrm>
            <a:off x="10131552" y="237744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Diseño</a:t>
            </a:r>
            <a:endParaRPr lang="en-US" sz="1700" dirty="0"/>
          </a:p>
        </p:txBody>
      </p:sp>
      <p:sp>
        <p:nvSpPr>
          <p:cNvPr id="26" name="Actividad 6 detalle"/>
          <p:cNvSpPr txBox="1"/>
          <p:nvPr/>
        </p:nvSpPr>
        <p:spPr>
          <a:xfrm>
            <a:off x="10131552" y="3154680"/>
            <a:ext cx="1325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Arquitectura, BD, seguridad, integración y UX</a:t>
            </a:r>
            <a:endParaRPr lang="en-US" sz="1400" dirty="0"/>
          </a:p>
        </p:txBody>
      </p:sp>
      <p:sp>
        <p:nvSpPr>
          <p:cNvPr id="27" name="Etiqueta roles"/>
          <p:cNvSpPr txBox="1"/>
          <p:nvPr/>
        </p:nvSpPr>
        <p:spPr>
          <a:xfrm>
            <a:off x="548640" y="49834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Equipo de 4 integrantes, un área a cargo de cada uno</a:t>
            </a:r>
            <a:endParaRPr lang="en-US" sz="1800" dirty="0"/>
          </a:p>
        </p:txBody>
      </p:sp>
      <p:sp>
        <p:nvSpPr>
          <p:cNvPr id="28" name="Etiqueta Dirección de proyecto y calidad"/>
          <p:cNvSpPr txBox="1"/>
          <p:nvPr/>
        </p:nvSpPr>
        <p:spPr>
          <a:xfrm>
            <a:off x="548640" y="5486400"/>
            <a:ext cx="265176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Dirección de proyecto y calidad</a:t>
            </a:r>
            <a:endParaRPr lang="en-US" sz="1400" dirty="0"/>
          </a:p>
        </p:txBody>
      </p:sp>
      <p:sp>
        <p:nvSpPr>
          <p:cNvPr id="29" name="Etiqueta IA y datos"/>
          <p:cNvSpPr txBox="1"/>
          <p:nvPr/>
        </p:nvSpPr>
        <p:spPr>
          <a:xfrm>
            <a:off x="3361944" y="5486400"/>
            <a:ext cx="265176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IA y datos</a:t>
            </a:r>
            <a:endParaRPr lang="en-US" sz="1400" dirty="0"/>
          </a:p>
        </p:txBody>
      </p:sp>
      <p:sp>
        <p:nvSpPr>
          <p:cNvPr id="30" name="Etiqueta Arquitectura y backend"/>
          <p:cNvSpPr txBox="1"/>
          <p:nvPr/>
        </p:nvSpPr>
        <p:spPr>
          <a:xfrm>
            <a:off x="6175248" y="5486400"/>
            <a:ext cx="265176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Arquitectura y backend</a:t>
            </a:r>
            <a:endParaRPr lang="en-US" sz="1400" dirty="0"/>
          </a:p>
        </p:txBody>
      </p:sp>
      <p:sp>
        <p:nvSpPr>
          <p:cNvPr id="31" name="Etiqueta Frontend y soluciones móviles"/>
          <p:cNvSpPr txBox="1"/>
          <p:nvPr/>
        </p:nvSpPr>
        <p:spPr>
          <a:xfrm>
            <a:off x="8988552" y="5486400"/>
            <a:ext cx="265176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Frontend y soluciones móviles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Herramientas y tecnologías</a:t>
            </a:r>
            <a:endParaRPr lang="en-US" sz="3800" dirty="0"/>
          </a:p>
        </p:txBody>
      </p:sp>
      <p:sp>
        <p:nvSpPr>
          <p:cNvPr id="3" name="Tarjeta tecnología 1"/>
          <p:cNvSpPr/>
          <p:nvPr/>
        </p:nvSpPr>
        <p:spPr>
          <a:xfrm>
            <a:off x="548640" y="1463040"/>
            <a:ext cx="265176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cnología 1 círculo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Tecnología 1 icono" descr="Tecnologí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1864462"/>
            <a:ext cx="294437" cy="294437"/>
          </a:xfrm>
          <a:prstGeom prst="rect">
            <a:avLst/>
          </a:prstGeom>
        </p:spPr>
      </p:pic>
      <p:sp>
        <p:nvSpPr>
          <p:cNvPr id="6" name="Capa 1"/>
          <p:cNvSpPr txBox="1"/>
          <p:nvPr/>
        </p:nvSpPr>
        <p:spPr>
          <a:xfrm>
            <a:off x="1554480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Web</a:t>
            </a:r>
            <a:endParaRPr lang="en-US" sz="1400" dirty="0"/>
          </a:p>
        </p:txBody>
      </p:sp>
      <p:sp>
        <p:nvSpPr>
          <p:cNvPr id="7" name="Tecnología 1 nombre"/>
          <p:cNvSpPr txBox="1"/>
          <p:nvPr/>
        </p:nvSpPr>
        <p:spPr>
          <a:xfrm>
            <a:off x="777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React + Next.js</a:t>
            </a:r>
            <a:endParaRPr lang="en-US" sz="1800" dirty="0"/>
          </a:p>
        </p:txBody>
      </p:sp>
      <p:sp>
        <p:nvSpPr>
          <p:cNvPr id="8" name="Tecnología 1 nota"/>
          <p:cNvSpPr txBox="1"/>
          <p:nvPr/>
        </p:nvSpPr>
        <p:spPr>
          <a:xfrm>
            <a:off x="77724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Interfaz modular</a:t>
            </a:r>
            <a:endParaRPr lang="en-US" sz="1400" dirty="0"/>
          </a:p>
        </p:txBody>
      </p:sp>
      <p:sp>
        <p:nvSpPr>
          <p:cNvPr id="9" name="Tarjeta tecnología 2"/>
          <p:cNvSpPr/>
          <p:nvPr/>
        </p:nvSpPr>
        <p:spPr>
          <a:xfrm>
            <a:off x="3361944" y="1463040"/>
            <a:ext cx="265176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cnología 2 círculo"/>
          <p:cNvSpPr/>
          <p:nvPr/>
        </p:nvSpPr>
        <p:spPr>
          <a:xfrm>
            <a:off x="3590544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Tecnología 2 icono" descr="Tecnología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366" y="1864462"/>
            <a:ext cx="294437" cy="294437"/>
          </a:xfrm>
          <a:prstGeom prst="rect">
            <a:avLst/>
          </a:prstGeom>
        </p:spPr>
      </p:pic>
      <p:sp>
        <p:nvSpPr>
          <p:cNvPr id="12" name="Capa 2"/>
          <p:cNvSpPr txBox="1"/>
          <p:nvPr/>
        </p:nvSpPr>
        <p:spPr>
          <a:xfrm>
            <a:off x="4367784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Móvil</a:t>
            </a:r>
            <a:endParaRPr lang="en-US" sz="1400" dirty="0"/>
          </a:p>
        </p:txBody>
      </p:sp>
      <p:sp>
        <p:nvSpPr>
          <p:cNvPr id="13" name="Tecnología 2 nombre"/>
          <p:cNvSpPr txBox="1"/>
          <p:nvPr/>
        </p:nvSpPr>
        <p:spPr>
          <a:xfrm>
            <a:off x="3590544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React Native</a:t>
            </a:r>
            <a:endParaRPr lang="en-US" sz="1800" dirty="0"/>
          </a:p>
        </p:txBody>
      </p:sp>
      <p:sp>
        <p:nvSpPr>
          <p:cNvPr id="14" name="Tecnología 2 nota"/>
          <p:cNvSpPr txBox="1"/>
          <p:nvPr/>
        </p:nvSpPr>
        <p:spPr>
          <a:xfrm>
            <a:off x="3590544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Android e iOS con un código</a:t>
            </a:r>
            <a:endParaRPr lang="en-US" sz="1400" dirty="0"/>
          </a:p>
        </p:txBody>
      </p:sp>
      <p:sp>
        <p:nvSpPr>
          <p:cNvPr id="15" name="Tarjeta tecnología 3"/>
          <p:cNvSpPr/>
          <p:nvPr/>
        </p:nvSpPr>
        <p:spPr>
          <a:xfrm>
            <a:off x="6175248" y="1463040"/>
            <a:ext cx="265176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cnología 3 círculo"/>
          <p:cNvSpPr/>
          <p:nvPr/>
        </p:nvSpPr>
        <p:spPr>
          <a:xfrm>
            <a:off x="6403848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Tecnología 3 icono" descr="Tecnología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670" y="1864462"/>
            <a:ext cx="294437" cy="294437"/>
          </a:xfrm>
          <a:prstGeom prst="rect">
            <a:avLst/>
          </a:prstGeom>
        </p:spPr>
      </p:pic>
      <p:sp>
        <p:nvSpPr>
          <p:cNvPr id="18" name="Capa 3"/>
          <p:cNvSpPr txBox="1"/>
          <p:nvPr/>
        </p:nvSpPr>
        <p:spPr>
          <a:xfrm>
            <a:off x="7181088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Local móvil</a:t>
            </a:r>
            <a:endParaRPr lang="en-US" sz="1400" dirty="0"/>
          </a:p>
        </p:txBody>
      </p:sp>
      <p:sp>
        <p:nvSpPr>
          <p:cNvPr id="19" name="Tecnología 3 nombre"/>
          <p:cNvSpPr txBox="1"/>
          <p:nvPr/>
        </p:nvSpPr>
        <p:spPr>
          <a:xfrm>
            <a:off x="6403848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SQLite</a:t>
            </a:r>
            <a:endParaRPr lang="en-US" sz="1800" dirty="0"/>
          </a:p>
        </p:txBody>
      </p:sp>
      <p:sp>
        <p:nvSpPr>
          <p:cNvPr id="20" name="Tecnología 3 nota"/>
          <p:cNvSpPr txBox="1"/>
          <p:nvPr/>
        </p:nvSpPr>
        <p:spPr>
          <a:xfrm>
            <a:off x="6403848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Funcionamiento offline</a:t>
            </a:r>
            <a:endParaRPr lang="en-US" sz="1400" dirty="0"/>
          </a:p>
        </p:txBody>
      </p:sp>
      <p:sp>
        <p:nvSpPr>
          <p:cNvPr id="21" name="Tarjeta tecnología 4"/>
          <p:cNvSpPr/>
          <p:nvPr/>
        </p:nvSpPr>
        <p:spPr>
          <a:xfrm>
            <a:off x="8988552" y="1463040"/>
            <a:ext cx="265176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cnología 4 círculo"/>
          <p:cNvSpPr/>
          <p:nvPr/>
        </p:nvSpPr>
        <p:spPr>
          <a:xfrm>
            <a:off x="9217152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Tecnología 4 icono" descr="Tecnología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974" y="1864462"/>
            <a:ext cx="294437" cy="294437"/>
          </a:xfrm>
          <a:prstGeom prst="rect">
            <a:avLst/>
          </a:prstGeom>
        </p:spPr>
      </p:pic>
      <p:sp>
        <p:nvSpPr>
          <p:cNvPr id="24" name="Capa 4"/>
          <p:cNvSpPr txBox="1"/>
          <p:nvPr/>
        </p:nvSpPr>
        <p:spPr>
          <a:xfrm>
            <a:off x="9994392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Backend</a:t>
            </a:r>
            <a:endParaRPr lang="en-US" sz="1400" dirty="0"/>
          </a:p>
        </p:txBody>
      </p:sp>
      <p:sp>
        <p:nvSpPr>
          <p:cNvPr id="25" name="Tecnología 4 nombre"/>
          <p:cNvSpPr txBox="1"/>
          <p:nvPr/>
        </p:nvSpPr>
        <p:spPr>
          <a:xfrm>
            <a:off x="9217152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Node.js + TypeScript</a:t>
            </a:r>
            <a:endParaRPr lang="en-US" sz="1800" dirty="0"/>
          </a:p>
        </p:txBody>
      </p:sp>
      <p:sp>
        <p:nvSpPr>
          <p:cNvPr id="26" name="Tecnología 4 nota"/>
          <p:cNvSpPr txBox="1"/>
          <p:nvPr/>
        </p:nvSpPr>
        <p:spPr>
          <a:xfrm>
            <a:off x="9217152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Serverless</a:t>
            </a:r>
            <a:endParaRPr lang="en-US" sz="1400" dirty="0"/>
          </a:p>
        </p:txBody>
      </p:sp>
      <p:sp>
        <p:nvSpPr>
          <p:cNvPr id="27" name="Tarjeta tecnología 5"/>
          <p:cNvSpPr/>
          <p:nvPr/>
        </p:nvSpPr>
        <p:spPr>
          <a:xfrm>
            <a:off x="548640" y="3566160"/>
            <a:ext cx="265176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cnología 5 círculo"/>
          <p:cNvSpPr/>
          <p:nvPr/>
        </p:nvSpPr>
        <p:spPr>
          <a:xfrm>
            <a:off x="777240" y="3794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Tecnología 5 icono" descr="Tecnología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62" y="3967582"/>
            <a:ext cx="294437" cy="294437"/>
          </a:xfrm>
          <a:prstGeom prst="rect">
            <a:avLst/>
          </a:prstGeom>
        </p:spPr>
      </p:pic>
      <p:sp>
        <p:nvSpPr>
          <p:cNvPr id="30" name="Capa 5"/>
          <p:cNvSpPr txBox="1"/>
          <p:nvPr/>
        </p:nvSpPr>
        <p:spPr>
          <a:xfrm>
            <a:off x="1554480" y="3840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Inteligencia artificial</a:t>
            </a:r>
            <a:endParaRPr lang="en-US" sz="1400" dirty="0"/>
          </a:p>
        </p:txBody>
      </p:sp>
      <p:sp>
        <p:nvSpPr>
          <p:cNvPr id="31" name="Tecnología 5 nombre"/>
          <p:cNvSpPr txBox="1"/>
          <p:nvPr/>
        </p:nvSpPr>
        <p:spPr>
          <a:xfrm>
            <a:off x="777240" y="4572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Python + FastAPI</a:t>
            </a:r>
            <a:endParaRPr lang="en-US" sz="1800" dirty="0"/>
          </a:p>
        </p:txBody>
      </p:sp>
      <p:sp>
        <p:nvSpPr>
          <p:cNvPr id="32" name="Tecnología 5 nota"/>
          <p:cNvSpPr txBox="1"/>
          <p:nvPr/>
        </p:nvSpPr>
        <p:spPr>
          <a:xfrm>
            <a:off x="777240" y="4937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Servicios independientes (CPU/GPU)</a:t>
            </a:r>
            <a:endParaRPr lang="en-US" sz="1400" dirty="0"/>
          </a:p>
        </p:txBody>
      </p:sp>
      <p:sp>
        <p:nvSpPr>
          <p:cNvPr id="33" name="Tarjeta tecnología 6"/>
          <p:cNvSpPr/>
          <p:nvPr/>
        </p:nvSpPr>
        <p:spPr>
          <a:xfrm>
            <a:off x="3361944" y="3566160"/>
            <a:ext cx="265176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cnología 6 círculo"/>
          <p:cNvSpPr/>
          <p:nvPr/>
        </p:nvSpPr>
        <p:spPr>
          <a:xfrm>
            <a:off x="3590544" y="3794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Tecnología 6 icono" descr="Tecnología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3366" y="3967582"/>
            <a:ext cx="294437" cy="294437"/>
          </a:xfrm>
          <a:prstGeom prst="rect">
            <a:avLst/>
          </a:prstGeom>
        </p:spPr>
      </p:pic>
      <p:sp>
        <p:nvSpPr>
          <p:cNvPr id="36" name="Capa 6"/>
          <p:cNvSpPr txBox="1"/>
          <p:nvPr/>
        </p:nvSpPr>
        <p:spPr>
          <a:xfrm>
            <a:off x="4367784" y="3840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Base de datos</a:t>
            </a:r>
            <a:endParaRPr lang="en-US" sz="1400" dirty="0"/>
          </a:p>
        </p:txBody>
      </p:sp>
      <p:sp>
        <p:nvSpPr>
          <p:cNvPr id="37" name="Tecnología 6 nombre"/>
          <p:cNvSpPr txBox="1"/>
          <p:nvPr/>
        </p:nvSpPr>
        <p:spPr>
          <a:xfrm>
            <a:off x="3590544" y="4572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PostgreSQL</a:t>
            </a:r>
            <a:endParaRPr lang="en-US" sz="1800" dirty="0"/>
          </a:p>
        </p:txBody>
      </p:sp>
      <p:sp>
        <p:nvSpPr>
          <p:cNvPr id="38" name="Tecnología 6 nota"/>
          <p:cNvSpPr txBox="1"/>
          <p:nvPr/>
        </p:nvSpPr>
        <p:spPr>
          <a:xfrm>
            <a:off x="3590544" y="4937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Consistencia y consultas analíticas</a:t>
            </a:r>
            <a:endParaRPr lang="en-US" sz="1400" dirty="0"/>
          </a:p>
        </p:txBody>
      </p:sp>
      <p:sp>
        <p:nvSpPr>
          <p:cNvPr id="39" name="Tarjeta tecnología 7"/>
          <p:cNvSpPr/>
          <p:nvPr/>
        </p:nvSpPr>
        <p:spPr>
          <a:xfrm>
            <a:off x="6175248" y="3566160"/>
            <a:ext cx="265176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cnología 7 círculo"/>
          <p:cNvSpPr/>
          <p:nvPr/>
        </p:nvSpPr>
        <p:spPr>
          <a:xfrm>
            <a:off x="6403848" y="3794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1" name="Tecnología 7 icono" descr="Tecnología 7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6670" y="3967582"/>
            <a:ext cx="294437" cy="294437"/>
          </a:xfrm>
          <a:prstGeom prst="rect">
            <a:avLst/>
          </a:prstGeom>
        </p:spPr>
      </p:pic>
      <p:sp>
        <p:nvSpPr>
          <p:cNvPr id="42" name="Capa 7"/>
          <p:cNvSpPr txBox="1"/>
          <p:nvPr/>
        </p:nvSpPr>
        <p:spPr>
          <a:xfrm>
            <a:off x="7181088" y="3840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Comunicación</a:t>
            </a:r>
            <a:endParaRPr lang="en-US" sz="1400" dirty="0"/>
          </a:p>
        </p:txBody>
      </p:sp>
      <p:sp>
        <p:nvSpPr>
          <p:cNvPr id="43" name="Tecnología 7 nombre"/>
          <p:cNvSpPr txBox="1"/>
          <p:nvPr/>
        </p:nvSpPr>
        <p:spPr>
          <a:xfrm>
            <a:off x="6403848" y="4572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API REST (JSON)</a:t>
            </a:r>
            <a:endParaRPr lang="en-US" sz="1800" dirty="0"/>
          </a:p>
        </p:txBody>
      </p:sp>
      <p:sp>
        <p:nvSpPr>
          <p:cNvPr id="44" name="Tecnología 7 nota"/>
          <p:cNvSpPr txBox="1"/>
          <p:nvPr/>
        </p:nvSpPr>
        <p:spPr>
          <a:xfrm>
            <a:off x="6403848" y="4937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HTTPS, punto de entrada único</a:t>
            </a:r>
            <a:endParaRPr lang="en-US" sz="1400" dirty="0"/>
          </a:p>
        </p:txBody>
      </p:sp>
      <p:sp>
        <p:nvSpPr>
          <p:cNvPr id="45" name="Tarjeta tecnología 8"/>
          <p:cNvSpPr/>
          <p:nvPr/>
        </p:nvSpPr>
        <p:spPr>
          <a:xfrm>
            <a:off x="8988552" y="3566160"/>
            <a:ext cx="265176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Tecnología 8 círculo"/>
          <p:cNvSpPr/>
          <p:nvPr/>
        </p:nvSpPr>
        <p:spPr>
          <a:xfrm>
            <a:off x="9217152" y="3794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7" name="Tecnología 8 icono" descr="Tecnología 8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9974" y="3967582"/>
            <a:ext cx="294437" cy="294437"/>
          </a:xfrm>
          <a:prstGeom prst="rect">
            <a:avLst/>
          </a:prstGeom>
        </p:spPr>
      </p:pic>
      <p:sp>
        <p:nvSpPr>
          <p:cNvPr id="48" name="Capa 8"/>
          <p:cNvSpPr txBox="1"/>
          <p:nvPr/>
        </p:nvSpPr>
        <p:spPr>
          <a:xfrm>
            <a:off x="9994392" y="38404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Integraciones</a:t>
            </a:r>
            <a:endParaRPr lang="en-US" sz="1400" dirty="0"/>
          </a:p>
        </p:txBody>
      </p:sp>
      <p:sp>
        <p:nvSpPr>
          <p:cNvPr id="49" name="Tecnología 8 nombre"/>
          <p:cNvSpPr txBox="1"/>
          <p:nvPr/>
        </p:nvSpPr>
        <p:spPr>
          <a:xfrm>
            <a:off x="9217152" y="4572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Servicios externos</a:t>
            </a:r>
            <a:endParaRPr lang="en-US" sz="1800" dirty="0"/>
          </a:p>
        </p:txBody>
      </p:sp>
      <p:sp>
        <p:nvSpPr>
          <p:cNvPr id="50" name="Tecnología 8 nota"/>
          <p:cNvSpPr txBox="1"/>
          <p:nvPr/>
        </p:nvSpPr>
        <p:spPr>
          <a:xfrm>
            <a:off x="9217152" y="4937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Pagos, BI, correo y push vía backend</a:t>
            </a:r>
            <a:endParaRPr lang="en-US" sz="1400" dirty="0"/>
          </a:p>
        </p:txBody>
      </p:sp>
      <p:sp>
        <p:nvSpPr>
          <p:cNvPr id="51" name="Despliegue"/>
          <p:cNvSpPr txBox="1"/>
          <p:nvPr/>
        </p:nvSpPr>
        <p:spPr>
          <a:xfrm>
            <a:off x="548640" y="57607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Despliegue de prueba y producción inicial: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Vercel (frontend) y Railway (backend y datos)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Avances realizados</a:t>
            </a:r>
            <a:endParaRPr lang="en-US" sz="3800" dirty="0"/>
          </a:p>
        </p:txBody>
      </p:sp>
      <p:sp>
        <p:nvSpPr>
          <p:cNvPr id="3" name="Línea de tiempo"/>
          <p:cNvSpPr/>
          <p:nvPr/>
        </p:nvSpPr>
        <p:spPr>
          <a:xfrm>
            <a:off x="1783080" y="2011680"/>
            <a:ext cx="8622792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Hito Abstract"/>
          <p:cNvSpPr/>
          <p:nvPr/>
        </p:nvSpPr>
        <p:spPr>
          <a:xfrm>
            <a:off x="1508760" y="1764792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Abstract título"/>
          <p:cNvSpPr txBox="1"/>
          <p:nvPr/>
        </p:nvSpPr>
        <p:spPr>
          <a:xfrm>
            <a:off x="54864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Abstract</a:t>
            </a:r>
            <a:endParaRPr lang="en-US" sz="2200" dirty="0"/>
          </a:p>
        </p:txBody>
      </p:sp>
      <p:sp>
        <p:nvSpPr>
          <p:cNvPr id="6" name="Abstract fecha"/>
          <p:cNvSpPr txBox="1"/>
          <p:nvPr/>
        </p:nvSpPr>
        <p:spPr>
          <a:xfrm>
            <a:off x="54864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13/04/2026</a:t>
            </a:r>
            <a:endParaRPr lang="en-US" sz="1600" dirty="0"/>
          </a:p>
        </p:txBody>
      </p:sp>
      <p:sp>
        <p:nvSpPr>
          <p:cNvPr id="7" name="Abstract contenido"/>
          <p:cNvSpPr txBox="1"/>
          <p:nvPr/>
        </p:nvSpPr>
        <p:spPr>
          <a:xfrm>
            <a:off x="640080" y="3429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Propuesta del sistema y sus módulos</a:t>
            </a:r>
            <a:endParaRPr lang="en-US" sz="1500" dirty="0"/>
          </a:p>
        </p:txBody>
      </p:sp>
      <p:sp>
        <p:nvSpPr>
          <p:cNvPr id="8" name="Hito Entrega 1"/>
          <p:cNvSpPr/>
          <p:nvPr/>
        </p:nvSpPr>
        <p:spPr>
          <a:xfrm>
            <a:off x="4383024" y="1764792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9" name="Entrega 1 título"/>
          <p:cNvSpPr txBox="1"/>
          <p:nvPr/>
        </p:nvSpPr>
        <p:spPr>
          <a:xfrm>
            <a:off x="3422904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Entrega 1</a:t>
            </a:r>
            <a:endParaRPr lang="en-US" sz="2200" dirty="0"/>
          </a:p>
        </p:txBody>
      </p:sp>
      <p:sp>
        <p:nvSpPr>
          <p:cNvPr id="10" name="Entrega 1 fecha"/>
          <p:cNvSpPr txBox="1"/>
          <p:nvPr/>
        </p:nvSpPr>
        <p:spPr>
          <a:xfrm>
            <a:off x="3422904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11/05/2026</a:t>
            </a:r>
            <a:endParaRPr lang="en-US" sz="1600" dirty="0"/>
          </a:p>
        </p:txBody>
      </p:sp>
      <p:sp>
        <p:nvSpPr>
          <p:cNvPr id="11" name="Entrega 1 contenido"/>
          <p:cNvSpPr txBox="1"/>
          <p:nvPr/>
        </p:nvSpPr>
        <p:spPr>
          <a:xfrm>
            <a:off x="3514344" y="3429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Organización, objetivos, FODA, problemas y competencia</a:t>
            </a:r>
            <a:endParaRPr lang="en-US" sz="1500" dirty="0"/>
          </a:p>
        </p:txBody>
      </p:sp>
      <p:sp>
        <p:nvSpPr>
          <p:cNvPr id="12" name="Hito Entrega 2"/>
          <p:cNvSpPr/>
          <p:nvPr/>
        </p:nvSpPr>
        <p:spPr>
          <a:xfrm>
            <a:off x="7257288" y="1764792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3" name="Entrega 2 título"/>
          <p:cNvSpPr txBox="1"/>
          <p:nvPr/>
        </p:nvSpPr>
        <p:spPr>
          <a:xfrm>
            <a:off x="6297168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Entrega 2</a:t>
            </a:r>
            <a:endParaRPr lang="en-US" sz="2200" dirty="0"/>
          </a:p>
        </p:txBody>
      </p:sp>
      <p:sp>
        <p:nvSpPr>
          <p:cNvPr id="14" name="Entrega 2 fecha"/>
          <p:cNvSpPr txBox="1"/>
          <p:nvPr/>
        </p:nvSpPr>
        <p:spPr>
          <a:xfrm>
            <a:off x="6297168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29/06/2026</a:t>
            </a:r>
            <a:endParaRPr lang="en-US" sz="1600" dirty="0"/>
          </a:p>
        </p:txBody>
      </p:sp>
      <p:sp>
        <p:nvSpPr>
          <p:cNvPr id="15" name="Entrega 2 contenido"/>
          <p:cNvSpPr txBox="1"/>
          <p:nvPr/>
        </p:nvSpPr>
        <p:spPr>
          <a:xfrm>
            <a:off x="6388608" y="3429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Factibilidad, precios, formas de pago y ROI</a:t>
            </a:r>
            <a:endParaRPr lang="en-US" sz="1500" dirty="0"/>
          </a:p>
        </p:txBody>
      </p:sp>
      <p:sp>
        <p:nvSpPr>
          <p:cNvPr id="16" name="Hito Entrega 3"/>
          <p:cNvSpPr/>
          <p:nvPr/>
        </p:nvSpPr>
        <p:spPr>
          <a:xfrm>
            <a:off x="10131552" y="1764792"/>
            <a:ext cx="548640" cy="54864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Entrega 3 título"/>
          <p:cNvSpPr txBox="1"/>
          <p:nvPr/>
        </p:nvSpPr>
        <p:spPr>
          <a:xfrm>
            <a:off x="9171432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Entrega 3</a:t>
            </a:r>
            <a:endParaRPr lang="en-US" sz="2200" dirty="0"/>
          </a:p>
        </p:txBody>
      </p:sp>
      <p:sp>
        <p:nvSpPr>
          <p:cNvPr id="18" name="Entrega 3 fecha"/>
          <p:cNvSpPr txBox="1"/>
          <p:nvPr/>
        </p:nvSpPr>
        <p:spPr>
          <a:xfrm>
            <a:off x="9171432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26/10/2026</a:t>
            </a:r>
            <a:endParaRPr lang="en-US" sz="1600" dirty="0"/>
          </a:p>
        </p:txBody>
      </p:sp>
      <p:sp>
        <p:nvSpPr>
          <p:cNvPr id="19" name="Entrega 3 contenido"/>
          <p:cNvSpPr txBox="1"/>
          <p:nvPr/>
        </p:nvSpPr>
        <p:spPr>
          <a:xfrm>
            <a:off x="9262872" y="34290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Análisis de datos, casos de uso, riesgos y diseño</a:t>
            </a:r>
            <a:endParaRPr lang="en-US" sz="1500" dirty="0"/>
          </a:p>
        </p:txBody>
      </p:sp>
      <p:sp>
        <p:nvSpPr>
          <p:cNvPr id="20" name="Etiqueta En curso"/>
          <p:cNvSpPr txBox="1"/>
          <p:nvPr/>
        </p:nvSpPr>
        <p:spPr>
          <a:xfrm>
            <a:off x="9765792" y="4389120"/>
            <a:ext cx="128016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 curso</a:t>
            </a:r>
            <a:endParaRPr lang="en-US" sz="1400" dirty="0"/>
          </a:p>
        </p:txBody>
      </p:sp>
      <p:sp>
        <p:nvSpPr>
          <p:cNvPr id="21" name="Franja avances entrega 3"/>
          <p:cNvSpPr/>
          <p:nvPr/>
        </p:nvSpPr>
        <p:spPr>
          <a:xfrm>
            <a:off x="548640" y="5029200"/>
            <a:ext cx="11091672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Etiqueta entrega 3"/>
          <p:cNvSpPr txBox="1"/>
          <p:nvPr/>
        </p:nvSpPr>
        <p:spPr>
          <a:xfrm>
            <a:off x="822960" y="5138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En la Entrega 3 ya están</a:t>
            </a:r>
            <a:endParaRPr lang="en-US" sz="1600" dirty="0"/>
          </a:p>
        </p:txBody>
      </p:sp>
      <p:sp>
        <p:nvSpPr>
          <p:cNvPr id="23" name="Etiqueta Metodología evaluada"/>
          <p:cNvSpPr txBox="1"/>
          <p:nvPr/>
        </p:nvSpPr>
        <p:spPr>
          <a:xfrm>
            <a:off x="822960" y="5532120"/>
            <a:ext cx="219456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Metodología evaluada</a:t>
            </a:r>
            <a:endParaRPr lang="en-US" sz="1300" dirty="0"/>
          </a:p>
        </p:txBody>
      </p:sp>
      <p:sp>
        <p:nvSpPr>
          <p:cNvPr id="24" name="Etiqueta 29 casos de uso"/>
          <p:cNvSpPr txBox="1"/>
          <p:nvPr/>
        </p:nvSpPr>
        <p:spPr>
          <a:xfrm>
            <a:off x="3127248" y="5532120"/>
            <a:ext cx="176022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29 casos de uso</a:t>
            </a:r>
            <a:endParaRPr lang="en-US" sz="1300" dirty="0"/>
          </a:p>
        </p:txBody>
      </p:sp>
      <p:sp>
        <p:nvSpPr>
          <p:cNvPr id="25" name="Etiqueta 10 riesgos con plan de tratamiento"/>
          <p:cNvSpPr txBox="1"/>
          <p:nvPr/>
        </p:nvSpPr>
        <p:spPr>
          <a:xfrm>
            <a:off x="4997196" y="5532120"/>
            <a:ext cx="3410712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 riesgos con plan de tratamiento</a:t>
            </a:r>
            <a:endParaRPr lang="en-US" sz="1300" dirty="0"/>
          </a:p>
        </p:txBody>
      </p:sp>
      <p:sp>
        <p:nvSpPr>
          <p:cNvPr id="26" name="Etiqueta Arquitectura y tecnologías"/>
          <p:cNvSpPr txBox="1"/>
          <p:nvPr/>
        </p:nvSpPr>
        <p:spPr>
          <a:xfrm>
            <a:off x="8517636" y="5532120"/>
            <a:ext cx="2715768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Arquitectura y tecnologías</a:t>
            </a:r>
            <a:endParaRPr lang="en-US" sz="1300" dirty="0"/>
          </a:p>
        </p:txBody>
      </p:sp>
      <p:sp>
        <p:nvSpPr>
          <p:cNvPr id="27" name="Etiqueta Pasaje a tablas"/>
          <p:cNvSpPr txBox="1"/>
          <p:nvPr/>
        </p:nvSpPr>
        <p:spPr>
          <a:xfrm>
            <a:off x="822960" y="5989320"/>
            <a:ext cx="176022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Pasaje a tablas</a:t>
            </a:r>
            <a:endParaRPr lang="en-US" sz="1300" dirty="0"/>
          </a:p>
        </p:txBody>
      </p:sp>
      <p:sp>
        <p:nvSpPr>
          <p:cNvPr id="28" name="Etiqueta Seguridad, marco legal, integración y UX"/>
          <p:cNvSpPr txBox="1"/>
          <p:nvPr/>
        </p:nvSpPr>
        <p:spPr>
          <a:xfrm>
            <a:off x="2692908" y="5989320"/>
            <a:ext cx="393192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Seguridad, marco legal, integración y UX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Resultados obtenidos</a:t>
            </a:r>
            <a:endParaRPr lang="en-US" sz="3800" dirty="0"/>
          </a:p>
        </p:txBody>
      </p:sp>
      <p:sp>
        <p:nvSpPr>
          <p:cNvPr id="3" name="Tarjeta cifra 1"/>
          <p:cNvSpPr/>
          <p:nvPr/>
        </p:nvSpPr>
        <p:spPr>
          <a:xfrm>
            <a:off x="548640" y="1463040"/>
            <a:ext cx="265176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ifra 1"/>
          <p:cNvSpPr txBox="1"/>
          <p:nvPr/>
        </p:nvSpPr>
        <p:spPr>
          <a:xfrm>
            <a:off x="777240" y="1645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125.000</a:t>
            </a:r>
            <a:endParaRPr lang="en-US" sz="3600" dirty="0"/>
          </a:p>
        </p:txBody>
      </p:sp>
      <p:sp>
        <p:nvSpPr>
          <p:cNvPr id="5" name="Cifra 1 etiqueta"/>
          <p:cNvSpPr txBox="1"/>
          <p:nvPr/>
        </p:nvSpPr>
        <p:spPr>
          <a:xfrm>
            <a:off x="77724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USD de inversión inicial</a:t>
            </a:r>
            <a:endParaRPr lang="en-US" sz="1700" dirty="0"/>
          </a:p>
        </p:txBody>
      </p:sp>
      <p:sp>
        <p:nvSpPr>
          <p:cNvPr id="6" name="Cifra 1 detalle"/>
          <p:cNvSpPr txBox="1"/>
          <p:nvPr/>
        </p:nvSpPr>
        <p:spPr>
          <a:xfrm>
            <a:off x="777240" y="3017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Personal, infraestructura y marketing</a:t>
            </a:r>
            <a:endParaRPr lang="en-US" sz="1400" dirty="0"/>
          </a:p>
        </p:txBody>
      </p:sp>
      <p:sp>
        <p:nvSpPr>
          <p:cNvPr id="7" name="Tarjeta cifra 2"/>
          <p:cNvSpPr/>
          <p:nvPr/>
        </p:nvSpPr>
        <p:spPr>
          <a:xfrm>
            <a:off x="3361944" y="1463040"/>
            <a:ext cx="265176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Cifra 2"/>
          <p:cNvSpPr txBox="1"/>
          <p:nvPr/>
        </p:nvSpPr>
        <p:spPr>
          <a:xfrm>
            <a:off x="3590544" y="1645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5.248 h</a:t>
            </a:r>
            <a:endParaRPr lang="en-US" sz="3600" dirty="0"/>
          </a:p>
        </p:txBody>
      </p:sp>
      <p:sp>
        <p:nvSpPr>
          <p:cNvPr id="9" name="Cifra 2 etiqueta"/>
          <p:cNvSpPr txBox="1"/>
          <p:nvPr/>
        </p:nvSpPr>
        <p:spPr>
          <a:xfrm>
            <a:off x="3590544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Horas de trabajo</a:t>
            </a:r>
            <a:endParaRPr lang="en-US" sz="1700" dirty="0"/>
          </a:p>
        </p:txBody>
      </p:sp>
      <p:sp>
        <p:nvSpPr>
          <p:cNvPr id="10" name="Cifra 2 detalle"/>
          <p:cNvSpPr txBox="1"/>
          <p:nvPr/>
        </p:nvSpPr>
        <p:spPr>
          <a:xfrm>
            <a:off x="3590544" y="3017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4 perfiles Senior, casi 10 meses</a:t>
            </a:r>
            <a:endParaRPr lang="en-US" sz="1400" dirty="0"/>
          </a:p>
        </p:txBody>
      </p:sp>
      <p:sp>
        <p:nvSpPr>
          <p:cNvPr id="11" name="Tarjeta cifra 3"/>
          <p:cNvSpPr/>
          <p:nvPr/>
        </p:nvSpPr>
        <p:spPr>
          <a:xfrm>
            <a:off x="6175248" y="1463040"/>
            <a:ext cx="265176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Cifra 3"/>
          <p:cNvSpPr txBox="1"/>
          <p:nvPr/>
        </p:nvSpPr>
        <p:spPr>
          <a:xfrm>
            <a:off x="6403848" y="1645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USD 20,19</a:t>
            </a:r>
            <a:endParaRPr lang="en-US" sz="3600" dirty="0"/>
          </a:p>
        </p:txBody>
      </p:sp>
      <p:sp>
        <p:nvSpPr>
          <p:cNvPr id="13" name="Cifra 3 etiqueta"/>
          <p:cNvSpPr txBox="1"/>
          <p:nvPr/>
        </p:nvSpPr>
        <p:spPr>
          <a:xfrm>
            <a:off x="6403848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Ingreso por usuario</a:t>
            </a:r>
            <a:endParaRPr lang="en-US" sz="1700" dirty="0"/>
          </a:p>
        </p:txBody>
      </p:sp>
      <p:sp>
        <p:nvSpPr>
          <p:cNvPr id="14" name="Cifra 3 detalle"/>
          <p:cNvSpPr txBox="1"/>
          <p:nvPr/>
        </p:nvSpPr>
        <p:spPr>
          <a:xfrm>
            <a:off x="6403848" y="3017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Mensual, promedio ponderado de los 3 planes</a:t>
            </a:r>
            <a:endParaRPr lang="en-US" sz="1400" dirty="0"/>
          </a:p>
        </p:txBody>
      </p:sp>
      <p:sp>
        <p:nvSpPr>
          <p:cNvPr id="15" name="Tarjeta cifra 4"/>
          <p:cNvSpPr/>
          <p:nvPr/>
        </p:nvSpPr>
        <p:spPr>
          <a:xfrm>
            <a:off x="8988552" y="1463040"/>
            <a:ext cx="2651760" cy="246888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Cifra 4"/>
          <p:cNvSpPr txBox="1"/>
          <p:nvPr/>
        </p:nvSpPr>
        <p:spPr>
          <a:xfrm>
            <a:off x="9217152" y="1645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516</a:t>
            </a:r>
            <a:endParaRPr lang="en-US" sz="3600" dirty="0"/>
          </a:p>
        </p:txBody>
      </p:sp>
      <p:sp>
        <p:nvSpPr>
          <p:cNvPr id="17" name="Cifra 4 etiqueta"/>
          <p:cNvSpPr txBox="1"/>
          <p:nvPr/>
        </p:nvSpPr>
        <p:spPr>
          <a:xfrm>
            <a:off x="9217152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Suscripciones activas</a:t>
            </a:r>
            <a:endParaRPr lang="en-US" sz="1700" dirty="0"/>
          </a:p>
        </p:txBody>
      </p:sp>
      <p:sp>
        <p:nvSpPr>
          <p:cNvPr id="18" name="Cifra 4 detalle"/>
          <p:cNvSpPr txBox="1"/>
          <p:nvPr/>
        </p:nvSpPr>
        <p:spPr>
          <a:xfrm>
            <a:off x="9217152" y="3017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Recuperan la inversión en 12 meses</a:t>
            </a:r>
            <a:endParaRPr lang="en-US" sz="1400" dirty="0"/>
          </a:p>
        </p:txBody>
      </p:sp>
      <p:sp>
        <p:nvSpPr>
          <p:cNvPr id="19" name="Tarjeta planes"/>
          <p:cNvSpPr/>
          <p:nvPr/>
        </p:nvSpPr>
        <p:spPr>
          <a:xfrm>
            <a:off x="548640" y="416052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Etiqueta planes"/>
          <p:cNvSpPr txBox="1"/>
          <p:nvPr/>
        </p:nvSpPr>
        <p:spPr>
          <a:xfrm>
            <a:off x="822960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Planes definidos (por mes)</a:t>
            </a:r>
            <a:endParaRPr lang="en-US" sz="1800" dirty="0"/>
          </a:p>
        </p:txBody>
      </p:sp>
      <p:sp>
        <p:nvSpPr>
          <p:cNvPr id="21" name="Plan Deportista"/>
          <p:cNvSpPr txBox="1"/>
          <p:nvPr/>
        </p:nvSpPr>
        <p:spPr>
          <a:xfrm>
            <a:off x="82296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Deportista</a:t>
            </a:r>
            <a:endParaRPr lang="en-US" sz="1800" dirty="0"/>
          </a:p>
        </p:txBody>
      </p:sp>
      <p:sp>
        <p:nvSpPr>
          <p:cNvPr id="22" name="Precio Deportista"/>
          <p:cNvSpPr txBox="1"/>
          <p:nvPr/>
        </p:nvSpPr>
        <p:spPr>
          <a:xfrm>
            <a:off x="3291840" y="4800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USD 5,99</a:t>
            </a:r>
            <a:endParaRPr lang="en-US" sz="1800" dirty="0"/>
          </a:p>
        </p:txBody>
      </p:sp>
      <p:sp>
        <p:nvSpPr>
          <p:cNvPr id="23" name="Plan Profesional"/>
          <p:cNvSpPr txBox="1"/>
          <p:nvPr/>
        </p:nvSpPr>
        <p:spPr>
          <a:xfrm>
            <a:off x="822960" y="5257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Profesional</a:t>
            </a:r>
            <a:endParaRPr lang="en-US" sz="1800" dirty="0"/>
          </a:p>
        </p:txBody>
      </p:sp>
      <p:sp>
        <p:nvSpPr>
          <p:cNvPr id="24" name="Precio Profesional"/>
          <p:cNvSpPr txBox="1"/>
          <p:nvPr/>
        </p:nvSpPr>
        <p:spPr>
          <a:xfrm>
            <a:off x="3291840" y="5257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USD 29,99</a:t>
            </a:r>
            <a:endParaRPr lang="en-US" sz="1800" dirty="0"/>
          </a:p>
        </p:txBody>
      </p:sp>
      <p:sp>
        <p:nvSpPr>
          <p:cNvPr id="25" name="Plan Élite"/>
          <p:cNvSpPr txBox="1"/>
          <p:nvPr/>
        </p:nvSpPr>
        <p:spPr>
          <a:xfrm>
            <a:off x="822960" y="5715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Élite</a:t>
            </a:r>
            <a:endParaRPr lang="en-US" sz="1800" dirty="0"/>
          </a:p>
        </p:txBody>
      </p:sp>
      <p:sp>
        <p:nvSpPr>
          <p:cNvPr id="26" name="Precio Élite"/>
          <p:cNvSpPr txBox="1"/>
          <p:nvPr/>
        </p:nvSpPr>
        <p:spPr>
          <a:xfrm>
            <a:off x="3291840" y="5715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USD 99,99</a:t>
            </a:r>
            <a:endParaRPr lang="en-US" sz="1800" dirty="0"/>
          </a:p>
        </p:txBody>
      </p:sp>
      <p:sp>
        <p:nvSpPr>
          <p:cNvPr id="27" name="Tarjeta diseño"/>
          <p:cNvSpPr/>
          <p:nvPr/>
        </p:nvSpPr>
        <p:spPr>
          <a:xfrm>
            <a:off x="6199632" y="416052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Etiqueta diseño"/>
          <p:cNvSpPr txBox="1"/>
          <p:nvPr/>
        </p:nvSpPr>
        <p:spPr>
          <a:xfrm>
            <a:off x="6473952" y="4297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Resultados de diseño</a:t>
            </a:r>
            <a:endParaRPr lang="en-US" sz="1800" dirty="0"/>
          </a:p>
        </p:txBody>
      </p:sp>
      <p:sp>
        <p:nvSpPr>
          <p:cNvPr id="29" name="Resultados de diseño"/>
          <p:cNvSpPr txBox="1"/>
          <p:nvPr/>
        </p:nvSpPr>
        <p:spPr>
          <a:xfrm>
            <a:off x="6473952" y="480060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29 casos de uso especificados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Riesgos tratados con severidad residual de 2 a 6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Arquitectura en capas y modelo de tablas definidos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Dificultades y desafíos</a:t>
            </a:r>
            <a:endParaRPr lang="en-US" sz="3800" dirty="0"/>
          </a:p>
        </p:txBody>
      </p:sp>
      <p:sp>
        <p:nvSpPr>
          <p:cNvPr id="3" name="Etiqueta riesgos"/>
          <p:cNvSpPr txBox="1"/>
          <p:nvPr/>
        </p:nvSpPr>
        <p:spPr>
          <a:xfrm>
            <a:off x="548640" y="1371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Riesgos de mayor severidad (probabilidad × impacto)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2179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Nota riesgos"/>
          <p:cNvSpPr txBox="1"/>
          <p:nvPr/>
        </p:nvSpPr>
        <p:spPr>
          <a:xfrm>
            <a:off x="548640" y="57150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Los 10 riesgos desarrollados se redujeron a una severidad residual de 2 a 6</a:t>
            </a:r>
            <a:endParaRPr lang="en-US" sz="1400" dirty="0"/>
          </a:p>
        </p:txBody>
      </p:sp>
      <p:sp>
        <p:nvSpPr>
          <p:cNvPr id="6" name="Tarjeta debilidades"/>
          <p:cNvSpPr/>
          <p:nvPr/>
        </p:nvSpPr>
        <p:spPr>
          <a:xfrm>
            <a:off x="7086600" y="1371600"/>
            <a:ext cx="4553712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Etiqueta debilidades"/>
          <p:cNvSpPr txBox="1"/>
          <p:nvPr/>
        </p:nvSpPr>
        <p:spPr>
          <a:xfrm>
            <a:off x="736092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Debilidades identificadas (FODA)</a:t>
            </a:r>
            <a:endParaRPr lang="en-US" sz="1800" dirty="0"/>
          </a:p>
        </p:txBody>
      </p:sp>
      <p:sp>
        <p:nvSpPr>
          <p:cNvPr id="8" name="Debilidades"/>
          <p:cNvSpPr txBox="1"/>
          <p:nvPr/>
        </p:nvSpPr>
        <p:spPr>
          <a:xfrm>
            <a:off x="7360920" y="201168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Infraestructura de procesamiento física acotada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Curva de aprendizaje en visión artificial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Disponibilidad horaria limitada por cursada y trabajo</a:t>
            </a:r>
            <a:endParaRPr lang="en-US" sz="1600" dirty="0"/>
          </a:p>
        </p:txBody>
      </p:sp>
      <p:sp>
        <p:nvSpPr>
          <p:cNvPr id="9" name="Tarjeta torneos"/>
          <p:cNvSpPr/>
          <p:nvPr/>
        </p:nvSpPr>
        <p:spPr>
          <a:xfrm>
            <a:off x="7086600" y="4069080"/>
            <a:ext cx="455371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Reglas de torneos"/>
          <p:cNvSpPr txBox="1"/>
          <p:nvPr/>
        </p:nvSpPr>
        <p:spPr>
          <a:xfrm>
            <a:off x="7360920" y="41148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Reglas distintas en cada torneo: desempates, sanciones y formatos de competencia</a:t>
            </a:r>
            <a:endParaRPr lang="en-US" sz="1600" dirty="0"/>
          </a:p>
        </p:txBody>
      </p:sp>
      <p:sp>
        <p:nvSpPr>
          <p:cNvPr id="11" name="Tarjeta completar"/>
          <p:cNvSpPr/>
          <p:nvPr/>
        </p:nvSpPr>
        <p:spPr>
          <a:xfrm>
            <a:off x="7086600" y="5303520"/>
            <a:ext cx="455371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ompletar dificultades"/>
          <p:cNvSpPr txBox="1"/>
          <p:nvPr/>
        </p:nvSpPr>
        <p:spPr>
          <a:xfrm>
            <a:off x="7360920" y="53492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Dificultades encontradas durante el desarrollo: completar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Aspectos pendientes</a:t>
            </a:r>
            <a:endParaRPr lang="en-US" sz="3800" dirty="0"/>
          </a:p>
        </p:txBody>
      </p:sp>
      <p:sp>
        <p:nvSpPr>
          <p:cNvPr id="3" name="Tarjeta pendiente 1"/>
          <p:cNvSpPr/>
          <p:nvPr/>
        </p:nvSpPr>
        <p:spPr>
          <a:xfrm>
            <a:off x="548640" y="1463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endiente 1 círculo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Pendiente 1 icono" descr="Pendient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922526"/>
            <a:ext cx="315468" cy="315468"/>
          </a:xfrm>
          <a:prstGeom prst="rect">
            <a:avLst/>
          </a:prstGeom>
        </p:spPr>
      </p:pic>
      <p:sp>
        <p:nvSpPr>
          <p:cNvPr id="6" name="Pendiente 1 título"/>
          <p:cNvSpPr txBox="1"/>
          <p:nvPr/>
        </p:nvSpPr>
        <p:spPr>
          <a:xfrm>
            <a:off x="1737360" y="1737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Nuevo Gantt</a:t>
            </a:r>
            <a:endParaRPr lang="en-US" sz="1800" dirty="0"/>
          </a:p>
        </p:txBody>
      </p:sp>
      <p:sp>
        <p:nvSpPr>
          <p:cNvPr id="7" name="Pendiente 1 detalle"/>
          <p:cNvSpPr txBox="1"/>
          <p:nvPr/>
        </p:nvSpPr>
        <p:spPr>
          <a:xfrm>
            <a:off x="822960" y="2651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sección quedó vacía en la Entrega 3</a:t>
            </a:r>
            <a:endParaRPr lang="en-US" sz="1500" dirty="0"/>
          </a:p>
        </p:txBody>
      </p:sp>
      <p:sp>
        <p:nvSpPr>
          <p:cNvPr id="8" name="Tarjeta pendiente 2"/>
          <p:cNvSpPr/>
          <p:nvPr/>
        </p:nvSpPr>
        <p:spPr>
          <a:xfrm>
            <a:off x="4334256" y="1463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endiente 2 círculo"/>
          <p:cNvSpPr/>
          <p:nvPr/>
        </p:nvSpPr>
        <p:spPr>
          <a:xfrm>
            <a:off x="4608576" y="173736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Pendiente 2 icono" descr="Pendient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42" y="1922526"/>
            <a:ext cx="315468" cy="315468"/>
          </a:xfrm>
          <a:prstGeom prst="rect">
            <a:avLst/>
          </a:prstGeom>
        </p:spPr>
      </p:pic>
      <p:sp>
        <p:nvSpPr>
          <p:cNvPr id="11" name="Pendiente 2 título"/>
          <p:cNvSpPr txBox="1"/>
          <p:nvPr/>
        </p:nvSpPr>
        <p:spPr>
          <a:xfrm>
            <a:off x="5522976" y="1737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Modelo de datos (DER)</a:t>
            </a:r>
            <a:endParaRPr lang="en-US" sz="1800" dirty="0"/>
          </a:p>
        </p:txBody>
      </p:sp>
      <p:sp>
        <p:nvSpPr>
          <p:cNvPr id="12" name="Pendiente 2 detalle"/>
          <p:cNvSpPr txBox="1"/>
          <p:nvPr/>
        </p:nvSpPr>
        <p:spPr>
          <a:xfrm>
            <a:off x="4608576" y="2651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El pasaje a tablas está hecho; falta desarrollar el DER</a:t>
            </a:r>
            <a:endParaRPr lang="en-US" sz="1500" dirty="0"/>
          </a:p>
        </p:txBody>
      </p:sp>
      <p:sp>
        <p:nvSpPr>
          <p:cNvPr id="13" name="Tarjeta pendiente 3"/>
          <p:cNvSpPr/>
          <p:nvPr/>
        </p:nvSpPr>
        <p:spPr>
          <a:xfrm>
            <a:off x="8119872" y="146304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endiente 3 círculo"/>
          <p:cNvSpPr/>
          <p:nvPr/>
        </p:nvSpPr>
        <p:spPr>
          <a:xfrm>
            <a:off x="8394192" y="173736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Pendiente 3 icono" descr="Pendiente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9358" y="1922526"/>
            <a:ext cx="315468" cy="315468"/>
          </a:xfrm>
          <a:prstGeom prst="rect">
            <a:avLst/>
          </a:prstGeom>
        </p:spPr>
      </p:pic>
      <p:sp>
        <p:nvSpPr>
          <p:cNvPr id="16" name="Pendiente 3 título"/>
          <p:cNvSpPr txBox="1"/>
          <p:nvPr/>
        </p:nvSpPr>
        <p:spPr>
          <a:xfrm>
            <a:off x="9308592" y="1737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Diccionarios de datos</a:t>
            </a:r>
            <a:endParaRPr lang="en-US" sz="1800" dirty="0"/>
          </a:p>
        </p:txBody>
      </p:sp>
      <p:sp>
        <p:nvSpPr>
          <p:cNvPr id="17" name="Pendiente 3 detalle"/>
          <p:cNvSpPr txBox="1"/>
          <p:nvPr/>
        </p:nvSpPr>
        <p:spPr>
          <a:xfrm>
            <a:off x="8394192" y="2651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Completarlos en los casos de uso y definir “Plan nutricional”</a:t>
            </a:r>
            <a:endParaRPr lang="en-US" sz="1500" dirty="0"/>
          </a:p>
        </p:txBody>
      </p:sp>
      <p:sp>
        <p:nvSpPr>
          <p:cNvPr id="18" name="Tarjeta pendiente 4"/>
          <p:cNvSpPr/>
          <p:nvPr/>
        </p:nvSpPr>
        <p:spPr>
          <a:xfrm>
            <a:off x="548640" y="393192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endiente 4 círculo"/>
          <p:cNvSpPr/>
          <p:nvPr/>
        </p:nvSpPr>
        <p:spPr>
          <a:xfrm>
            <a:off x="822960" y="42062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Pendiente 4 icono" descr="Pendiente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126" y="4391406"/>
            <a:ext cx="315468" cy="315468"/>
          </a:xfrm>
          <a:prstGeom prst="rect">
            <a:avLst/>
          </a:prstGeom>
        </p:spPr>
      </p:pic>
      <p:sp>
        <p:nvSpPr>
          <p:cNvPr id="21" name="Pendiente 4 título"/>
          <p:cNvSpPr txBox="1"/>
          <p:nvPr/>
        </p:nvSpPr>
        <p:spPr>
          <a:xfrm>
            <a:off x="173736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Clasificación de datos</a:t>
            </a:r>
            <a:endParaRPr lang="en-US" sz="1800" dirty="0"/>
          </a:p>
        </p:txBody>
      </p:sp>
      <p:sp>
        <p:nvSpPr>
          <p:cNvPr id="22" name="Pendiente 4 detalle"/>
          <p:cNvSpPr txBox="1"/>
          <p:nvPr/>
        </p:nvSpPr>
        <p:spPr>
          <a:xfrm>
            <a:off x="822960" y="5120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Tipo, origen, flujo, validaciones y seguridad de cada dato</a:t>
            </a:r>
            <a:endParaRPr lang="en-US" sz="1500" dirty="0"/>
          </a:p>
        </p:txBody>
      </p:sp>
      <p:sp>
        <p:nvSpPr>
          <p:cNvPr id="23" name="Tarjeta pendiente 5"/>
          <p:cNvSpPr/>
          <p:nvPr/>
        </p:nvSpPr>
        <p:spPr>
          <a:xfrm>
            <a:off x="4334256" y="393192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endiente 5 círculo"/>
          <p:cNvSpPr/>
          <p:nvPr/>
        </p:nvSpPr>
        <p:spPr>
          <a:xfrm>
            <a:off x="4608576" y="42062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Pendiente 5 icono" descr="Pendiente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742" y="4391406"/>
            <a:ext cx="315468" cy="315468"/>
          </a:xfrm>
          <a:prstGeom prst="rect">
            <a:avLst/>
          </a:prstGeom>
        </p:spPr>
      </p:pic>
      <p:sp>
        <p:nvSpPr>
          <p:cNvPr id="26" name="Pendiente 5 título"/>
          <p:cNvSpPr txBox="1"/>
          <p:nvPr/>
        </p:nvSpPr>
        <p:spPr>
          <a:xfrm>
            <a:off x="5522976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Comparación con la competencia</a:t>
            </a:r>
            <a:endParaRPr lang="en-US" sz="1800" dirty="0"/>
          </a:p>
        </p:txBody>
      </p:sp>
      <p:sp>
        <p:nvSpPr>
          <p:cNvPr id="27" name="Pendiente 5 detalle"/>
          <p:cNvSpPr txBox="1"/>
          <p:nvPr/>
        </p:nvSpPr>
        <p:spPr>
          <a:xfrm>
            <a:off x="4608576" y="5120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Falta la comparación cuantitativa (Entrega 1)</a:t>
            </a:r>
            <a:endParaRPr lang="en-US" sz="1500" dirty="0"/>
          </a:p>
        </p:txBody>
      </p:sp>
      <p:sp>
        <p:nvSpPr>
          <p:cNvPr id="28" name="Tarjeta pendiente 6"/>
          <p:cNvSpPr/>
          <p:nvPr/>
        </p:nvSpPr>
        <p:spPr>
          <a:xfrm>
            <a:off x="8119872" y="393192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Pendiente 6 círculo"/>
          <p:cNvSpPr/>
          <p:nvPr/>
        </p:nvSpPr>
        <p:spPr>
          <a:xfrm>
            <a:off x="8394192" y="42062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Pendiente 6 icono" descr="Pendiente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9358" y="4391406"/>
            <a:ext cx="315468" cy="315468"/>
          </a:xfrm>
          <a:prstGeom prst="rect">
            <a:avLst/>
          </a:prstGeom>
        </p:spPr>
      </p:pic>
      <p:sp>
        <p:nvSpPr>
          <p:cNvPr id="31" name="Pendiente 6 título"/>
          <p:cNvSpPr txBox="1"/>
          <p:nvPr/>
        </p:nvSpPr>
        <p:spPr>
          <a:xfrm>
            <a:off x="9308592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Bibliografía</a:t>
            </a:r>
            <a:endParaRPr lang="en-US" sz="1800" dirty="0"/>
          </a:p>
        </p:txBody>
      </p:sp>
      <p:sp>
        <p:nvSpPr>
          <p:cNvPr id="32" name="Pendiente 6 detalle"/>
          <p:cNvSpPr txBox="1"/>
          <p:nvPr/>
        </p:nvSpPr>
        <p:spPr>
          <a:xfrm>
            <a:off x="8394192" y="5120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de la Entrega 3 está incompleta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Próximas etapas</a:t>
            </a:r>
            <a:endParaRPr lang="en-US" sz="3800" dirty="0"/>
          </a:p>
        </p:txBody>
      </p:sp>
      <p:sp>
        <p:nvSpPr>
          <p:cNvPr id="3" name="Tarjeta etapa 1"/>
          <p:cNvSpPr/>
          <p:nvPr/>
        </p:nvSpPr>
        <p:spPr>
          <a:xfrm>
            <a:off x="548640" y="1554480"/>
            <a:ext cx="1965960" cy="292608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tapa 1 círculo"/>
          <p:cNvSpPr/>
          <p:nvPr/>
        </p:nvSpPr>
        <p:spPr>
          <a:xfrm>
            <a:off x="777240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Etapa 1 icono" descr="Etap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4750" y="1980590"/>
            <a:ext cx="336499" cy="336499"/>
          </a:xfrm>
          <a:prstGeom prst="rect">
            <a:avLst/>
          </a:prstGeom>
        </p:spPr>
      </p:pic>
      <p:sp>
        <p:nvSpPr>
          <p:cNvPr id="6" name="Etapa 1 título"/>
          <p:cNvSpPr txBox="1"/>
          <p:nvPr/>
        </p:nvSpPr>
        <p:spPr>
          <a:xfrm>
            <a:off x="777240" y="26974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Cerrar la Entrega 3</a:t>
            </a:r>
            <a:endParaRPr lang="en-US" sz="1800" dirty="0"/>
          </a:p>
        </p:txBody>
      </p:sp>
      <p:sp>
        <p:nvSpPr>
          <p:cNvPr id="7" name="Etapa 1 detalle"/>
          <p:cNvSpPr txBox="1"/>
          <p:nvPr/>
        </p:nvSpPr>
        <p:spPr>
          <a:xfrm>
            <a:off x="777240" y="34290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Resolver los pendientes</a:t>
            </a:r>
            <a:endParaRPr lang="en-US" sz="1400" dirty="0"/>
          </a:p>
        </p:txBody>
      </p:sp>
      <p:sp>
        <p:nvSpPr>
          <p:cNvPr id="8" name="Flecha 1"/>
          <p:cNvSpPr/>
          <p:nvPr/>
        </p:nvSpPr>
        <p:spPr>
          <a:xfrm>
            <a:off x="2551176" y="2880360"/>
            <a:ext cx="242316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arjeta etapa 2"/>
          <p:cNvSpPr/>
          <p:nvPr/>
        </p:nvSpPr>
        <p:spPr>
          <a:xfrm>
            <a:off x="2830068" y="1554480"/>
            <a:ext cx="1965960" cy="292608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tapa 2 círculo"/>
          <p:cNvSpPr/>
          <p:nvPr/>
        </p:nvSpPr>
        <p:spPr>
          <a:xfrm>
            <a:off x="3058668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Etapa 2 icono" descr="Etapa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178" y="1980590"/>
            <a:ext cx="336499" cy="336499"/>
          </a:xfrm>
          <a:prstGeom prst="rect">
            <a:avLst/>
          </a:prstGeom>
        </p:spPr>
      </p:pic>
      <p:sp>
        <p:nvSpPr>
          <p:cNvPr id="12" name="Etapa 2 título"/>
          <p:cNvSpPr txBox="1"/>
          <p:nvPr/>
        </p:nvSpPr>
        <p:spPr>
          <a:xfrm>
            <a:off x="3058668" y="26974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Codificación</a:t>
            </a:r>
            <a:endParaRPr lang="en-US" sz="1800" dirty="0"/>
          </a:p>
        </p:txBody>
      </p:sp>
      <p:sp>
        <p:nvSpPr>
          <p:cNvPr id="13" name="Etapa 2 detalle"/>
          <p:cNvSpPr txBox="1"/>
          <p:nvPr/>
        </p:nvSpPr>
        <p:spPr>
          <a:xfrm>
            <a:off x="3058668" y="34290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IA, backend y frontend web y móvil</a:t>
            </a:r>
            <a:endParaRPr lang="en-US" sz="1400" dirty="0"/>
          </a:p>
        </p:txBody>
      </p:sp>
      <p:sp>
        <p:nvSpPr>
          <p:cNvPr id="14" name="Flecha 2"/>
          <p:cNvSpPr/>
          <p:nvPr/>
        </p:nvSpPr>
        <p:spPr>
          <a:xfrm>
            <a:off x="4832604" y="2880360"/>
            <a:ext cx="242316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arjeta etapa 3"/>
          <p:cNvSpPr/>
          <p:nvPr/>
        </p:nvSpPr>
        <p:spPr>
          <a:xfrm>
            <a:off x="5111496" y="1554480"/>
            <a:ext cx="1965960" cy="292608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Etapa 3 círculo"/>
          <p:cNvSpPr/>
          <p:nvPr/>
        </p:nvSpPr>
        <p:spPr>
          <a:xfrm>
            <a:off x="5340096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Etapa 3 icono" descr="Etapa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606" y="1980590"/>
            <a:ext cx="336499" cy="336499"/>
          </a:xfrm>
          <a:prstGeom prst="rect">
            <a:avLst/>
          </a:prstGeom>
        </p:spPr>
      </p:pic>
      <p:sp>
        <p:nvSpPr>
          <p:cNvPr id="18" name="Etapa 3 título"/>
          <p:cNvSpPr txBox="1"/>
          <p:nvPr/>
        </p:nvSpPr>
        <p:spPr>
          <a:xfrm>
            <a:off x="5340096" y="26974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Entrenamiento</a:t>
            </a:r>
            <a:endParaRPr lang="en-US" sz="1800" dirty="0"/>
          </a:p>
        </p:txBody>
      </p:sp>
      <p:sp>
        <p:nvSpPr>
          <p:cNvPr id="19" name="Etapa 3 detalle"/>
          <p:cNvSpPr txBox="1"/>
          <p:nvPr/>
        </p:nvSpPr>
        <p:spPr>
          <a:xfrm>
            <a:off x="5340096" y="34290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Recolección de datos y validación de los modelos de IA</a:t>
            </a:r>
            <a:endParaRPr lang="en-US" sz="1400" dirty="0"/>
          </a:p>
        </p:txBody>
      </p:sp>
      <p:sp>
        <p:nvSpPr>
          <p:cNvPr id="20" name="Flecha 3"/>
          <p:cNvSpPr/>
          <p:nvPr/>
        </p:nvSpPr>
        <p:spPr>
          <a:xfrm>
            <a:off x="7114032" y="2880360"/>
            <a:ext cx="242316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arjeta etapa 4"/>
          <p:cNvSpPr/>
          <p:nvPr/>
        </p:nvSpPr>
        <p:spPr>
          <a:xfrm>
            <a:off x="7392924" y="1554480"/>
            <a:ext cx="1965960" cy="292608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Etapa 4 círculo"/>
          <p:cNvSpPr/>
          <p:nvPr/>
        </p:nvSpPr>
        <p:spPr>
          <a:xfrm>
            <a:off x="7621524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Etapa 4 icono" descr="Etapa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034" y="1980590"/>
            <a:ext cx="336499" cy="336499"/>
          </a:xfrm>
          <a:prstGeom prst="rect">
            <a:avLst/>
          </a:prstGeom>
        </p:spPr>
      </p:pic>
      <p:sp>
        <p:nvSpPr>
          <p:cNvPr id="24" name="Etapa 4 título"/>
          <p:cNvSpPr txBox="1"/>
          <p:nvPr/>
        </p:nvSpPr>
        <p:spPr>
          <a:xfrm>
            <a:off x="7621524" y="26974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Pruebas</a:t>
            </a:r>
            <a:endParaRPr lang="en-US" sz="1800" dirty="0"/>
          </a:p>
        </p:txBody>
      </p:sp>
      <p:sp>
        <p:nvSpPr>
          <p:cNvPr id="25" name="Etapa 4 detalle"/>
          <p:cNvSpPr txBox="1"/>
          <p:nvPr/>
        </p:nvSpPr>
        <p:spPr>
          <a:xfrm>
            <a:off x="7621524" y="34290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módulo y el sistema integrado</a:t>
            </a:r>
            <a:endParaRPr lang="en-US" sz="1400" dirty="0"/>
          </a:p>
        </p:txBody>
      </p:sp>
      <p:sp>
        <p:nvSpPr>
          <p:cNvPr id="26" name="Flecha 4"/>
          <p:cNvSpPr/>
          <p:nvPr/>
        </p:nvSpPr>
        <p:spPr>
          <a:xfrm>
            <a:off x="9395460" y="2880360"/>
            <a:ext cx="242316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arjeta etapa 5"/>
          <p:cNvSpPr/>
          <p:nvPr/>
        </p:nvSpPr>
        <p:spPr>
          <a:xfrm>
            <a:off x="9674352" y="1554480"/>
            <a:ext cx="1965960" cy="292608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Etapa 5 círculo"/>
          <p:cNvSpPr/>
          <p:nvPr/>
        </p:nvSpPr>
        <p:spPr>
          <a:xfrm>
            <a:off x="9902952" y="17830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Etapa 5 icono" descr="Etapa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0462" y="1980590"/>
            <a:ext cx="336499" cy="336499"/>
          </a:xfrm>
          <a:prstGeom prst="rect">
            <a:avLst/>
          </a:prstGeom>
        </p:spPr>
      </p:pic>
      <p:sp>
        <p:nvSpPr>
          <p:cNvPr id="30" name="Etapa 5 título"/>
          <p:cNvSpPr txBox="1"/>
          <p:nvPr/>
        </p:nvSpPr>
        <p:spPr>
          <a:xfrm>
            <a:off x="9902952" y="26974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Despliegue</a:t>
            </a:r>
            <a:endParaRPr lang="en-US" sz="1800" dirty="0"/>
          </a:p>
        </p:txBody>
      </p:sp>
      <p:sp>
        <p:nvSpPr>
          <p:cNvPr id="31" name="Etapa 5 detalle"/>
          <p:cNvSpPr txBox="1"/>
          <p:nvPr/>
        </p:nvSpPr>
        <p:spPr>
          <a:xfrm>
            <a:off x="9902952" y="34290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Puesta en marcha, soporte y mantenimiento</a:t>
            </a:r>
            <a:endParaRPr lang="en-US" sz="1400" dirty="0"/>
          </a:p>
        </p:txBody>
      </p:sp>
      <p:sp>
        <p:nvSpPr>
          <p:cNvPr id="32" name="Tarjeta meta 1"/>
          <p:cNvSpPr/>
          <p:nvPr/>
        </p:nvSpPr>
        <p:spPr>
          <a:xfrm>
            <a:off x="548640" y="4754880"/>
            <a:ext cx="5330952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3" name="Meta 1"/>
          <p:cNvSpPr txBox="1"/>
          <p:nvPr/>
        </p:nvSpPr>
        <p:spPr>
          <a:xfrm>
            <a:off x="822960" y="48920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Abril 2026 a febrero 2027</a:t>
            </a:r>
            <a:endParaRPr lang="en-US" sz="2800" dirty="0"/>
          </a:p>
        </p:txBody>
      </p:sp>
      <p:sp>
        <p:nvSpPr>
          <p:cNvPr id="34" name="Meta 1 detalle"/>
          <p:cNvSpPr txBox="1"/>
          <p:nvPr/>
        </p:nvSpPr>
        <p:spPr>
          <a:xfrm>
            <a:off x="822960" y="5532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Ciclo de trabajo planificado en el Gantt</a:t>
            </a:r>
            <a:endParaRPr lang="en-US" sz="1600" dirty="0"/>
          </a:p>
        </p:txBody>
      </p:sp>
      <p:sp>
        <p:nvSpPr>
          <p:cNvPr id="35" name="Tarjeta meta 2"/>
          <p:cNvSpPr/>
          <p:nvPr/>
        </p:nvSpPr>
        <p:spPr>
          <a:xfrm>
            <a:off x="6309360" y="4754880"/>
            <a:ext cx="5330952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Meta 2"/>
          <p:cNvSpPr txBox="1"/>
          <p:nvPr/>
        </p:nvSpPr>
        <p:spPr>
          <a:xfrm>
            <a:off x="6583680" y="48920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12 meses</a:t>
            </a:r>
            <a:endParaRPr lang="en-US" sz="2800" dirty="0"/>
          </a:p>
        </p:txBody>
      </p:sp>
      <p:sp>
        <p:nvSpPr>
          <p:cNvPr id="37" name="Meta 2 detalle"/>
          <p:cNvSpPr txBox="1"/>
          <p:nvPr/>
        </p:nvSpPr>
        <p:spPr>
          <a:xfrm>
            <a:off x="6583680" y="5532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Meta de recuperación de la inversión (escenario medio)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ortwise">
  <a:themeElements>
    <a:clrScheme name="Sportwise">
      <a:dk1>
        <a:srgbClr val="111827"/>
      </a:dk1>
      <a:lt1>
        <a:srgbClr val="FFFFFF"/>
      </a:lt1>
      <a:dk2>
        <a:srgbClr val="0E3B2E"/>
      </a:dk2>
      <a:lt2>
        <a:srgbClr val="ECF4EF"/>
      </a:lt2>
      <a:accent1>
        <a:srgbClr val="15803D"/>
      </a:accent1>
      <a:accent2>
        <a:srgbClr val="F97316"/>
      </a:accent2>
      <a:accent3>
        <a:srgbClr val="C2410C"/>
      </a:accent3>
      <a:accent4>
        <a:srgbClr val="475569"/>
      </a:accent4>
      <a:accent5>
        <a:srgbClr val="0369A1"/>
      </a:accent5>
      <a:accent6>
        <a:srgbClr val="9F1239"/>
      </a:accent6>
      <a:hlink>
        <a:srgbClr val="0369A1"/>
      </a:hlink>
      <a:folHlink>
        <a:srgbClr val="475569"/>
      </a:folHlink>
    </a:clrScheme>
    <a:fontScheme name="Sportwi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Sportwise — Presentación de avance del Proyecto Final</dc:title>
  <dc:subject>PptxGenJS Presentation</dc:subject>
  <dc:creator>PptxGenJS</dc:creator>
  <cp:lastModifiedBy>PptxGenJS</cp:lastModifiedBy>
  <cp:revision>1</cp:revision>
  <dcterms:created xsi:type="dcterms:W3CDTF">2026-10-11T18:00:02Z</dcterms:created>
  <dcterms:modified xsi:type="dcterms:W3CDTF">2026-10-11T18:00:02Z</dcterms:modified>
</cp:coreProperties>
</file>