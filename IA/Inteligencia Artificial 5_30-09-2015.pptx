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49"/>
  </p:notesMasterIdLst>
  <p:sldIdLst>
    <p:sldId id="256" r:id="rId3"/>
    <p:sldId id="269" r:id="rId4"/>
    <p:sldId id="270" r:id="rId5"/>
    <p:sldId id="271" r:id="rId6"/>
    <p:sldId id="272" r:id="rId7"/>
    <p:sldId id="273" r:id="rId8"/>
    <p:sldId id="306" r:id="rId9"/>
    <p:sldId id="308" r:id="rId10"/>
    <p:sldId id="274" r:id="rId11"/>
    <p:sldId id="275" r:id="rId12"/>
    <p:sldId id="309" r:id="rId13"/>
    <p:sldId id="276" r:id="rId14"/>
    <p:sldId id="277" r:id="rId15"/>
    <p:sldId id="278" r:id="rId16"/>
    <p:sldId id="279" r:id="rId17"/>
    <p:sldId id="280" r:id="rId18"/>
    <p:sldId id="281" r:id="rId19"/>
    <p:sldId id="311" r:id="rId20"/>
    <p:sldId id="282" r:id="rId21"/>
    <p:sldId id="283" r:id="rId22"/>
    <p:sldId id="284" r:id="rId23"/>
    <p:sldId id="315" r:id="rId24"/>
    <p:sldId id="314" r:id="rId25"/>
    <p:sldId id="318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319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5" r:id="rId43"/>
    <p:sldId id="320" r:id="rId44"/>
    <p:sldId id="300" r:id="rId45"/>
    <p:sldId id="303" r:id="rId46"/>
    <p:sldId id="301" r:id="rId47"/>
    <p:sldId id="302" r:id="rId4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FF99CC"/>
    <a:srgbClr val="FFFF99"/>
    <a:srgbClr val="99FF99"/>
    <a:srgbClr val="A3D5D9"/>
    <a:srgbClr val="0000F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7" autoAdjust="0"/>
    <p:restoredTop sz="93950" autoAdjust="0"/>
  </p:normalViewPr>
  <p:slideViewPr>
    <p:cSldViewPr>
      <p:cViewPr>
        <p:scale>
          <a:sx n="70" d="100"/>
          <a:sy n="70" d="100"/>
        </p:scale>
        <p:origin x="-1350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5CD2-6A85-40C0-A161-5194F251CEE9}" type="datetimeFigureOut">
              <a:rPr lang="es-AR" smtClean="0"/>
              <a:t>30/09/2015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1F34C-67CF-4B0C-9D3B-0B8CBE5E648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670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1F34C-67CF-4B0C-9D3B-0B8CBE5E648B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7556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1F34C-67CF-4B0C-9D3B-0B8CBE5E648B}" type="slidenum">
              <a:rPr lang="es-AR" smtClean="0"/>
              <a:t>38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805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49BB7-0FC4-4AA8-8044-F8FD06D8A533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9989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25D78E-9C6A-44E9-9CA8-EDB7262256FF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77839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2A5FF-6DC1-4489-B1BD-60A2B24B0142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4068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349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349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854784-54CA-4159-9A81-CD7504AEAD4A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64854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E935E-3E4A-4DA5-94D9-941379C69B08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403965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860D15-C5CD-48FE-99A0-93D09501A59A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84393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DA1E7A-7A98-413A-B823-4B91C5893A26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92324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0EB64-5198-44F2-BBEF-AF6170EE20BA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76523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22890-1B34-48A9-89FB-9144EFA70D01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83994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8298F-72C6-43B9-9AF1-4B0876FBABBC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57119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67531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67531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D7A55-4A6B-403F-9B78-6398D1A9CA17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033449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349750"/>
          </a:xfrm>
        </p:spPr>
        <p:txBody>
          <a:bodyPr/>
          <a:lstStyle/>
          <a:p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88125" y="62372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6D71887-A226-48B5-8D2E-A2368819C534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16804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FA1F9-2083-4859-9D78-D553FC01BE74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653377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536496-A953-4DE7-A28C-0014136B4C0F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885634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C9A387-4CA1-4A58-90D1-BAAEB3161418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461298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AB8013-E35E-4CDC-BEEF-1E2C7B9F19B6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051659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B686AB-B790-4F5B-9AA3-082556E17379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903609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6BE1EA-860C-49CD-A96D-D3E21087260F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854810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F6FDA-DDF0-475B-95B3-E338D34F6D89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0075059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3E1121-63AF-4D41-BF0D-BE4D7BBD0D40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68031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55002-FF8D-41DA-B764-43BF053B3927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4230471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F6ED3-521D-4EFF-8752-9C412F4DD83F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2999030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AA19EC-3DCF-4410-8D95-0D4FF24F5495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180213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a-fondo"/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8893175" cy="674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 smtClean="0"/>
              <a:t>Haga clic para cambiar el estilo de título	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 smtClean="0"/>
              <a:t>Haga clic para modificar el estilo de texto del patrón</a:t>
            </a:r>
          </a:p>
          <a:p>
            <a:pPr lvl="1"/>
            <a:r>
              <a:rPr lang="es-ES" altLang="es-AR" smtClean="0"/>
              <a:t>Segundo nivel</a:t>
            </a:r>
          </a:p>
          <a:p>
            <a:pPr lvl="2"/>
            <a:r>
              <a:rPr lang="es-ES" altLang="es-AR" smtClean="0"/>
              <a:t>Tercer nivel</a:t>
            </a:r>
          </a:p>
          <a:p>
            <a:pPr lvl="3"/>
            <a:r>
              <a:rPr lang="es-ES" altLang="es-AR" smtClean="0"/>
              <a:t>Cuarto nivel</a:t>
            </a:r>
          </a:p>
          <a:p>
            <a:pPr lvl="4"/>
            <a:r>
              <a:rPr lang="es-ES" altLang="es-AR" smtClean="0"/>
              <a:t>Quinto nivel</a:t>
            </a:r>
          </a:p>
        </p:txBody>
      </p:sp>
      <p:pic>
        <p:nvPicPr>
          <p:cNvPr id="4101" name="Picture 5" descr="logo-utn"/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6065838"/>
            <a:ext cx="56197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es-A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es-AR"/>
          </a:p>
        </p:txBody>
      </p:sp>
      <p:pic>
        <p:nvPicPr>
          <p:cNvPr id="4104" name="Picture 8" descr="logo-utn"/>
          <p:cNvPicPr>
            <a:picLocks noChangeAspect="1" noChangeArrowheads="1"/>
          </p:cNvPicPr>
          <p:nvPr/>
        </p:nvPicPr>
        <p:blipFill>
          <a:blip r:embed="rId1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6065838"/>
            <a:ext cx="56197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237288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EF3613E-8F66-4DCF-95B9-97A03979B8FD}" type="slidenum">
              <a:rPr lang="es-ES" altLang="es-AR"/>
              <a:pPr/>
              <a:t>‹Nº›</a:t>
            </a:fld>
            <a:endParaRPr lang="es-ES" altLang="es-AR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466725" y="6092825"/>
            <a:ext cx="8208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3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a-fondo"/>
          <p:cNvPicPr>
            <a:picLocks noChangeAspect="1" noChangeArrowheads="1"/>
          </p:cNvPicPr>
          <p:nvPr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8893175" cy="674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logo-utn"/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6065838"/>
            <a:ext cx="56197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logo-utn"/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738" y="6065838"/>
            <a:ext cx="56197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466725" y="6092825"/>
            <a:ext cx="8208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 smtClean="0"/>
              <a:t>Haga clic para cambiar el estilo de título	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 smtClean="0"/>
              <a:t>Haga clic para modificar el estilo de texto del patrón</a:t>
            </a:r>
          </a:p>
          <a:p>
            <a:pPr lvl="1"/>
            <a:r>
              <a:rPr lang="es-ES" altLang="es-AR" smtClean="0"/>
              <a:t>Segundo nivel</a:t>
            </a:r>
          </a:p>
          <a:p>
            <a:pPr lvl="2"/>
            <a:r>
              <a:rPr lang="es-ES" altLang="es-AR" smtClean="0"/>
              <a:t>Tercer nivel</a:t>
            </a:r>
          </a:p>
          <a:p>
            <a:pPr lvl="3"/>
            <a:r>
              <a:rPr lang="es-ES" altLang="es-AR" smtClean="0"/>
              <a:t>Cuarto nivel</a:t>
            </a:r>
          </a:p>
          <a:p>
            <a:pPr lvl="4"/>
            <a:r>
              <a:rPr lang="es-ES" altLang="es-AR" smtClean="0"/>
              <a:t>Quinto nivel</a:t>
            </a: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es-AR"/>
          </a:p>
        </p:txBody>
      </p:sp>
      <p:sp>
        <p:nvSpPr>
          <p:cNvPr id="615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es-AR"/>
          </a:p>
        </p:txBody>
      </p:sp>
      <p:sp>
        <p:nvSpPr>
          <p:cNvPr id="615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34DCD1-228B-4844-8193-6D1876A33AD3}" type="slidenum">
              <a:rPr lang="es-ES" altLang="es-AR"/>
              <a:pPr/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 b="1">
          <a:solidFill>
            <a:srgbClr val="666699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file:///C:\WINDOWS\Escritorio\Redes%20Neuronales2_archivos\Lineal.gi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file:///C:\WINDOWS\Escritorio\Redes%20Neuronales2_archivos\Escalon.gif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file:///C:\WINDOWS\Escritorio\Redes%20Neuronales2_archivos\Sigmoidal.gi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84213" y="371475"/>
            <a:ext cx="7772400" cy="1008063"/>
          </a:xfrm>
          <a:noFill/>
          <a:ln/>
        </p:spPr>
        <p:txBody>
          <a:bodyPr/>
          <a:lstStyle/>
          <a:p>
            <a:r>
              <a:rPr lang="es-ES_tradnl" altLang="es-AR">
                <a:solidFill>
                  <a:schemeClr val="tx1"/>
                </a:solidFill>
              </a:rPr>
              <a:t>Universidad Tecnológica Nacional</a:t>
            </a:r>
            <a:br>
              <a:rPr lang="es-ES_tradnl" altLang="es-AR">
                <a:solidFill>
                  <a:schemeClr val="tx1"/>
                </a:solidFill>
              </a:rPr>
            </a:br>
            <a:r>
              <a:rPr lang="es-ES_tradnl" altLang="es-AR">
                <a:solidFill>
                  <a:schemeClr val="tx1"/>
                </a:solidFill>
              </a:rPr>
              <a:t>Facultad Regional Rosario</a:t>
            </a:r>
            <a:endParaRPr lang="es-ES" altLang="es-AR">
              <a:solidFill>
                <a:schemeClr val="tx1"/>
              </a:solidFill>
            </a:endParaRP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771775" y="5661025"/>
            <a:ext cx="3492500" cy="576263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s-ES_tradnl" altLang="es-AR">
                <a:solidFill>
                  <a:schemeClr val="tx1"/>
                </a:solidFill>
              </a:rPr>
              <a:t>Ing. Laura Aquili</a:t>
            </a:r>
          </a:p>
          <a:p>
            <a:pPr>
              <a:lnSpc>
                <a:spcPct val="80000"/>
              </a:lnSpc>
            </a:pPr>
            <a:endParaRPr lang="es-ES" altLang="es-AR">
              <a:solidFill>
                <a:schemeClr val="tx1"/>
              </a:solidFill>
            </a:endParaRPr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2195513" y="3502025"/>
            <a:ext cx="4762500" cy="9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dirty="0" smtClean="0">
                <a:solidFill>
                  <a:schemeClr val="tx1"/>
                </a:solidFill>
              </a:rPr>
              <a:t>Redes </a:t>
            </a:r>
            <a:r>
              <a:rPr lang="es-ES_tradnl" altLang="es-AR" dirty="0">
                <a:solidFill>
                  <a:schemeClr val="tx1"/>
                </a:solidFill>
              </a:rPr>
              <a:t>Neuronales</a:t>
            </a:r>
            <a:endParaRPr lang="es-ES" altLang="es-AR" dirty="0">
              <a:solidFill>
                <a:schemeClr val="tx1"/>
              </a:solidFill>
            </a:endParaRP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1692275" y="2146300"/>
            <a:ext cx="58324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sz="4000">
                <a:solidFill>
                  <a:schemeClr val="tx1"/>
                </a:solidFill>
              </a:rPr>
              <a:t>Inteligencia Artificial</a:t>
            </a:r>
            <a:endParaRPr lang="es-ES" altLang="es-AR" sz="4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424862" cy="1223963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Modelos de computación conexionistas</a:t>
            </a:r>
            <a:br>
              <a:rPr lang="es-ES_tradnl" altLang="es-AR" sz="3200" dirty="0">
                <a:solidFill>
                  <a:schemeClr val="tx1"/>
                </a:solidFill>
              </a:rPr>
            </a:br>
            <a:r>
              <a:rPr lang="es-ES_tradnl" altLang="es-AR" sz="3200" dirty="0">
                <a:solidFill>
                  <a:schemeClr val="tx1"/>
                </a:solidFill>
              </a:rPr>
              <a:t>		      </a:t>
            </a:r>
            <a:r>
              <a:rPr lang="es-ES_tradnl" altLang="es-AR" sz="2800" dirty="0">
                <a:solidFill>
                  <a:schemeClr val="tx1"/>
                </a:solidFill>
              </a:rPr>
              <a:t>(Redes Neuronales Artificiales)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40643" name="Rectangle 3"/>
          <p:cNvSpPr>
            <a:spLocks noChangeArrowheads="1"/>
          </p:cNvSpPr>
          <p:nvPr/>
        </p:nvSpPr>
        <p:spPr bwMode="auto">
          <a:xfrm>
            <a:off x="468313" y="5229225"/>
            <a:ext cx="8135937" cy="8636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>
                <a:solidFill>
                  <a:srgbClr val="FF0000"/>
                </a:solidFill>
                <a:effectLst/>
              </a:rPr>
              <a:t>Son aproximaciones subsimbólicas                                 a la Inteligencia Artificial</a:t>
            </a:r>
            <a:endParaRPr lang="es-ES" altLang="es-AR">
              <a:solidFill>
                <a:srgbClr val="FF0000"/>
              </a:solidFill>
              <a:effectLst/>
            </a:endParaRPr>
          </a:p>
        </p:txBody>
      </p:sp>
      <p:sp>
        <p:nvSpPr>
          <p:cNvPr id="240648" name="Rectangle 8"/>
          <p:cNvSpPr>
            <a:spLocks noChangeArrowheads="1"/>
          </p:cNvSpPr>
          <p:nvPr/>
        </p:nvSpPr>
        <p:spPr bwMode="auto">
          <a:xfrm>
            <a:off x="827088" y="2133600"/>
            <a:ext cx="74168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40000"/>
              </a:spcBef>
              <a:buFontTx/>
              <a:buNone/>
            </a:pPr>
            <a:r>
              <a:rPr lang="es-ES_tradnl" altLang="es-AR">
                <a:solidFill>
                  <a:schemeClr val="tx1"/>
                </a:solidFill>
              </a:rPr>
              <a:t>Consisten en:</a:t>
            </a:r>
          </a:p>
          <a:p>
            <a:pPr>
              <a:spcBef>
                <a:spcPct val="40000"/>
              </a:spcBef>
            </a:pPr>
            <a:r>
              <a:rPr lang="es-ES_tradnl" altLang="es-AR">
                <a:solidFill>
                  <a:schemeClr val="tx1"/>
                </a:solidFill>
              </a:rPr>
              <a:t>Descubrir las características esenciales de las neuronas y sus conexiones</a:t>
            </a:r>
          </a:p>
          <a:p>
            <a:pPr>
              <a:spcBef>
                <a:spcPct val="40000"/>
              </a:spcBef>
            </a:pPr>
            <a:r>
              <a:rPr lang="es-ES_tradnl" altLang="es-AR">
                <a:solidFill>
                  <a:schemeClr val="tx1"/>
                </a:solidFill>
              </a:rPr>
              <a:t>Implementar un modelo de las mismas en una computadora</a:t>
            </a:r>
            <a:endParaRPr lang="es-ES" altLang="es-A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6632"/>
            <a:ext cx="8424862" cy="86518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Origen del Modelo conexionista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44740" name="Rectangle 4"/>
          <p:cNvSpPr>
            <a:spLocks noChangeArrowheads="1"/>
          </p:cNvSpPr>
          <p:nvPr/>
        </p:nvSpPr>
        <p:spPr bwMode="auto">
          <a:xfrm>
            <a:off x="5002213" y="1065888"/>
            <a:ext cx="34575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( McCulloch y Pitts - 1943 )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44744" name="Rectangle 8"/>
          <p:cNvSpPr>
            <a:spLocks noChangeArrowheads="1"/>
          </p:cNvSpPr>
          <p:nvPr/>
        </p:nvSpPr>
        <p:spPr bwMode="auto">
          <a:xfrm>
            <a:off x="4643438" y="1497688"/>
            <a:ext cx="3743325" cy="792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Es un dispositivo binario con varias entradas y salidas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44745" name="Rectangle 9"/>
          <p:cNvSpPr>
            <a:spLocks noChangeArrowheads="1"/>
          </p:cNvSpPr>
          <p:nvPr/>
        </p:nvSpPr>
        <p:spPr bwMode="auto">
          <a:xfrm>
            <a:off x="2051050" y="3226475"/>
            <a:ext cx="6408738" cy="1584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269875" indent="-269875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es-ES_tradnl" altLang="es-AR" sz="2000" dirty="0">
                <a:solidFill>
                  <a:schemeClr val="tx1"/>
                </a:solidFill>
              </a:rPr>
              <a:t>Un </a:t>
            </a:r>
            <a:r>
              <a:rPr lang="es-ES_tradnl" altLang="es-AR" sz="2000" dirty="0">
                <a:solidFill>
                  <a:srgbClr val="FF0000"/>
                </a:solidFill>
              </a:rPr>
              <a:t>concepto</a:t>
            </a:r>
            <a:r>
              <a:rPr lang="es-ES_tradnl" altLang="es-AR" sz="2000" dirty="0">
                <a:solidFill>
                  <a:schemeClr val="tx1"/>
                </a:solidFill>
              </a:rPr>
              <a:t> se representa en el cerebro por un conjunto de neuronas activas simultáneamente</a:t>
            </a:r>
          </a:p>
          <a:p>
            <a:pPr>
              <a:spcBef>
                <a:spcPct val="30000"/>
              </a:spcBef>
            </a:pPr>
            <a:r>
              <a:rPr lang="es-ES_tradnl" altLang="es-AR" sz="2000" dirty="0">
                <a:solidFill>
                  <a:schemeClr val="tx1"/>
                </a:solidFill>
              </a:rPr>
              <a:t>La </a:t>
            </a:r>
            <a:r>
              <a:rPr lang="es-ES_tradnl" altLang="es-AR" sz="2000" dirty="0">
                <a:solidFill>
                  <a:srgbClr val="FF0000"/>
                </a:solidFill>
              </a:rPr>
              <a:t>memoria</a:t>
            </a:r>
            <a:r>
              <a:rPr lang="es-ES_tradnl" altLang="es-AR" sz="2000" dirty="0">
                <a:solidFill>
                  <a:schemeClr val="tx1"/>
                </a:solidFill>
              </a:rPr>
              <a:t> se localiza en las conexiones entre las neuronas (sinapsis)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44746" name="Rectangle 10"/>
          <p:cNvSpPr>
            <a:spLocks noChangeArrowheads="1"/>
          </p:cNvSpPr>
          <p:nvPr/>
        </p:nvSpPr>
        <p:spPr bwMode="auto">
          <a:xfrm>
            <a:off x="5940425" y="2793088"/>
            <a:ext cx="2592388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( D. O. Hebb - 1949 )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2369733" y="1138913"/>
            <a:ext cx="2303462" cy="792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rgbClr val="FF0000"/>
                </a:solidFill>
              </a:rPr>
              <a:t>Definición de la neurona formal</a:t>
            </a:r>
            <a:endParaRPr lang="es-ES" altLang="es-AR" sz="2000">
              <a:solidFill>
                <a:srgbClr val="FF0000"/>
              </a:solidFill>
            </a:endParaRPr>
          </a:p>
        </p:txBody>
      </p:sp>
      <p:sp>
        <p:nvSpPr>
          <p:cNvPr id="244743" name="Rectangle 7"/>
          <p:cNvSpPr>
            <a:spLocks noChangeArrowheads="1"/>
          </p:cNvSpPr>
          <p:nvPr/>
        </p:nvSpPr>
        <p:spPr bwMode="auto">
          <a:xfrm>
            <a:off x="684213" y="2458137"/>
            <a:ext cx="2303462" cy="792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rgbClr val="FF0000"/>
                </a:solidFill>
              </a:rPr>
              <a:t>Ideas Fundamentales</a:t>
            </a:r>
            <a:endParaRPr lang="es-ES" altLang="es-AR" sz="2000">
              <a:solidFill>
                <a:srgbClr val="FF0000"/>
              </a:solidFill>
            </a:endParaRPr>
          </a:p>
        </p:txBody>
      </p:sp>
      <p:sp>
        <p:nvSpPr>
          <p:cNvPr id="244747" name="Rectangle 11"/>
          <p:cNvSpPr>
            <a:spLocks noChangeArrowheads="1"/>
          </p:cNvSpPr>
          <p:nvPr/>
        </p:nvSpPr>
        <p:spPr bwMode="auto">
          <a:xfrm>
            <a:off x="454541" y="5301208"/>
            <a:ext cx="8136259" cy="136815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Presentan el modo en que las neuronas memorizan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información.</a:t>
            </a:r>
          </a:p>
          <a:p>
            <a:pPr algn="ctr"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Se </a:t>
            </a:r>
            <a:r>
              <a:rPr lang="es-ES_tradnl" altLang="es-AR" sz="2000" dirty="0">
                <a:solidFill>
                  <a:schemeClr val="tx1"/>
                </a:solidFill>
              </a:rPr>
              <a:t>plasman en la famosa </a:t>
            </a:r>
            <a:r>
              <a:rPr lang="es-ES_tradnl" altLang="es-AR" sz="2000" dirty="0">
                <a:solidFill>
                  <a:srgbClr val="FF0000"/>
                </a:solidFill>
                <a:effectLst/>
              </a:rPr>
              <a:t>Regla de aprendizaje de </a:t>
            </a:r>
            <a:r>
              <a:rPr lang="es-ES_tradnl" altLang="es-AR" sz="2000" dirty="0" err="1" smtClean="0">
                <a:solidFill>
                  <a:srgbClr val="FF0000"/>
                </a:solidFill>
                <a:effectLst/>
              </a:rPr>
              <a:t>Hebb</a:t>
            </a:r>
            <a:r>
              <a:rPr lang="es-ES_tradnl" altLang="es-AR" sz="2000" dirty="0" smtClean="0">
                <a:solidFill>
                  <a:srgbClr val="FF0000"/>
                </a:solidFill>
                <a:effectLst/>
              </a:rPr>
              <a:t>:</a:t>
            </a:r>
            <a:endParaRPr lang="es-ES" altLang="es-AR" sz="2000" dirty="0">
              <a:solidFill>
                <a:schemeClr val="tx1"/>
              </a:solidFill>
            </a:endParaRPr>
          </a:p>
          <a:p>
            <a:pPr algn="ctr">
              <a:buFontTx/>
              <a:buNone/>
            </a:pPr>
            <a:r>
              <a:rPr lang="es-ES_tradnl" altLang="es-AR" sz="2000" dirty="0" smtClean="0">
                <a:solidFill>
                  <a:srgbClr val="FF0000"/>
                </a:solidFill>
                <a:effectLst/>
              </a:rPr>
              <a:t>Las </a:t>
            </a:r>
            <a:r>
              <a:rPr lang="es-ES_tradnl" altLang="es-AR" sz="2000" dirty="0">
                <a:solidFill>
                  <a:srgbClr val="FF0000"/>
                </a:solidFill>
                <a:effectLst/>
              </a:rPr>
              <a:t>conexiones entre dos neuronas se refuerzan si ambas son activadas</a:t>
            </a:r>
            <a:endParaRPr lang="es-ES" altLang="es-AR" sz="200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1 Flecha abajo"/>
          <p:cNvSpPr/>
          <p:nvPr/>
        </p:nvSpPr>
        <p:spPr>
          <a:xfrm>
            <a:off x="4355976" y="4955386"/>
            <a:ext cx="317219" cy="28746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4575" y="1557338"/>
            <a:ext cx="7056438" cy="865187"/>
          </a:xfrm>
        </p:spPr>
        <p:txBody>
          <a:bodyPr/>
          <a:lstStyle/>
          <a:p>
            <a:r>
              <a:rPr lang="es-ES_tradnl" altLang="es-AR" sz="3200" dirty="0">
                <a:solidFill>
                  <a:schemeClr val="tx1"/>
                </a:solidFill>
              </a:rPr>
              <a:t>Redes Neuronales Biológicas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45770" name="Rectangle 10"/>
          <p:cNvSpPr>
            <a:spLocks noChangeArrowheads="1"/>
          </p:cNvSpPr>
          <p:nvPr/>
        </p:nvSpPr>
        <p:spPr bwMode="auto">
          <a:xfrm>
            <a:off x="1042988" y="3427413"/>
            <a:ext cx="7056437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sz="3200" dirty="0">
                <a:solidFill>
                  <a:schemeClr val="tx1"/>
                </a:solidFill>
              </a:rPr>
              <a:t>Redes Neuronales Artificiales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45771" name="Rectangle 11"/>
          <p:cNvSpPr>
            <a:spLocks noChangeArrowheads="1"/>
          </p:cNvSpPr>
          <p:nvPr/>
        </p:nvSpPr>
        <p:spPr bwMode="auto">
          <a:xfrm>
            <a:off x="1042988" y="2492375"/>
            <a:ext cx="7129462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>
                <a:solidFill>
                  <a:srgbClr val="FF0000"/>
                </a:solidFill>
              </a:rPr>
              <a:t>vs.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45772" name="Rectangle 12"/>
          <p:cNvSpPr>
            <a:spLocks noChangeArrowheads="1"/>
          </p:cNvSpPr>
          <p:nvPr/>
        </p:nvSpPr>
        <p:spPr bwMode="auto">
          <a:xfrm>
            <a:off x="1763713" y="2276475"/>
            <a:ext cx="5688012" cy="7302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AR"/>
          </a:p>
        </p:txBody>
      </p:sp>
      <p:sp>
        <p:nvSpPr>
          <p:cNvPr id="245773" name="Rectangle 13"/>
          <p:cNvSpPr>
            <a:spLocks noChangeArrowheads="1"/>
          </p:cNvSpPr>
          <p:nvPr/>
        </p:nvSpPr>
        <p:spPr bwMode="auto">
          <a:xfrm>
            <a:off x="1763713" y="4148138"/>
            <a:ext cx="5688012" cy="7302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Neuronales Biológicas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pic>
        <p:nvPicPr>
          <p:cNvPr id="246794" name="Picture 10" descr="Figura%205-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213594"/>
            <a:ext cx="7273925" cy="3511550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791" name="Rectangle 7"/>
          <p:cNvSpPr>
            <a:spLocks noChangeArrowheads="1"/>
          </p:cNvSpPr>
          <p:nvPr/>
        </p:nvSpPr>
        <p:spPr bwMode="auto">
          <a:xfrm>
            <a:off x="4932363" y="3764707"/>
            <a:ext cx="1873250" cy="5032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NEURONA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827088" y="4941391"/>
            <a:ext cx="7416800" cy="1727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Una </a:t>
            </a:r>
            <a:r>
              <a:rPr lang="es-ES_tradnl" altLang="es-AR" sz="2100" dirty="0">
                <a:solidFill>
                  <a:schemeClr val="tx1"/>
                </a:solidFill>
              </a:rPr>
              <a:t>neurona recoge señales procedentes de otras neuronas a través 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de las 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Dendritas</a:t>
            </a: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La neurona emite impulsos de actividad eléctrica a lo largo del 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Axón</a:t>
            </a:r>
            <a:endParaRPr lang="es-ES" altLang="es-AR" sz="2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algn="l"/>
            <a:r>
              <a:rPr lang="es-ES_tradnl" altLang="es-AR" sz="3200">
                <a:solidFill>
                  <a:schemeClr val="tx1"/>
                </a:solidFill>
              </a:rPr>
              <a:t>Redes Neuronales Biológicas</a:t>
            </a:r>
            <a:endParaRPr lang="es-ES" altLang="es-AR" sz="2800">
              <a:solidFill>
                <a:schemeClr val="tx1"/>
              </a:solidFill>
            </a:endParaRPr>
          </a:p>
        </p:txBody>
      </p:sp>
      <p:pic>
        <p:nvPicPr>
          <p:cNvPr id="248838" name="Picture 6" descr="Figura%205-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8748" y="1241425"/>
            <a:ext cx="6048474" cy="2547938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6516216" y="1413594"/>
            <a:ext cx="1873250" cy="503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SINAPSIS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11560" y="4221088"/>
            <a:ext cx="7416800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Las extremidades de estas ramificaciones llegan hasta las dendritas de otras neuronas y establecen unas conexiones llamadas 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sinapsis</a:t>
            </a:r>
            <a:endParaRPr lang="es-ES_tradnl" altLang="es-AR" sz="2100" dirty="0" smtClean="0">
              <a:solidFill>
                <a:schemeClr val="tx1"/>
              </a:solidFill>
            </a:endParaRP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Se produce una transformación del impulso eléctrico en un mensaje neuroquímico, mediante la liberación de unas sustancias llamadas 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neurotransmisores</a:t>
            </a:r>
            <a:endParaRPr lang="es-ES" altLang="es-AR" sz="2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9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Neuronales Biológicas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pic>
        <p:nvPicPr>
          <p:cNvPr id="248840" name="Picture 8" descr="Figura%205-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5617" y="1401886"/>
            <a:ext cx="6336704" cy="2243138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8842" name="Rectangle 10"/>
          <p:cNvSpPr>
            <a:spLocks noChangeArrowheads="1"/>
          </p:cNvSpPr>
          <p:nvPr/>
        </p:nvSpPr>
        <p:spPr bwMode="auto">
          <a:xfrm>
            <a:off x="3995514" y="1052636"/>
            <a:ext cx="2663825" cy="503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Tasa de Disparo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11560" y="4005064"/>
            <a:ext cx="763284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El efecto de los neurotransmisores sobre la neurona receptora puede ser </a:t>
            </a:r>
            <a:r>
              <a:rPr lang="es-ES_tradnl" altLang="es-AR" sz="2100" dirty="0" err="1" smtClean="0">
                <a:solidFill>
                  <a:srgbClr val="FF0000"/>
                </a:solidFill>
              </a:rPr>
              <a:t>excitatorio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 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o 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inhibitorio</a:t>
            </a:r>
          </a:p>
          <a:p>
            <a:pPr algn="just">
              <a:spcBef>
                <a:spcPct val="40000"/>
              </a:spcBef>
            </a:pPr>
            <a:r>
              <a:rPr lang="es-ES" altLang="es-AR" sz="2100" dirty="0" smtClean="0">
                <a:solidFill>
                  <a:schemeClr val="tx1"/>
                </a:solidFill>
              </a:rPr>
              <a:t>Las señales </a:t>
            </a:r>
            <a:r>
              <a:rPr lang="es-ES" altLang="es-AR" sz="2100" dirty="0" err="1" smtClean="0">
                <a:solidFill>
                  <a:schemeClr val="tx1"/>
                </a:solidFill>
              </a:rPr>
              <a:t>excitatorias</a:t>
            </a:r>
            <a:r>
              <a:rPr lang="es-ES" altLang="es-AR" sz="2100" dirty="0" smtClean="0">
                <a:solidFill>
                  <a:schemeClr val="tx1"/>
                </a:solidFill>
              </a:rPr>
              <a:t> e inhibitorias se combinan y, en función de la estimulación total recibida, la neurona toma un cierto </a:t>
            </a:r>
            <a:r>
              <a:rPr lang="es-ES" altLang="es-AR" sz="2100" dirty="0" smtClean="0">
                <a:solidFill>
                  <a:srgbClr val="FF0000"/>
                </a:solidFill>
              </a:rPr>
              <a:t>nivel de activación </a:t>
            </a:r>
            <a:r>
              <a:rPr lang="es-ES" altLang="es-AR" sz="2100" dirty="0" smtClean="0">
                <a:solidFill>
                  <a:schemeClr val="tx1"/>
                </a:solidFill>
              </a:rPr>
              <a:t>que se traduce en la generación de breves impulsos nerviosos con una determinada </a:t>
            </a:r>
            <a:r>
              <a:rPr lang="es-ES" altLang="es-AR" sz="2100" dirty="0" smtClean="0">
                <a:solidFill>
                  <a:srgbClr val="FF0000"/>
                </a:solidFill>
              </a:rPr>
              <a:t>frecuencia de disparo</a:t>
            </a:r>
            <a:endParaRPr lang="es-ES" altLang="es-AR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85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9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Neuronales Biológicas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11560" y="1124744"/>
            <a:ext cx="7632848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La información se transmite de unas neuronas a otras y va siendo procesada a través de las conexiones sinápticas y las propias neuronas</a:t>
            </a:r>
          </a:p>
          <a:p>
            <a:pPr marL="0" indent="0" algn="just">
              <a:spcBef>
                <a:spcPct val="40000"/>
              </a:spcBef>
              <a:buNone/>
            </a:pPr>
            <a:endParaRPr lang="es-ES_tradnl" altLang="es-AR" sz="1000" dirty="0" smtClean="0">
              <a:solidFill>
                <a:schemeClr val="tx1"/>
              </a:solidFill>
            </a:endParaRP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El aprendizaje de las redes neuronales se produce mediante la variación de la fuerza o efectividad de la sinapsis</a:t>
            </a:r>
          </a:p>
          <a:p>
            <a:pPr marL="0" indent="0" algn="just">
              <a:spcBef>
                <a:spcPct val="40000"/>
              </a:spcBef>
              <a:buNone/>
            </a:pPr>
            <a:endParaRPr lang="es-ES_tradnl" altLang="es-AR" sz="1000" dirty="0" smtClean="0">
              <a:solidFill>
                <a:schemeClr val="tx1"/>
              </a:solidFill>
            </a:endParaRP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chemeClr val="tx1"/>
                </a:solidFill>
              </a:rPr>
              <a:t>La arquitectura, el tipo y la efectividad de las conexiones en un momento dado representan la memoria o estado de conocimiento de la red</a:t>
            </a:r>
          </a:p>
          <a:p>
            <a:pPr algn="just">
              <a:spcBef>
                <a:spcPct val="40000"/>
              </a:spcBef>
            </a:pPr>
            <a:endParaRPr lang="es-ES_tradnl" altLang="es-AR" sz="21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57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Neuronales Artificiales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50886" name="Rectangle 6"/>
          <p:cNvSpPr>
            <a:spLocks noChangeArrowheads="1"/>
          </p:cNvSpPr>
          <p:nvPr/>
        </p:nvSpPr>
        <p:spPr bwMode="auto">
          <a:xfrm>
            <a:off x="1187450" y="1700213"/>
            <a:ext cx="6985000" cy="180079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269875" indent="-269875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es-ES_tradnl" altLang="es-AR" sz="2000" dirty="0">
                <a:solidFill>
                  <a:schemeClr val="tx1"/>
                </a:solidFill>
              </a:rPr>
              <a:t>Sistema compuesto de elementos de procesamiento simples,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que operan en paralelo y con </a:t>
            </a:r>
            <a:r>
              <a:rPr lang="es-ES_tradnl" altLang="es-AR" sz="2000" dirty="0">
                <a:solidFill>
                  <a:schemeClr val="tx1"/>
                </a:solidFill>
              </a:rPr>
              <a:t>una función definida por:</a:t>
            </a:r>
          </a:p>
          <a:p>
            <a:pPr lvl="1">
              <a:spcBef>
                <a:spcPct val="30000"/>
              </a:spcBef>
            </a:pPr>
            <a:r>
              <a:rPr lang="es-ES_tradnl" altLang="es-AR" sz="2000" dirty="0">
                <a:solidFill>
                  <a:schemeClr val="tx1"/>
                </a:solidFill>
              </a:rPr>
              <a:t>Estructura de la red</a:t>
            </a:r>
          </a:p>
          <a:p>
            <a:pPr lvl="1">
              <a:spcBef>
                <a:spcPct val="30000"/>
              </a:spcBef>
            </a:pPr>
            <a:r>
              <a:rPr lang="es-ES_tradnl" altLang="es-AR" sz="2000" dirty="0">
                <a:solidFill>
                  <a:schemeClr val="tx1"/>
                </a:solidFill>
              </a:rPr>
              <a:t>Peso de las conexiones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50887" name="Rectangle 7"/>
          <p:cNvSpPr>
            <a:spLocks noChangeArrowheads="1"/>
          </p:cNvSpPr>
          <p:nvPr/>
        </p:nvSpPr>
        <p:spPr bwMode="auto">
          <a:xfrm>
            <a:off x="6227763" y="1268413"/>
            <a:ext cx="20161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( </a:t>
            </a:r>
            <a:r>
              <a:rPr lang="es-ES_tradnl" altLang="es-AR" sz="2000" dirty="0" err="1">
                <a:solidFill>
                  <a:schemeClr val="tx1"/>
                </a:solidFill>
              </a:rPr>
              <a:t>Darpa</a:t>
            </a:r>
            <a:r>
              <a:rPr lang="es-ES_tradnl" altLang="es-AR" sz="2000" dirty="0">
                <a:solidFill>
                  <a:schemeClr val="tx1"/>
                </a:solidFill>
              </a:rPr>
              <a:t> - 1988 )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50889" name="Rectangle 9"/>
          <p:cNvSpPr>
            <a:spLocks noChangeArrowheads="1"/>
          </p:cNvSpPr>
          <p:nvPr/>
        </p:nvSpPr>
        <p:spPr bwMode="auto">
          <a:xfrm>
            <a:off x="1187450" y="4078412"/>
            <a:ext cx="6985000" cy="1584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269875" indent="-269875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es-ES_tradnl" altLang="es-AR" sz="2000">
                <a:solidFill>
                  <a:schemeClr val="tx1"/>
                </a:solidFill>
              </a:rPr>
              <a:t>Procesador paralelo distribuído con facilidad natural para:</a:t>
            </a:r>
          </a:p>
          <a:p>
            <a:pPr lvl="1">
              <a:spcBef>
                <a:spcPct val="30000"/>
              </a:spcBef>
            </a:pPr>
            <a:r>
              <a:rPr lang="es-ES_tradnl" altLang="es-AR" sz="2000">
                <a:solidFill>
                  <a:schemeClr val="tx1"/>
                </a:solidFill>
              </a:rPr>
              <a:t>Almacenar conocimiento</a:t>
            </a:r>
          </a:p>
          <a:p>
            <a:pPr lvl="1">
              <a:spcBef>
                <a:spcPct val="30000"/>
              </a:spcBef>
            </a:pPr>
            <a:r>
              <a:rPr lang="es-ES_tradnl" altLang="es-AR" sz="2000">
                <a:solidFill>
                  <a:schemeClr val="tx1"/>
                </a:solidFill>
              </a:rPr>
              <a:t>Hacerlo utilizable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50888" name="Rectangle 8"/>
          <p:cNvSpPr>
            <a:spLocks noChangeArrowheads="1"/>
          </p:cNvSpPr>
          <p:nvPr/>
        </p:nvSpPr>
        <p:spPr bwMode="auto">
          <a:xfrm>
            <a:off x="682625" y="1412875"/>
            <a:ext cx="504825" cy="44640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RED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 NEURONAL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50890" name="Rectangle 10"/>
          <p:cNvSpPr>
            <a:spLocks noChangeArrowheads="1"/>
          </p:cNvSpPr>
          <p:nvPr/>
        </p:nvSpPr>
        <p:spPr bwMode="auto">
          <a:xfrm>
            <a:off x="6084888" y="3645024"/>
            <a:ext cx="21590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( Haykin - 1994 )</a:t>
            </a:r>
            <a:endParaRPr lang="es-ES" altLang="es-AR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Estructura de las Redes Neuronales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51912" name="Rectangle 8"/>
          <p:cNvSpPr>
            <a:spLocks noChangeArrowheads="1"/>
          </p:cNvSpPr>
          <p:nvPr/>
        </p:nvSpPr>
        <p:spPr bwMode="auto">
          <a:xfrm>
            <a:off x="468313" y="5993794"/>
            <a:ext cx="8135937" cy="5762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Se estructuran mediante Unidades de Proceso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grpSp>
        <p:nvGrpSpPr>
          <p:cNvPr id="251926" name="Group 22"/>
          <p:cNvGrpSpPr>
            <a:grpSpLocks/>
          </p:cNvGrpSpPr>
          <p:nvPr/>
        </p:nvGrpSpPr>
        <p:grpSpPr bwMode="auto">
          <a:xfrm>
            <a:off x="1116013" y="1484784"/>
            <a:ext cx="6983412" cy="4162425"/>
            <a:chOff x="703" y="754"/>
            <a:chExt cx="4399" cy="2622"/>
          </a:xfrm>
        </p:grpSpPr>
        <p:pic>
          <p:nvPicPr>
            <p:cNvPr id="251914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" y="754"/>
              <a:ext cx="4399" cy="26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1917" name="Line 13"/>
            <p:cNvSpPr>
              <a:spLocks noChangeShapeType="1"/>
            </p:cNvSpPr>
            <p:nvPr/>
          </p:nvSpPr>
          <p:spPr bwMode="auto">
            <a:xfrm>
              <a:off x="748" y="1344"/>
              <a:ext cx="454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1918" name="Line 14"/>
            <p:cNvSpPr>
              <a:spLocks noChangeShapeType="1"/>
            </p:cNvSpPr>
            <p:nvPr/>
          </p:nvSpPr>
          <p:spPr bwMode="auto">
            <a:xfrm>
              <a:off x="1338" y="1344"/>
              <a:ext cx="499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1919" name="Line 15"/>
            <p:cNvSpPr>
              <a:spLocks noChangeShapeType="1"/>
            </p:cNvSpPr>
            <p:nvPr/>
          </p:nvSpPr>
          <p:spPr bwMode="auto">
            <a:xfrm>
              <a:off x="2290" y="1434"/>
              <a:ext cx="363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1920" name="Line 16"/>
            <p:cNvSpPr>
              <a:spLocks noChangeShapeType="1"/>
            </p:cNvSpPr>
            <p:nvPr/>
          </p:nvSpPr>
          <p:spPr bwMode="auto">
            <a:xfrm>
              <a:off x="3379" y="1434"/>
              <a:ext cx="499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1921" name="Line 17"/>
            <p:cNvSpPr>
              <a:spLocks noChangeShapeType="1"/>
            </p:cNvSpPr>
            <p:nvPr/>
          </p:nvSpPr>
          <p:spPr bwMode="auto">
            <a:xfrm>
              <a:off x="1882" y="2478"/>
              <a:ext cx="544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1922" name="Line 18"/>
            <p:cNvSpPr>
              <a:spLocks noChangeShapeType="1"/>
            </p:cNvSpPr>
            <p:nvPr/>
          </p:nvSpPr>
          <p:spPr bwMode="auto">
            <a:xfrm>
              <a:off x="4604" y="1842"/>
              <a:ext cx="317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1923" name="Line 19"/>
            <p:cNvSpPr>
              <a:spLocks noChangeShapeType="1"/>
            </p:cNvSpPr>
            <p:nvPr/>
          </p:nvSpPr>
          <p:spPr bwMode="auto">
            <a:xfrm>
              <a:off x="1429" y="2568"/>
              <a:ext cx="272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A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0280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Estructura de las Redes Neuronales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381888" y="836712"/>
            <a:ext cx="8424936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rgbClr val="FF0000"/>
                </a:solidFill>
              </a:rPr>
              <a:t>Conexiones ponderadas: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 hacen el papel de las conexiones sinápticas</a:t>
            </a: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rgbClr val="FF0000"/>
                </a:solidFill>
              </a:rPr>
              <a:t>Peso Sináptico (</a:t>
            </a:r>
            <a:r>
              <a:rPr lang="es-ES_tradnl" altLang="es-AR" sz="2100" dirty="0" err="1" smtClean="0">
                <a:solidFill>
                  <a:srgbClr val="FF0000"/>
                </a:solidFill>
              </a:rPr>
              <a:t>W</a:t>
            </a:r>
            <a:r>
              <a:rPr lang="es-ES_tradnl" altLang="es-AR" sz="1400" dirty="0" err="1" smtClean="0">
                <a:solidFill>
                  <a:srgbClr val="FF0000"/>
                </a:solidFill>
              </a:rPr>
              <a:t>i</a:t>
            </a:r>
            <a:r>
              <a:rPr lang="es-ES_tradnl" altLang="es-AR" sz="2100" dirty="0" smtClean="0">
                <a:solidFill>
                  <a:srgbClr val="FF0000"/>
                </a:solidFill>
              </a:rPr>
              <a:t>):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 el peso de la conexión equivale a la fuerza de la </a:t>
            </a:r>
            <a:r>
              <a:rPr lang="es-ES_tradnl" altLang="es-AR" sz="2100" dirty="0" err="1" smtClean="0">
                <a:solidFill>
                  <a:schemeClr val="tx1"/>
                </a:solidFill>
              </a:rPr>
              <a:t>sinápsis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. El valor de los pesos y su signo define el tipo (</a:t>
            </a:r>
            <a:r>
              <a:rPr lang="es-ES_tradnl" altLang="es-AR" sz="2100" dirty="0" err="1" smtClean="0">
                <a:solidFill>
                  <a:schemeClr val="tx1"/>
                </a:solidFill>
              </a:rPr>
              <a:t>excitatorio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/inhibitorio) y la intensidad de la influencia de la conexión</a:t>
            </a: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rgbClr val="FF0000"/>
                </a:solidFill>
              </a:rPr>
              <a:t>Función de red o de Propagación: 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calcula el valor de entrada a la unidad como una suma ponderada de todas las entradas recibidas (las entradas multiplicadas por el peso de las conexiones). Equivale a la combinación de las señales </a:t>
            </a:r>
            <a:r>
              <a:rPr lang="es-ES_tradnl" altLang="es-AR" sz="2100" dirty="0" err="1" smtClean="0">
                <a:solidFill>
                  <a:schemeClr val="tx1"/>
                </a:solidFill>
              </a:rPr>
              <a:t>excitatorias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 e inhibidoras de las neuronas biológicas.</a:t>
            </a: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rgbClr val="FF0000"/>
                </a:solidFill>
              </a:rPr>
              <a:t>Función de activación: 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calcula el nivel o estado de activación de la neurona en función de la entrada total.</a:t>
            </a:r>
          </a:p>
          <a:p>
            <a:pPr algn="just">
              <a:spcBef>
                <a:spcPct val="40000"/>
              </a:spcBef>
            </a:pPr>
            <a:r>
              <a:rPr lang="es-ES_tradnl" altLang="es-AR" sz="2100" dirty="0" smtClean="0">
                <a:solidFill>
                  <a:srgbClr val="FF0000"/>
                </a:solidFill>
              </a:rPr>
              <a:t>Salida: </a:t>
            </a:r>
            <a:r>
              <a:rPr lang="es-ES_tradnl" altLang="es-AR" sz="2100" dirty="0" smtClean="0">
                <a:solidFill>
                  <a:schemeClr val="tx1"/>
                </a:solidFill>
              </a:rPr>
              <a:t>calcula la salida de la neurona en función de la activación de la misma (función identidad). Equivale a la tasa de disparo en las neuronas biológicas.</a:t>
            </a:r>
          </a:p>
        </p:txBody>
      </p:sp>
    </p:spTree>
    <p:extLst>
      <p:ext uri="{BB962C8B-B14F-4D97-AF65-F5344CB8AC3E}">
        <p14:creationId xmlns:p14="http://schemas.microsoft.com/office/powerpoint/2010/main" val="164977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951" name="Object 23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8946276"/>
              </p:ext>
            </p:extLst>
          </p:nvPr>
        </p:nvGraphicFramePr>
        <p:xfrm>
          <a:off x="5184775" y="4219575"/>
          <a:ext cx="34194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255" name="Ecuación" r:id="rId3" imgW="1993680" imgH="634680" progId="Equation.3">
                  <p:embed/>
                </p:oleObj>
              </mc:Choice>
              <mc:Fallback>
                <p:oleObj name="Ecuación" r:id="rId3" imgW="1993680" imgH="6346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4219575"/>
                        <a:ext cx="3419475" cy="10890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>
                        <a:outerShdw dist="107763" dir="2700000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Función de Red o de Propagación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graphicFrame>
        <p:nvGraphicFramePr>
          <p:cNvPr id="252949" name="Object 21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20759485"/>
              </p:ext>
            </p:extLst>
          </p:nvPr>
        </p:nvGraphicFramePr>
        <p:xfrm>
          <a:off x="5292725" y="2266950"/>
          <a:ext cx="27717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256" name="Ecuación" r:id="rId5" imgW="1371600" imgH="431640" progId="Equation.3">
                  <p:embed/>
                </p:oleObj>
              </mc:Choice>
              <mc:Fallback>
                <p:oleObj name="Ecuación" r:id="rId5" imgW="1371600" imgH="431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266950"/>
                        <a:ext cx="2771775" cy="8731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>
                        <a:outerShdw dist="107763" dir="2700000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1" name="Rectangle 3"/>
          <p:cNvSpPr>
            <a:spLocks noChangeArrowheads="1"/>
          </p:cNvSpPr>
          <p:nvPr/>
        </p:nvSpPr>
        <p:spPr bwMode="auto">
          <a:xfrm>
            <a:off x="468313" y="5588571"/>
            <a:ext cx="8135937" cy="1008781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Calcula la entrada total de la </a:t>
            </a: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neurona como una combinación de todas las entradas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52942" name="Oval 14"/>
          <p:cNvSpPr>
            <a:spLocks noChangeArrowheads="1"/>
          </p:cNvSpPr>
          <p:nvPr/>
        </p:nvSpPr>
        <p:spPr bwMode="auto">
          <a:xfrm>
            <a:off x="466725" y="1700213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" altLang="es-AR" b="1"/>
              <a:t>1</a:t>
            </a:r>
          </a:p>
        </p:txBody>
      </p:sp>
      <p:sp>
        <p:nvSpPr>
          <p:cNvPr id="252943" name="Oval 15"/>
          <p:cNvSpPr>
            <a:spLocks noChangeArrowheads="1"/>
          </p:cNvSpPr>
          <p:nvPr/>
        </p:nvSpPr>
        <p:spPr bwMode="auto">
          <a:xfrm>
            <a:off x="538163" y="3789363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2</a:t>
            </a:r>
            <a:endParaRPr lang="es-ES" altLang="es-AR" b="1"/>
          </a:p>
        </p:txBody>
      </p:sp>
      <p:sp>
        <p:nvSpPr>
          <p:cNvPr id="252945" name="Rectangle 17"/>
          <p:cNvSpPr>
            <a:spLocks noChangeArrowheads="1"/>
          </p:cNvSpPr>
          <p:nvPr/>
        </p:nvSpPr>
        <p:spPr bwMode="auto">
          <a:xfrm>
            <a:off x="1116013" y="1628775"/>
            <a:ext cx="4608512" cy="719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Función lineal de base (FLB)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52946" name="Rectangle 18"/>
          <p:cNvSpPr>
            <a:spLocks noChangeArrowheads="1"/>
          </p:cNvSpPr>
          <p:nvPr/>
        </p:nvSpPr>
        <p:spPr bwMode="auto">
          <a:xfrm>
            <a:off x="1187450" y="3716338"/>
            <a:ext cx="4895850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Función radial de base (FRB)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52947" name="Rectangle 19"/>
          <p:cNvSpPr>
            <a:spLocks noChangeArrowheads="1"/>
          </p:cNvSpPr>
          <p:nvPr/>
        </p:nvSpPr>
        <p:spPr bwMode="auto">
          <a:xfrm>
            <a:off x="1403350" y="4221163"/>
            <a:ext cx="3600450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Distancia a un determinado patrón de referencia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52944" name="Rectangle 16"/>
          <p:cNvSpPr>
            <a:spLocks noChangeArrowheads="1"/>
          </p:cNvSpPr>
          <p:nvPr/>
        </p:nvSpPr>
        <p:spPr bwMode="auto">
          <a:xfrm>
            <a:off x="1403350" y="2132013"/>
            <a:ext cx="3313113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Sumatoria ponderada de todas las entradas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5940153" y="1694470"/>
            <a:ext cx="2664097" cy="43838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Es la más utilizada</a:t>
            </a:r>
            <a:endParaRPr lang="es-ES" altLang="es-AR" sz="19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_tradnl" altLang="es-AR" sz="3200">
                <a:solidFill>
                  <a:schemeClr val="tx1"/>
                </a:solidFill>
              </a:rPr>
              <a:t>Función de Activación</a:t>
            </a:r>
            <a:endParaRPr lang="es-ES" altLang="es-AR" sz="2800">
              <a:solidFill>
                <a:schemeClr val="tx1"/>
              </a:solidFill>
            </a:endParaRPr>
          </a:p>
        </p:txBody>
      </p:sp>
      <p:sp>
        <p:nvSpPr>
          <p:cNvPr id="254982" name="Oval 6"/>
          <p:cNvSpPr>
            <a:spLocks noChangeArrowheads="1"/>
          </p:cNvSpPr>
          <p:nvPr/>
        </p:nvSpPr>
        <p:spPr bwMode="auto">
          <a:xfrm>
            <a:off x="466725" y="1700213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" altLang="es-AR" b="1"/>
              <a:t>1</a:t>
            </a:r>
          </a:p>
        </p:txBody>
      </p:sp>
      <p:sp>
        <p:nvSpPr>
          <p:cNvPr id="254984" name="Rectangle 8"/>
          <p:cNvSpPr>
            <a:spLocks noChangeArrowheads="1"/>
          </p:cNvSpPr>
          <p:nvPr/>
        </p:nvSpPr>
        <p:spPr bwMode="auto">
          <a:xfrm>
            <a:off x="1116013" y="1628775"/>
            <a:ext cx="3960812" cy="719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Funciones lineales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54987" name="Rectangle 11"/>
          <p:cNvSpPr>
            <a:spLocks noChangeArrowheads="1"/>
          </p:cNvSpPr>
          <p:nvPr/>
        </p:nvSpPr>
        <p:spPr bwMode="auto">
          <a:xfrm>
            <a:off x="1403350" y="2132013"/>
            <a:ext cx="3313113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La salida es proporcional a la entrada</a:t>
            </a:r>
            <a:endParaRPr lang="es-ES" altLang="es-AR" sz="2000">
              <a:solidFill>
                <a:schemeClr val="tx1"/>
              </a:solidFill>
            </a:endParaRPr>
          </a:p>
        </p:txBody>
      </p:sp>
      <p:pic>
        <p:nvPicPr>
          <p:cNvPr id="254990" name="Picture 14" descr="Lineal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2692400"/>
            <a:ext cx="3600450" cy="3184525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516190" y="2136838"/>
            <a:ext cx="2656210" cy="42806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Función Identidad</a:t>
            </a:r>
            <a:endParaRPr lang="es-ES" altLang="es-AR" sz="19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Función de Activación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57027" name="Oval 3"/>
          <p:cNvSpPr>
            <a:spLocks noChangeArrowheads="1"/>
          </p:cNvSpPr>
          <p:nvPr/>
        </p:nvSpPr>
        <p:spPr bwMode="auto">
          <a:xfrm>
            <a:off x="466725" y="1700213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2</a:t>
            </a:r>
            <a:endParaRPr lang="es-ES" altLang="es-AR" b="1"/>
          </a:p>
        </p:txBody>
      </p:sp>
      <p:sp>
        <p:nvSpPr>
          <p:cNvPr id="257028" name="Rectangle 4"/>
          <p:cNvSpPr>
            <a:spLocks noChangeArrowheads="1"/>
          </p:cNvSpPr>
          <p:nvPr/>
        </p:nvSpPr>
        <p:spPr bwMode="auto">
          <a:xfrm>
            <a:off x="1116013" y="1628775"/>
            <a:ext cx="3960812" cy="719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Funciones de umbral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57029" name="Rectangle 5"/>
          <p:cNvSpPr>
            <a:spLocks noChangeArrowheads="1"/>
          </p:cNvSpPr>
          <p:nvPr/>
        </p:nvSpPr>
        <p:spPr bwMode="auto">
          <a:xfrm>
            <a:off x="1403350" y="2132013"/>
            <a:ext cx="3313113" cy="201706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La salida es un valor discreto (0 o 1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) que depende de si la estimulación total supera o no un determinado valor de umbral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pic>
        <p:nvPicPr>
          <p:cNvPr id="257030" name="Picture 6" descr="Escalón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00" y="2492375"/>
            <a:ext cx="3336925" cy="3359150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444182" y="1484784"/>
            <a:ext cx="3016250" cy="8561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La función devuelve 0 por debajo del valor critico (umbral) y 1 por encima</a:t>
            </a:r>
            <a:endParaRPr lang="es-ES" altLang="es-AR" sz="1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Función de Activación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58051" name="Oval 3"/>
          <p:cNvSpPr>
            <a:spLocks noChangeArrowheads="1"/>
          </p:cNvSpPr>
          <p:nvPr/>
        </p:nvSpPr>
        <p:spPr bwMode="auto">
          <a:xfrm>
            <a:off x="466725" y="1700213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3</a:t>
            </a:r>
            <a:endParaRPr lang="es-ES" altLang="es-AR" b="1"/>
          </a:p>
        </p:txBody>
      </p:sp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1116013" y="1628775"/>
            <a:ext cx="3960812" cy="7191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Funciones no lineales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58053" name="Rectangle 5"/>
          <p:cNvSpPr>
            <a:spLocks noChangeArrowheads="1"/>
          </p:cNvSpPr>
          <p:nvPr/>
        </p:nvSpPr>
        <p:spPr bwMode="auto">
          <a:xfrm>
            <a:off x="1403350" y="2132013"/>
            <a:ext cx="3313113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La salida no es proporcional a la entrada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1116013" y="2924175"/>
            <a:ext cx="3816350" cy="1368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</a:t>
            </a:r>
            <a:r>
              <a:rPr lang="es-ES_tradnl" altLang="es-AR" sz="2000" u="sng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Sigmoidal</a:t>
            </a:r>
            <a:endParaRPr lang="es-ES_tradnl" altLang="es-AR" sz="2000" u="sng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buFontTx/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Función continua, no lineal</a:t>
            </a:r>
          </a:p>
          <a:p>
            <a:pPr algn="ctr">
              <a:buFontTx/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Posee un rango comprendido entre 0 y 1</a:t>
            </a:r>
          </a:p>
          <a:p>
            <a:pPr algn="ctr">
              <a:buFontTx/>
              <a:buNone/>
            </a:pPr>
            <a:endParaRPr lang="es-ES" altLang="es-AR" sz="2000" dirty="0">
              <a:solidFill>
                <a:schemeClr val="tx1"/>
              </a:solidFill>
            </a:endParaRPr>
          </a:p>
        </p:txBody>
      </p:sp>
      <p:pic>
        <p:nvPicPr>
          <p:cNvPr id="258055" name="Picture 7" descr="Sigmoidal"/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2565400"/>
            <a:ext cx="3527425" cy="3330575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372174" y="1564755"/>
            <a:ext cx="3016250" cy="85613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Sea cual sea la entrada la salida estará comprendida entre 0 y 1</a:t>
            </a:r>
            <a:endParaRPr lang="es-ES" altLang="es-AR" sz="1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Comparación entre RNB y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graphicFrame>
        <p:nvGraphicFramePr>
          <p:cNvPr id="262251" name="Group 10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458614"/>
              </p:ext>
            </p:extLst>
          </p:nvPr>
        </p:nvGraphicFramePr>
        <p:xfrm>
          <a:off x="612775" y="1557338"/>
          <a:ext cx="7991475" cy="4011296"/>
        </p:xfrm>
        <a:graphic>
          <a:graphicData uri="http://schemas.openxmlformats.org/drawingml/2006/table">
            <a:tbl>
              <a:tblPr/>
              <a:tblGrid>
                <a:gridCol w="4068763"/>
                <a:gridCol w="3922712"/>
              </a:tblGrid>
              <a:tr h="493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Redes Neuronales    Biológicas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Redes Neuronales Artificiales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Neuronas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Unidades de proceso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Conexiones sinápticas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Conexiones ponderadas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Efectividad de las sinapsis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Peso de las conexiones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Efecto </a:t>
                      </a:r>
                      <a:r>
                        <a:rPr kumimoji="0" lang="es-ES" altLang="es-AR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excitatorio</a:t>
                      </a: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 o inhibitorio de una conexión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Signo del peso de una conexión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Efecto combinado de las sinapsis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Función de propagación o de red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93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Activación </a:t>
                      </a: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 tasa de disparo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effectLst/>
                        <a:latin typeface="Verdana" pitchFamily="34" charset="0"/>
                        <a:ea typeface="SimSun" pitchFamily="2" charset="-122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019300" algn="l"/>
                        </a:tabLs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019300" algn="l"/>
                        </a:tabLst>
                      </a:pP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Función de activación </a:t>
                      </a: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s-ES" altLang="es-A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itchFamily="34" charset="0"/>
                          <a:ea typeface="SimSun" pitchFamily="2" charset="-122"/>
                          <a:cs typeface="Times New Roman" pitchFamily="18" charset="0"/>
                        </a:rPr>
                        <a:t> salida</a:t>
                      </a:r>
                      <a:endParaRPr kumimoji="0" lang="es-ES" altLang="es-A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itchFamily="34" charset="0"/>
                        <a:ea typeface="SimSun" pitchFamily="2" charset="-122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Formas de interconexión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64227" name="Rectangle 35"/>
          <p:cNvSpPr>
            <a:spLocks noChangeArrowheads="1"/>
          </p:cNvSpPr>
          <p:nvPr/>
        </p:nvSpPr>
        <p:spPr bwMode="auto">
          <a:xfrm>
            <a:off x="611560" y="2924945"/>
            <a:ext cx="4464496" cy="64807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800" dirty="0">
                <a:solidFill>
                  <a:srgbClr val="FF0000"/>
                </a:solidFill>
                <a:effectLst/>
              </a:rPr>
              <a:t>Número de </a:t>
            </a:r>
            <a:r>
              <a:rPr lang="es-ES_tradnl" altLang="es-AR" sz="1800" dirty="0" smtClean="0">
                <a:solidFill>
                  <a:srgbClr val="FF0000"/>
                </a:solidFill>
                <a:effectLst/>
              </a:rPr>
              <a:t>capas</a:t>
            </a:r>
          </a:p>
          <a:p>
            <a:pPr algn="ctr">
              <a:spcBef>
                <a:spcPts val="0"/>
              </a:spcBef>
              <a:buFontTx/>
              <a:buNone/>
            </a:pPr>
            <a:r>
              <a:rPr lang="es-ES_tradnl" altLang="es-AR" sz="1600" b="0" dirty="0">
                <a:solidFill>
                  <a:srgbClr val="FF0000"/>
                </a:solidFill>
                <a:effectLst/>
              </a:rPr>
              <a:t>L</a:t>
            </a:r>
            <a:r>
              <a:rPr lang="es-ES_tradnl" altLang="es-AR" sz="1600" b="0" dirty="0" smtClean="0">
                <a:solidFill>
                  <a:srgbClr val="FF0000"/>
                </a:solidFill>
                <a:effectLst/>
              </a:rPr>
              <a:t>o más usual es disponer de tres o mas capas</a:t>
            </a:r>
            <a:endParaRPr lang="es-ES" altLang="es-AR" sz="1600" b="0" dirty="0">
              <a:solidFill>
                <a:srgbClr val="FF0000"/>
              </a:solidFill>
              <a:effectLst/>
            </a:endParaRPr>
          </a:p>
        </p:txBody>
      </p:sp>
      <p:pic>
        <p:nvPicPr>
          <p:cNvPr id="264232" name="Picture 40" descr="Figura%205-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35674" y="2811884"/>
            <a:ext cx="2952750" cy="2273300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38163" y="908720"/>
            <a:ext cx="8210301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marL="0" indent="0" algn="just">
              <a:spcBef>
                <a:spcPct val="40000"/>
              </a:spcBef>
              <a:buNone/>
            </a:pPr>
            <a:r>
              <a:rPr lang="es-ES_tradnl" altLang="es-AR" sz="2100" dirty="0" smtClean="0">
                <a:solidFill>
                  <a:schemeClr val="tx1"/>
                </a:solidFill>
              </a:rPr>
              <a:t>Para diseñar una red debemos establecer como estarán conectadas unas unidades con otras y determinar los pesos de las conexiones.</a:t>
            </a:r>
          </a:p>
          <a:p>
            <a:pPr marL="0" indent="0" algn="just">
              <a:spcBef>
                <a:spcPct val="40000"/>
              </a:spcBef>
              <a:buNone/>
            </a:pPr>
            <a:r>
              <a:rPr lang="es-ES_tradnl" altLang="es-AR" sz="2100" dirty="0" smtClean="0">
                <a:solidFill>
                  <a:schemeClr val="tx1"/>
                </a:solidFill>
              </a:rPr>
              <a:t>Disponer las unidades en forma de capas </a:t>
            </a:r>
            <a:r>
              <a:rPr lang="es-ES_tradnl" altLang="es-AR" sz="2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Redes de una, dos o de más de dos capas (redes multicapa)</a:t>
            </a:r>
            <a:endParaRPr lang="es-ES_tradnl" altLang="es-AR" sz="2100" dirty="0" smtClean="0">
              <a:solidFill>
                <a:schemeClr val="tx1"/>
              </a:solidFill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508653" y="3861048"/>
            <a:ext cx="4810724" cy="2160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marL="0" indent="0" algn="just">
              <a:spcBef>
                <a:spcPct val="40000"/>
              </a:spcBef>
              <a:buNone/>
            </a:pPr>
            <a:r>
              <a:rPr lang="es-ES_tradnl" altLang="es-AR" sz="1800" dirty="0" smtClean="0">
                <a:solidFill>
                  <a:srgbClr val="FF0000"/>
                </a:solidFill>
              </a:rPr>
              <a:t>Capa de entrada: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 actúa como buffer de entrada, almacenando la información bruta suministrada a la red.</a:t>
            </a:r>
          </a:p>
          <a:p>
            <a:pPr marL="0" indent="0" algn="just">
              <a:spcBef>
                <a:spcPct val="40000"/>
              </a:spcBef>
              <a:buNone/>
            </a:pPr>
            <a:r>
              <a:rPr lang="es-ES_tradnl" altLang="es-AR" sz="1800" dirty="0" smtClean="0">
                <a:solidFill>
                  <a:srgbClr val="FF0000"/>
                </a:solidFill>
              </a:rPr>
              <a:t>Capa de salida: 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actúa como interfaz o buffer de salida</a:t>
            </a:r>
            <a:r>
              <a:rPr lang="es-ES_tradnl" altLang="es-AR" sz="1800" dirty="0">
                <a:solidFill>
                  <a:schemeClr val="tx1"/>
                </a:solidFill>
              </a:rPr>
              <a:t>, almacenando 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la respuesta de la red para que pueda ser leída.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39552" y="6021288"/>
            <a:ext cx="815821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marL="0" indent="0" algn="just">
              <a:spcBef>
                <a:spcPct val="40000"/>
              </a:spcBef>
              <a:buNone/>
            </a:pPr>
            <a:r>
              <a:rPr lang="es-ES_tradnl" altLang="es-AR" sz="1800" dirty="0" smtClean="0">
                <a:solidFill>
                  <a:srgbClr val="FF0000"/>
                </a:solidFill>
              </a:rPr>
              <a:t>Capas ocultas: 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encargadas de extraer, procesar y memorizar la información.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Formas de interconexión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64222" name="Rectangle 30"/>
          <p:cNvSpPr>
            <a:spLocks noChangeArrowheads="1"/>
          </p:cNvSpPr>
          <p:nvPr/>
        </p:nvSpPr>
        <p:spPr bwMode="auto">
          <a:xfrm>
            <a:off x="467544" y="1268760"/>
            <a:ext cx="2305050" cy="17281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Interconexión de </a:t>
            </a: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capas</a:t>
            </a:r>
          </a:p>
          <a:p>
            <a:pPr algn="ctr">
              <a:buFontTx/>
              <a:buNone/>
            </a:pPr>
            <a:r>
              <a:rPr lang="es-ES_tradnl" altLang="es-AR" sz="1800" b="0" dirty="0" smtClean="0">
                <a:solidFill>
                  <a:srgbClr val="FF0000"/>
                </a:solidFill>
                <a:effectLst/>
              </a:rPr>
              <a:t>(como se interconectan unas capas con otras)</a:t>
            </a:r>
            <a:endParaRPr lang="es-ES" altLang="es-AR" sz="1800" b="0" dirty="0">
              <a:solidFill>
                <a:srgbClr val="FF0000"/>
              </a:solidFill>
              <a:effectLst/>
            </a:endParaRPr>
          </a:p>
        </p:txBody>
      </p:sp>
      <p:sp>
        <p:nvSpPr>
          <p:cNvPr id="264223" name="Rectangle 31"/>
          <p:cNvSpPr>
            <a:spLocks noChangeArrowheads="1"/>
          </p:cNvSpPr>
          <p:nvPr/>
        </p:nvSpPr>
        <p:spPr bwMode="auto">
          <a:xfrm>
            <a:off x="3635896" y="1340768"/>
            <a:ext cx="4824536" cy="136815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rgbClr val="FF0000"/>
                </a:solidFill>
              </a:rPr>
              <a:t>Redes en cascada (</a:t>
            </a:r>
            <a:r>
              <a:rPr lang="es-ES_tradnl" altLang="es-AR" sz="2000" dirty="0" err="1" smtClean="0">
                <a:solidFill>
                  <a:srgbClr val="FF0000"/>
                </a:solidFill>
              </a:rPr>
              <a:t>feed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-forward)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La información fluye unidireccionalmente  y no se admiten conexiones </a:t>
            </a:r>
            <a:r>
              <a:rPr lang="es-ES_tradnl" altLang="es-AR" sz="2000" dirty="0" err="1" smtClean="0">
                <a:solidFill>
                  <a:schemeClr val="tx1"/>
                </a:solidFill>
              </a:rPr>
              <a:t>intracapa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.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64224" name="Rectangle 32"/>
          <p:cNvSpPr>
            <a:spLocks noChangeArrowheads="1"/>
          </p:cNvSpPr>
          <p:nvPr/>
        </p:nvSpPr>
        <p:spPr bwMode="auto">
          <a:xfrm>
            <a:off x="1475656" y="3788792"/>
            <a:ext cx="6984776" cy="16564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rgbClr val="FF0000"/>
                </a:solidFill>
              </a:rPr>
              <a:t>Redes recurrentes (</a:t>
            </a:r>
            <a:r>
              <a:rPr lang="es-ES_tradnl" altLang="es-AR" sz="2000" dirty="0" err="1">
                <a:solidFill>
                  <a:srgbClr val="FF0000"/>
                </a:solidFill>
              </a:rPr>
              <a:t>feed</a:t>
            </a:r>
            <a:r>
              <a:rPr lang="es-ES_tradnl" altLang="es-AR" sz="2000" dirty="0">
                <a:solidFill>
                  <a:srgbClr val="FF0000"/>
                </a:solidFill>
              </a:rPr>
              <a:t>-back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La información puede volver a lugares por los que ya había pasado, formando bucles , y se admiten las conexiones </a:t>
            </a:r>
            <a:r>
              <a:rPr lang="es-ES_tradnl" altLang="es-AR" sz="2000" dirty="0" err="1" smtClean="0">
                <a:solidFill>
                  <a:schemeClr val="tx1"/>
                </a:solidFill>
              </a:rPr>
              <a:t>intracapa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, incluso de una unidad consigo misma.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64225" name="Line 33"/>
          <p:cNvSpPr>
            <a:spLocks noChangeShapeType="1"/>
          </p:cNvSpPr>
          <p:nvPr/>
        </p:nvSpPr>
        <p:spPr bwMode="auto">
          <a:xfrm>
            <a:off x="1763688" y="3206509"/>
            <a:ext cx="35877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4226" name="Line 34"/>
          <p:cNvSpPr>
            <a:spLocks noChangeShapeType="1"/>
          </p:cNvSpPr>
          <p:nvPr/>
        </p:nvSpPr>
        <p:spPr bwMode="auto">
          <a:xfrm>
            <a:off x="2913708" y="1772940"/>
            <a:ext cx="576262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990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Formas de interconexión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66243" name="Rectangle 3"/>
          <p:cNvSpPr>
            <a:spLocks noChangeArrowheads="1"/>
          </p:cNvSpPr>
          <p:nvPr/>
        </p:nvSpPr>
        <p:spPr bwMode="auto">
          <a:xfrm>
            <a:off x="539552" y="4869160"/>
            <a:ext cx="2305050" cy="117885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Desde una Aproximación </a:t>
            </a:r>
            <a:r>
              <a:rPr lang="es-ES_tradnl" altLang="es-AR" dirty="0">
                <a:solidFill>
                  <a:srgbClr val="FF0000"/>
                </a:solidFill>
                <a:effectLst/>
              </a:rPr>
              <a:t>temporal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66244" name="Rectangle 4"/>
          <p:cNvSpPr>
            <a:spLocks noChangeArrowheads="1"/>
          </p:cNvSpPr>
          <p:nvPr/>
        </p:nvSpPr>
        <p:spPr bwMode="auto">
          <a:xfrm>
            <a:off x="3492028" y="4509046"/>
            <a:ext cx="2924884" cy="79216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Conexiones sin </a:t>
            </a:r>
            <a:endParaRPr lang="es-ES_tradnl" altLang="es-AR" sz="2000" dirty="0" smtClean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retardo</a:t>
            </a:r>
            <a:endParaRPr lang="es-ES" altLang="es-AR" sz="20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6247" name="Line 7"/>
          <p:cNvSpPr>
            <a:spLocks noChangeShapeType="1"/>
          </p:cNvSpPr>
          <p:nvPr/>
        </p:nvSpPr>
        <p:spPr bwMode="auto">
          <a:xfrm flipV="1">
            <a:off x="2987825" y="4869160"/>
            <a:ext cx="432196" cy="4327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6248" name="Rectangle 8"/>
          <p:cNvSpPr>
            <a:spLocks noChangeArrowheads="1"/>
          </p:cNvSpPr>
          <p:nvPr/>
        </p:nvSpPr>
        <p:spPr bwMode="auto">
          <a:xfrm>
            <a:off x="468313" y="1916113"/>
            <a:ext cx="2160587" cy="8651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Conexiones </a:t>
            </a:r>
            <a:r>
              <a:rPr lang="es-ES_tradnl" altLang="es-AR" dirty="0">
                <a:solidFill>
                  <a:srgbClr val="FF0000"/>
                </a:solidFill>
                <a:effectLst/>
              </a:rPr>
              <a:t>entre 2 capas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66250" name="Line 10"/>
          <p:cNvSpPr>
            <a:spLocks noChangeShapeType="1"/>
          </p:cNvSpPr>
          <p:nvPr/>
        </p:nvSpPr>
        <p:spPr bwMode="auto">
          <a:xfrm flipV="1">
            <a:off x="2700338" y="2058988"/>
            <a:ext cx="64770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6252" name="Line 12"/>
          <p:cNvSpPr>
            <a:spLocks noChangeShapeType="1"/>
          </p:cNvSpPr>
          <p:nvPr/>
        </p:nvSpPr>
        <p:spPr bwMode="auto">
          <a:xfrm>
            <a:off x="2700338" y="2563813"/>
            <a:ext cx="576262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6253" name="Rectangle 13"/>
          <p:cNvSpPr>
            <a:spLocks noChangeArrowheads="1"/>
          </p:cNvSpPr>
          <p:nvPr/>
        </p:nvSpPr>
        <p:spPr bwMode="auto">
          <a:xfrm>
            <a:off x="3419599" y="1196752"/>
            <a:ext cx="5112841" cy="10795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Totales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Cada unidad se conecta con todas las unidades de la capa siguiente</a:t>
            </a:r>
            <a:endParaRPr lang="es-ES" altLang="es-AR" sz="2000" dirty="0">
              <a:solidFill>
                <a:schemeClr val="bg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66254" name="Rectangle 14"/>
          <p:cNvSpPr>
            <a:spLocks noChangeArrowheads="1"/>
          </p:cNvSpPr>
          <p:nvPr/>
        </p:nvSpPr>
        <p:spPr bwMode="auto">
          <a:xfrm>
            <a:off x="3419599" y="2492896"/>
            <a:ext cx="5112841" cy="10795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Parciales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" altLang="es-AR" sz="2000" dirty="0" smtClean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Una unidad se conecta con solo algunas unidades de la capa siguiente</a:t>
            </a:r>
            <a:endParaRPr lang="es-ES" altLang="es-AR" sz="2000" dirty="0">
              <a:solidFill>
                <a:schemeClr val="bg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66255" name="Rectangle 15"/>
          <p:cNvSpPr>
            <a:spLocks noChangeArrowheads="1"/>
          </p:cNvSpPr>
          <p:nvPr/>
        </p:nvSpPr>
        <p:spPr bwMode="auto">
          <a:xfrm>
            <a:off x="3536592" y="5445224"/>
            <a:ext cx="2880320" cy="792163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Conexiones con retardo</a:t>
            </a:r>
            <a:endParaRPr lang="es-ES" altLang="es-AR" sz="20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2987824" y="5517232"/>
            <a:ext cx="504204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8" name="Rectangle 4"/>
          <p:cNvSpPr>
            <a:spLocks noChangeArrowheads="1"/>
          </p:cNvSpPr>
          <p:nvPr/>
        </p:nvSpPr>
        <p:spPr bwMode="auto">
          <a:xfrm>
            <a:off x="755650" y="1412875"/>
            <a:ext cx="1873250" cy="792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Aprendizaje inductivo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67276" name="Rectangle 12"/>
          <p:cNvSpPr>
            <a:spLocks noChangeArrowheads="1"/>
          </p:cNvSpPr>
          <p:nvPr/>
        </p:nvSpPr>
        <p:spPr bwMode="auto">
          <a:xfrm>
            <a:off x="4933950" y="1125538"/>
            <a:ext cx="2159000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Generalización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7277" name="Rectangle 13"/>
          <p:cNvSpPr>
            <a:spLocks noChangeArrowheads="1"/>
          </p:cNvSpPr>
          <p:nvPr/>
        </p:nvSpPr>
        <p:spPr bwMode="auto">
          <a:xfrm>
            <a:off x="5940425" y="3644900"/>
            <a:ext cx="2159000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Abstracción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7278" name="Rectangle 14"/>
          <p:cNvSpPr>
            <a:spLocks noChangeArrowheads="1"/>
          </p:cNvSpPr>
          <p:nvPr/>
        </p:nvSpPr>
        <p:spPr bwMode="auto">
          <a:xfrm>
            <a:off x="539750" y="3860800"/>
            <a:ext cx="2159000" cy="792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Procesamiento paralelo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7279" name="Rectangle 15"/>
          <p:cNvSpPr>
            <a:spLocks noChangeArrowheads="1"/>
          </p:cNvSpPr>
          <p:nvPr/>
        </p:nvSpPr>
        <p:spPr bwMode="auto">
          <a:xfrm>
            <a:off x="3924300" y="4508500"/>
            <a:ext cx="1871663" cy="7921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Memoria distribuida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7281" name="Oval 17"/>
          <p:cNvSpPr>
            <a:spLocks noChangeArrowheads="1"/>
          </p:cNvSpPr>
          <p:nvPr/>
        </p:nvSpPr>
        <p:spPr bwMode="auto">
          <a:xfrm>
            <a:off x="2628900" y="2205038"/>
            <a:ext cx="3455988" cy="143986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txBody>
          <a:bodyPr/>
          <a:lstStyle/>
          <a:p>
            <a:pPr algn="ctr"/>
            <a:r>
              <a:rPr lang="es-ES_tradnl" altLang="es-AR" sz="2400" b="1">
                <a:solidFill>
                  <a:srgbClr val="FF0000"/>
                </a:solidFill>
              </a:rPr>
              <a:t>Características de las RNA</a:t>
            </a:r>
            <a:endParaRPr lang="es-ES" altLang="es-AR" sz="2400" b="1">
              <a:solidFill>
                <a:srgbClr val="FF0000"/>
              </a:solidFill>
            </a:endParaRPr>
          </a:p>
        </p:txBody>
      </p:sp>
      <p:sp>
        <p:nvSpPr>
          <p:cNvPr id="267282" name="Line 18"/>
          <p:cNvSpPr>
            <a:spLocks noChangeShapeType="1"/>
          </p:cNvSpPr>
          <p:nvPr/>
        </p:nvSpPr>
        <p:spPr bwMode="auto">
          <a:xfrm flipV="1">
            <a:off x="5219700" y="1700213"/>
            <a:ext cx="433388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7283" name="Line 19"/>
          <p:cNvSpPr>
            <a:spLocks noChangeShapeType="1"/>
          </p:cNvSpPr>
          <p:nvPr/>
        </p:nvSpPr>
        <p:spPr bwMode="auto">
          <a:xfrm>
            <a:off x="6011863" y="3286125"/>
            <a:ext cx="360362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7284" name="Line 20"/>
          <p:cNvSpPr>
            <a:spLocks noChangeShapeType="1"/>
          </p:cNvSpPr>
          <p:nvPr/>
        </p:nvSpPr>
        <p:spPr bwMode="auto">
          <a:xfrm>
            <a:off x="4643438" y="3717925"/>
            <a:ext cx="215900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7285" name="Line 21"/>
          <p:cNvSpPr>
            <a:spLocks noChangeShapeType="1"/>
          </p:cNvSpPr>
          <p:nvPr/>
        </p:nvSpPr>
        <p:spPr bwMode="auto">
          <a:xfrm flipH="1">
            <a:off x="2195513" y="3284538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67286" name="Line 22"/>
          <p:cNvSpPr>
            <a:spLocks noChangeShapeType="1"/>
          </p:cNvSpPr>
          <p:nvPr/>
        </p:nvSpPr>
        <p:spPr bwMode="auto">
          <a:xfrm flipH="1" flipV="1">
            <a:off x="2771775" y="1989138"/>
            <a:ext cx="504825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pPr algn="l"/>
            <a:r>
              <a:rPr lang="es-ES_tradnl" altLang="es-AR" sz="3200" dirty="0" smtClean="0">
                <a:solidFill>
                  <a:schemeClr val="tx1"/>
                </a:solidFill>
              </a:rPr>
              <a:t>Características de </a:t>
            </a:r>
            <a:r>
              <a:rPr lang="es-ES_tradnl" altLang="es-AR" sz="3200" dirty="0">
                <a:solidFill>
                  <a:schemeClr val="tx1"/>
                </a:solidFill>
              </a:rPr>
              <a:t>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51520" y="908720"/>
            <a:ext cx="864096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es-ES_tradnl" altLang="es-AR" sz="2000" dirty="0">
                <a:solidFill>
                  <a:srgbClr val="FF0000"/>
                </a:solidFill>
              </a:rPr>
              <a:t>Aprendizaje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inductivo: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no se le indican las reglas para dar una solución, sino que extrae  sus propias reglas a partir de los ejemplos de aprendizaje, modifican su comportamiento en función de la experiencia.</a:t>
            </a: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Generalización: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una vez entrenada, se le pueden presentar a la red datos distintos a los usados durante el aprendizaje. La respuesta dependerá del parecido de los datos con los ejemplos de entrenamiento.</a:t>
            </a: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Abstracción o tolerancia al ruido: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pueden procesar correctamente  datos incompletos o distorsionados, ya que son capaces de extraer las características esenciales de las entradas aprendidas.</a:t>
            </a: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Procesamiento paralelo: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la estructura y modo de operación de las RNA las hace especialmente adecuadas para el procesamiento paralelo mediante multiprocesadores.</a:t>
            </a: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Memoria distribuida: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una RNA es capaz de seguir funcionando adecuadamente a pesar de sufrir lesiones con destrucción de neuronas o sus conexiones, ya que la información se halla distribuida en toda la red </a:t>
            </a:r>
            <a:r>
              <a:rPr lang="es-ES_tradnl" altLang="es-AR" sz="20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Tolerancia a fallos</a:t>
            </a:r>
            <a:endParaRPr lang="es-ES_tradnl" altLang="es-AR" sz="2000" dirty="0" smtClean="0">
              <a:solidFill>
                <a:srgbClr val="FF0000"/>
              </a:solidFill>
            </a:endParaRPr>
          </a:p>
          <a:p>
            <a:pPr algn="just">
              <a:spcBef>
                <a:spcPct val="0"/>
              </a:spcBef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_tradnl" altLang="es-AR" sz="20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" altLang="es-AR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Ventajas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68298" name="Rectangle 10"/>
          <p:cNvSpPr>
            <a:spLocks noChangeArrowheads="1"/>
          </p:cNvSpPr>
          <p:nvPr/>
        </p:nvSpPr>
        <p:spPr bwMode="auto">
          <a:xfrm>
            <a:off x="1546225" y="1701800"/>
            <a:ext cx="1871663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Aprendizaje adaptativo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68301" name="Rectangle 13"/>
          <p:cNvSpPr>
            <a:spLocks noChangeArrowheads="1"/>
          </p:cNvSpPr>
          <p:nvPr/>
        </p:nvSpPr>
        <p:spPr bwMode="auto">
          <a:xfrm>
            <a:off x="2409825" y="2420938"/>
            <a:ext cx="1871663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Auto-organización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8302" name="Rectangle 14"/>
          <p:cNvSpPr>
            <a:spLocks noChangeArrowheads="1"/>
          </p:cNvSpPr>
          <p:nvPr/>
        </p:nvSpPr>
        <p:spPr bwMode="auto">
          <a:xfrm>
            <a:off x="3273425" y="3141663"/>
            <a:ext cx="1871663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Tolerancia a fallos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8303" name="Rectangle 15"/>
          <p:cNvSpPr>
            <a:spLocks noChangeArrowheads="1"/>
          </p:cNvSpPr>
          <p:nvPr/>
        </p:nvSpPr>
        <p:spPr bwMode="auto">
          <a:xfrm>
            <a:off x="4210050" y="3716338"/>
            <a:ext cx="1871663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Operación en tiempo real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68304" name="Rectangle 16"/>
          <p:cNvSpPr>
            <a:spLocks noChangeArrowheads="1"/>
          </p:cNvSpPr>
          <p:nvPr/>
        </p:nvSpPr>
        <p:spPr bwMode="auto">
          <a:xfrm>
            <a:off x="5075238" y="4437063"/>
            <a:ext cx="2592387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Fácil inserción en la tecnología actual</a:t>
            </a:r>
            <a:endParaRPr lang="es-ES" altLang="es-AR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98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Ventajas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51520" y="980728"/>
            <a:ext cx="8640960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es-ES_tradnl" altLang="es-AR" sz="2000" dirty="0">
                <a:solidFill>
                  <a:srgbClr val="FF0000"/>
                </a:solidFill>
              </a:rPr>
              <a:t>Aprendizaje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adaptativo: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capacidad de aprender a realizar tareas basadas en un entrenamiento con ejemplos ilustrativos o en una experiencia inicial. Se requiere un buen </a:t>
            </a:r>
            <a:r>
              <a:rPr lang="es-ES_tradnl" altLang="es-AR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algoritmo de aprendizaje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que le proporcione a la red la capacidad de discriminar, aprender a diferenciar  patrones mediante ejemplos y entrenamientos.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s-ES_tradnl" altLang="es-AR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Una RN genera su propia distribución de pesos en los enlaces mediante el aprendizaje.</a:t>
            </a:r>
          </a:p>
          <a:p>
            <a:pPr algn="just">
              <a:spcBef>
                <a:spcPct val="0"/>
              </a:spcBef>
            </a:pPr>
            <a:endParaRPr lang="es-ES_tradnl" altLang="es-AR" sz="2000" dirty="0" smtClean="0">
              <a:solidFill>
                <a:srgbClr val="FF0000"/>
              </a:solidFill>
            </a:endParaRP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Auto-organización: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una RN puede crear su propia organización o representación de la información que recibe durante el aprendizaje.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       Provoca la </a:t>
            </a:r>
            <a:r>
              <a:rPr lang="es-ES_tradnl" altLang="es-AR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Generalización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: facultad de las RN de responder 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     apropiadamente cuando se les presentan datos o situaciones a 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     las que no había sido expuesta anteriormente.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       Cuando la información de entrada no es muy clara o esta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     especificada en forma incompleta, el sistema puede </a:t>
            </a:r>
            <a:r>
              <a:rPr lang="es-ES_tradnl" altLang="es-AR" sz="2000" dirty="0">
                <a:solidFill>
                  <a:schemeClr val="tx1"/>
                </a:solidFill>
              </a:rPr>
              <a:t>generalizar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la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     </a:t>
            </a:r>
            <a:r>
              <a:rPr lang="es-ES_tradnl" altLang="es-AR" sz="2000" dirty="0">
                <a:solidFill>
                  <a:schemeClr val="tx1"/>
                </a:solidFill>
              </a:rPr>
              <a:t>entrada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para obtener </a:t>
            </a:r>
            <a:r>
              <a:rPr lang="es-ES_tradnl" altLang="es-AR" sz="2000" dirty="0">
                <a:solidFill>
                  <a:schemeClr val="tx1"/>
                </a:solidFill>
              </a:rPr>
              <a:t>una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respuesta.</a:t>
            </a:r>
            <a:endParaRPr lang="es-ES_tradnl" altLang="es-AR" sz="2000" dirty="0">
              <a:solidFill>
                <a:srgbClr val="FF0000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" altLang="es-A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91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706090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Ventajas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51520" y="908720"/>
            <a:ext cx="864096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Tolerancia a fallos: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dado que las RN tienen su información distribuida en las conexiones entre neuronas, existiendo cierta redundancia en este tipo de almacenamiento.</a:t>
            </a:r>
          </a:p>
          <a:p>
            <a:pPr marL="0" indent="0" algn="just">
              <a:spcBef>
                <a:spcPct val="0"/>
              </a:spcBef>
              <a:buNone/>
            </a:pPr>
            <a:endParaRPr lang="es-ES_tradnl" altLang="es-AR" sz="500" dirty="0">
              <a:solidFill>
                <a:schemeClr val="tx1"/>
              </a:solidFill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Las redes pueden aprender a reconocer patrones con ruido, distorsionados o incompletos </a:t>
            </a:r>
            <a:r>
              <a:rPr lang="es-ES_tradnl" altLang="es-AR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s-ES_tradnl" altLang="es-AR" sz="2000" dirty="0" smtClean="0">
                <a:solidFill>
                  <a:schemeClr val="bg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Tolerancia a fallos respecto a los datos</a:t>
            </a:r>
            <a:endParaRPr lang="es-ES_tradnl" altLang="es-AR" sz="20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es-ES_tradnl" altLang="es-AR" sz="500" dirty="0" smtClean="0">
              <a:solidFill>
                <a:schemeClr val="tx1"/>
              </a:solidFill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Las redes pueden seguir realizando su función (con cierta degradación de su estructura) aunque se destruya parte de la red.</a:t>
            </a:r>
            <a:endParaRPr lang="es-ES_tradnl" altLang="es-AR" sz="20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Operación en tiempo real: </a:t>
            </a:r>
            <a:r>
              <a:rPr lang="es-ES_tradnl" altLang="es-AR" sz="2000" dirty="0">
                <a:solidFill>
                  <a:schemeClr val="tx1"/>
                </a:solidFill>
              </a:rPr>
              <a:t>l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os cómputos neuronales pueden ser realizados en paralelo </a:t>
            </a:r>
            <a:r>
              <a:rPr lang="es-ES_tradnl" altLang="es-AR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Procesos con datos muy rápidos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(maquinas con hardware especial)</a:t>
            </a:r>
          </a:p>
          <a:p>
            <a:pPr algn="just">
              <a:spcBef>
                <a:spcPct val="0"/>
              </a:spcBef>
            </a:pPr>
            <a:endParaRPr lang="es-ES_tradnl" altLang="es-AR" sz="2000" dirty="0" smtClean="0">
              <a:solidFill>
                <a:srgbClr val="FF0000"/>
              </a:solidFill>
            </a:endParaRPr>
          </a:p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rgbClr val="FF0000"/>
                </a:solidFill>
              </a:rPr>
              <a:t>Fácil inserción dentro de la tecnología existente: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se diseñan chips especiales para RN que mejoran su capacidad en ciertas tareas. Con la </a:t>
            </a:r>
            <a:r>
              <a:rPr lang="es-ES_tradnl" altLang="es-AR" sz="2000" dirty="0" err="1" smtClean="0">
                <a:solidFill>
                  <a:schemeClr val="tx1"/>
                </a:solidFill>
              </a:rPr>
              <a:t>tecnogía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existente una red puede ser rápidamente entrenada, comprobada, verificada y trasladada a una implementación hardware de bajo costo.</a:t>
            </a:r>
          </a:p>
          <a:p>
            <a:pPr algn="just">
              <a:spcBef>
                <a:spcPct val="0"/>
              </a:spcBef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</a:pPr>
            <a:endParaRPr lang="es-ES_tradnl" altLang="es-AR" sz="20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" altLang="es-A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74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Desventajas de las RNA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51520" y="3356992"/>
            <a:ext cx="8640960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1557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922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4288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654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5226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798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4370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942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es-ES_tradnl" altLang="es-AR" sz="2000" dirty="0" smtClean="0">
                <a:solidFill>
                  <a:schemeClr val="tx1"/>
                </a:solidFill>
              </a:rPr>
              <a:t>Requiere la </a:t>
            </a:r>
            <a:r>
              <a:rPr lang="es-ES_tradnl" altLang="es-AR" sz="2000" dirty="0">
                <a:solidFill>
                  <a:srgbClr val="FF0000"/>
                </a:solidFill>
              </a:rPr>
              <a:t>D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efinición </a:t>
            </a:r>
            <a:r>
              <a:rPr lang="es-ES_tradnl" altLang="es-AR" sz="2000" dirty="0">
                <a:solidFill>
                  <a:srgbClr val="FF0000"/>
                </a:solidFill>
              </a:rPr>
              <a:t>de muchos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parámetros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antes de poder aplicar la metodología. 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    Por ejemplo, decidir la arquitectura más apropiada, el número de 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     capas ocultas, de nodos por capa, las interconexiones, etc.</a:t>
            </a:r>
          </a:p>
          <a:p>
            <a:pPr marL="0" indent="0" algn="just">
              <a:spcBef>
                <a:spcPct val="0"/>
              </a:spcBef>
              <a:buNone/>
            </a:pPr>
            <a:endParaRPr lang="es-ES" altLang="es-AR" sz="2000" dirty="0" smtClean="0">
              <a:solidFill>
                <a:srgbClr val="FF0000"/>
              </a:solidFill>
            </a:endParaRPr>
          </a:p>
          <a:p>
            <a:pPr algn="just">
              <a:spcBef>
                <a:spcPct val="0"/>
              </a:spcBef>
            </a:pPr>
            <a:r>
              <a:rPr lang="es-ES" altLang="es-AR" sz="2000" dirty="0" smtClean="0">
                <a:solidFill>
                  <a:schemeClr val="tx1"/>
                </a:solidFill>
              </a:rPr>
              <a:t>No ofrecen una interpretación fácil. En lugar de ser un sistema de apoyo a la decisión, la </a:t>
            </a:r>
            <a:r>
              <a:rPr lang="es-ES" altLang="es-AR" sz="2000" dirty="0" smtClean="0">
                <a:solidFill>
                  <a:srgbClr val="FF0000"/>
                </a:solidFill>
              </a:rPr>
              <a:t>Caja negra</a:t>
            </a:r>
            <a:r>
              <a:rPr lang="es-ES" altLang="es-AR" sz="2000" dirty="0" smtClean="0">
                <a:solidFill>
                  <a:schemeClr val="tx1"/>
                </a:solidFill>
              </a:rPr>
              <a:t> se puede convertir en el “tomador” de la decisión.</a:t>
            </a:r>
            <a:endParaRPr lang="es-ES_tradnl" altLang="es-AR" sz="2000" dirty="0" smtClean="0">
              <a:solidFill>
                <a:schemeClr val="tx1"/>
              </a:solidFill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s-ES_tradnl" altLang="es-AR" sz="2000" dirty="0" smtClean="0">
                <a:solidFill>
                  <a:schemeClr val="tx1"/>
                </a:solidFill>
              </a:rPr>
              <a:t>       Por ejemplo, al denegar un crédito.</a:t>
            </a:r>
            <a:endParaRPr lang="es-ES_tradnl" altLang="es-AR" sz="2000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_tradnl" altLang="es-AR" sz="2000" dirty="0" smtClean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483768" y="1342206"/>
            <a:ext cx="3455987" cy="10795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chemeClr val="tx1"/>
                </a:solidFill>
              </a:rPr>
              <a:t>Definición de muchos parámetros</a:t>
            </a:r>
            <a:endParaRPr lang="es-ES" altLang="es-AR">
              <a:solidFill>
                <a:schemeClr val="tx1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642768" y="2061344"/>
            <a:ext cx="1944687" cy="8636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chemeClr val="tx1"/>
                </a:solidFill>
              </a:rPr>
              <a:t>Caja negra</a:t>
            </a:r>
            <a:endParaRPr lang="es-ES" altLang="es-A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6632"/>
            <a:ext cx="8424862" cy="86518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Mecanismos de Aprendizaje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1656655" y="4869160"/>
            <a:ext cx="7235825" cy="89222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30000"/>
              </a:spcBef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El proceso de aprendizaje finaliza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(la red ha aprendido) cuando </a:t>
            </a:r>
            <a:r>
              <a:rPr lang="es-ES_tradnl" altLang="es-AR" sz="2000" dirty="0">
                <a:solidFill>
                  <a:schemeClr val="tx1"/>
                </a:solidFill>
              </a:rPr>
              <a:t>los valores de los pesos permanecen estables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70342" name="Rectangle 6"/>
          <p:cNvSpPr>
            <a:spLocks noChangeArrowheads="1"/>
          </p:cNvSpPr>
          <p:nvPr/>
        </p:nvSpPr>
        <p:spPr bwMode="auto">
          <a:xfrm>
            <a:off x="4211960" y="1052736"/>
            <a:ext cx="4679950" cy="136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None/>
            </a:pPr>
            <a:r>
              <a:rPr lang="es-ES_tradnl" altLang="es-AR" sz="2800" dirty="0">
                <a:solidFill>
                  <a:srgbClr val="FF0000"/>
                </a:solidFill>
              </a:rPr>
              <a:t>Aprendizaje on-line</a:t>
            </a:r>
            <a:endParaRPr lang="es-ES" altLang="es-AR" sz="2800" dirty="0">
              <a:solidFill>
                <a:srgbClr val="FF0000"/>
              </a:solidFill>
            </a:endParaRPr>
          </a:p>
          <a:p>
            <a:pPr algn="ctr">
              <a:buFontTx/>
              <a:buNone/>
            </a:pPr>
            <a:r>
              <a:rPr lang="es-ES_tradnl" altLang="es-AR" sz="2300" dirty="0" smtClean="0">
                <a:solidFill>
                  <a:schemeClr val="tx1"/>
                </a:solidFill>
              </a:rPr>
              <a:t>La </a:t>
            </a:r>
            <a:r>
              <a:rPr lang="es-ES_tradnl" altLang="es-AR" sz="2300" dirty="0">
                <a:solidFill>
                  <a:schemeClr val="tx1"/>
                </a:solidFill>
              </a:rPr>
              <a:t>red puede aprender </a:t>
            </a:r>
            <a:r>
              <a:rPr lang="es-ES_tradnl" altLang="es-AR" sz="2300" dirty="0" smtClean="0">
                <a:solidFill>
                  <a:schemeClr val="tx1"/>
                </a:solidFill>
              </a:rPr>
              <a:t>durante su </a:t>
            </a:r>
            <a:r>
              <a:rPr lang="es-ES_tradnl" altLang="es-AR" sz="2300" dirty="0">
                <a:solidFill>
                  <a:schemeClr val="tx1"/>
                </a:solidFill>
              </a:rPr>
              <a:t>funcionamiento habitual</a:t>
            </a:r>
            <a:endParaRPr lang="es-ES" altLang="es-AR" sz="2300" dirty="0">
              <a:solidFill>
                <a:schemeClr val="tx1"/>
              </a:solidFill>
            </a:endParaRPr>
          </a:p>
        </p:txBody>
      </p:sp>
      <p:sp>
        <p:nvSpPr>
          <p:cNvPr id="270345" name="Rectangle 9"/>
          <p:cNvSpPr>
            <a:spLocks noChangeArrowheads="1"/>
          </p:cNvSpPr>
          <p:nvPr/>
        </p:nvSpPr>
        <p:spPr bwMode="auto">
          <a:xfrm>
            <a:off x="323850" y="5833885"/>
            <a:ext cx="8496300" cy="8636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El aprendizaje es el proceso por el cual una RNA cambia sus pesos en respuesta a una información de entrada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70348" name="Rectangle 12"/>
          <p:cNvSpPr>
            <a:spLocks noChangeArrowheads="1"/>
          </p:cNvSpPr>
          <p:nvPr/>
        </p:nvSpPr>
        <p:spPr bwMode="auto">
          <a:xfrm>
            <a:off x="217940" y="2492896"/>
            <a:ext cx="7162372" cy="2088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None/>
            </a:pPr>
            <a:r>
              <a:rPr lang="es-ES_tradnl" altLang="es-AR" sz="2800" dirty="0">
                <a:solidFill>
                  <a:srgbClr val="FF0000"/>
                </a:solidFill>
              </a:rPr>
              <a:t>Aprendizaje </a:t>
            </a:r>
            <a:r>
              <a:rPr lang="es-ES_tradnl" altLang="es-AR" sz="2800" dirty="0" smtClean="0">
                <a:solidFill>
                  <a:srgbClr val="FF0000"/>
                </a:solidFill>
              </a:rPr>
              <a:t>off-line</a:t>
            </a:r>
          </a:p>
          <a:p>
            <a:pPr algn="ctr">
              <a:buNone/>
            </a:pPr>
            <a:r>
              <a:rPr lang="es-ES_tradnl" altLang="es-AR" sz="1900" dirty="0">
                <a:solidFill>
                  <a:schemeClr val="tx1"/>
                </a:solidFill>
              </a:rPr>
              <a:t>(El aprendizaje supone la desconexión de la red)</a:t>
            </a:r>
          </a:p>
          <a:p>
            <a:pPr algn="ctr">
              <a:buFontTx/>
              <a:buNone/>
            </a:pPr>
            <a:r>
              <a:rPr lang="es-ES_tradnl" altLang="es-AR" sz="2300" dirty="0" smtClean="0">
                <a:solidFill>
                  <a:schemeClr val="tx1"/>
                </a:solidFill>
              </a:rPr>
              <a:t>Existe </a:t>
            </a:r>
            <a:r>
              <a:rPr lang="es-ES_tradnl" altLang="es-AR" sz="2300" dirty="0">
                <a:solidFill>
                  <a:schemeClr val="tx1"/>
                </a:solidFill>
              </a:rPr>
              <a:t>una fase de </a:t>
            </a:r>
            <a:r>
              <a:rPr lang="es-ES_tradnl" altLang="es-AR" sz="2300" dirty="0" smtClean="0">
                <a:solidFill>
                  <a:schemeClr val="tx1"/>
                </a:solidFill>
              </a:rPr>
              <a:t>aprendizaje o entrenamiento y una fase de operación o funcionamiento (los pesos de las conexiones permanecen fijos)</a:t>
            </a:r>
          </a:p>
          <a:p>
            <a:pPr algn="ctr">
              <a:buFontTx/>
              <a:buNone/>
            </a:pPr>
            <a:endParaRPr lang="es-ES" altLang="es-AR" dirty="0">
              <a:solidFill>
                <a:schemeClr val="tx1"/>
              </a:solidFill>
            </a:endParaRPr>
          </a:p>
        </p:txBody>
      </p:sp>
      <p:sp>
        <p:nvSpPr>
          <p:cNvPr id="270349" name="AutoShape 13"/>
          <p:cNvSpPr>
            <a:spLocks noChangeArrowheads="1"/>
          </p:cNvSpPr>
          <p:nvPr/>
        </p:nvSpPr>
        <p:spPr bwMode="auto">
          <a:xfrm rot="1841147" flipV="1">
            <a:off x="962624" y="5106136"/>
            <a:ext cx="431800" cy="647700"/>
          </a:xfrm>
          <a:prstGeom prst="curvedRightArrow">
            <a:avLst>
              <a:gd name="adj1" fmla="val 30000"/>
              <a:gd name="adj2" fmla="val 60000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270350" name="Line 14"/>
          <p:cNvSpPr>
            <a:spLocks noChangeShapeType="1"/>
          </p:cNvSpPr>
          <p:nvPr/>
        </p:nvSpPr>
        <p:spPr bwMode="auto">
          <a:xfrm>
            <a:off x="2627784" y="980728"/>
            <a:ext cx="1439862" cy="7191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70351" name="Line 15"/>
          <p:cNvSpPr>
            <a:spLocks noChangeShapeType="1"/>
          </p:cNvSpPr>
          <p:nvPr/>
        </p:nvSpPr>
        <p:spPr bwMode="auto">
          <a:xfrm flipH="1">
            <a:off x="2410940" y="980728"/>
            <a:ext cx="0" cy="144016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540"/>
            <a:ext cx="8424862" cy="86518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Métodos de Aprendizaje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1363" name="Rectangle 3"/>
          <p:cNvSpPr>
            <a:spLocks noChangeArrowheads="1"/>
          </p:cNvSpPr>
          <p:nvPr/>
        </p:nvSpPr>
        <p:spPr bwMode="auto">
          <a:xfrm>
            <a:off x="468313" y="938216"/>
            <a:ext cx="8207375" cy="576263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6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30000"/>
              </a:spcBef>
              <a:buFontTx/>
              <a:buNone/>
            </a:pPr>
            <a:r>
              <a:rPr lang="es-ES_tradnl" altLang="es-AR" sz="2600" dirty="0">
                <a:solidFill>
                  <a:srgbClr val="FF0000"/>
                </a:solidFill>
              </a:rPr>
              <a:t>Aprendizaje Supervisado</a:t>
            </a:r>
            <a:endParaRPr lang="es-ES" altLang="es-AR" sz="2600" dirty="0">
              <a:solidFill>
                <a:srgbClr val="FF0000"/>
              </a:solidFill>
            </a:endParaRPr>
          </a:p>
        </p:txBody>
      </p:sp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468313" y="1514478"/>
            <a:ext cx="8207375" cy="136795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300" dirty="0">
                <a:solidFill>
                  <a:schemeClr val="tx1"/>
                </a:solidFill>
                <a:effectLst/>
              </a:rPr>
              <a:t>Un agente externo controla el proceso de aprendizaje y determina la respuesta que debería generar la red a partir de una entrada </a:t>
            </a:r>
            <a:r>
              <a:rPr lang="es-ES_tradnl" altLang="es-AR" sz="2300" dirty="0" smtClean="0">
                <a:solidFill>
                  <a:schemeClr val="tx1"/>
                </a:solidFill>
                <a:effectLst/>
              </a:rPr>
              <a:t>determinada</a:t>
            </a:r>
          </a:p>
        </p:txBody>
      </p:sp>
      <p:sp>
        <p:nvSpPr>
          <p:cNvPr id="271369" name="Rectangle 9"/>
          <p:cNvSpPr>
            <a:spLocks noChangeArrowheads="1"/>
          </p:cNvSpPr>
          <p:nvPr/>
        </p:nvSpPr>
        <p:spPr bwMode="auto">
          <a:xfrm>
            <a:off x="468313" y="4077072"/>
            <a:ext cx="8207375" cy="576262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6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30000"/>
              </a:spcBef>
              <a:buFontTx/>
              <a:buNone/>
            </a:pPr>
            <a:r>
              <a:rPr lang="es-ES_tradnl" altLang="es-AR" sz="2600">
                <a:solidFill>
                  <a:srgbClr val="FF0000"/>
                </a:solidFill>
              </a:rPr>
              <a:t>Aprendizaje No Supervisado</a:t>
            </a:r>
            <a:endParaRPr lang="es-ES" altLang="es-AR" sz="2600">
              <a:solidFill>
                <a:srgbClr val="FF0000"/>
              </a:solidFill>
            </a:endParaRPr>
          </a:p>
        </p:txBody>
      </p:sp>
      <p:sp>
        <p:nvSpPr>
          <p:cNvPr id="271370" name="Rectangle 10"/>
          <p:cNvSpPr>
            <a:spLocks noChangeArrowheads="1"/>
          </p:cNvSpPr>
          <p:nvPr/>
        </p:nvSpPr>
        <p:spPr bwMode="auto">
          <a:xfrm>
            <a:off x="468313" y="4653334"/>
            <a:ext cx="8207375" cy="12239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300" dirty="0">
                <a:solidFill>
                  <a:schemeClr val="tx1"/>
                </a:solidFill>
                <a:effectLst/>
              </a:rPr>
              <a:t>o </a:t>
            </a:r>
            <a:r>
              <a:rPr lang="es-ES_tradnl" altLang="es-AR" sz="2300" dirty="0" err="1">
                <a:solidFill>
                  <a:schemeClr val="tx1"/>
                </a:solidFill>
                <a:effectLst/>
              </a:rPr>
              <a:t>Autosupervisado</a:t>
            </a:r>
            <a:r>
              <a:rPr lang="es-ES_tradnl" altLang="es-AR" sz="2300" dirty="0">
                <a:solidFill>
                  <a:schemeClr val="tx1"/>
                </a:solidFill>
                <a:effectLst/>
              </a:rPr>
              <a:t>, </a:t>
            </a:r>
            <a:r>
              <a:rPr lang="es-ES_tradnl" altLang="es-AR" sz="2300" dirty="0" smtClean="0">
                <a:solidFill>
                  <a:schemeClr val="tx1"/>
                </a:solidFill>
                <a:effectLst/>
              </a:rPr>
              <a:t>la red no </a:t>
            </a:r>
            <a:r>
              <a:rPr lang="es-ES_tradnl" altLang="es-AR" sz="2300" dirty="0">
                <a:solidFill>
                  <a:schemeClr val="tx1"/>
                </a:solidFill>
                <a:effectLst/>
              </a:rPr>
              <a:t>recibe información del entorno para ajustar los pesos de las conexiones entre sus neuronas</a:t>
            </a:r>
            <a:endParaRPr lang="es-ES" altLang="es-AR" sz="2300" dirty="0"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691680" y="2795676"/>
            <a:ext cx="6696743" cy="108012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90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</a:rPr>
              <a:t>Si la salida de la red no coincide con la deseada, se procede a modificar los pesos de las conexiones, con el fin de que la </a:t>
            </a:r>
            <a:r>
              <a:rPr lang="es-ES_tradnl" altLang="es-AR" sz="1900" dirty="0" smtClean="0">
                <a:solidFill>
                  <a:schemeClr val="bg2">
                    <a:lumMod val="20000"/>
                    <a:lumOff val="80000"/>
                  </a:schemeClr>
                </a:solidFill>
                <a:effectLst/>
              </a:rPr>
              <a:t>salida obtenida </a:t>
            </a:r>
            <a:r>
              <a:rPr lang="es-ES_tradnl" altLang="es-AR" sz="190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</a:rPr>
              <a:t>se aproxime a la deseada</a:t>
            </a:r>
          </a:p>
        </p:txBody>
      </p:sp>
      <p:sp>
        <p:nvSpPr>
          <p:cNvPr id="3" name="2 Flecha curvada hacia la derecha"/>
          <p:cNvSpPr/>
          <p:nvPr/>
        </p:nvSpPr>
        <p:spPr>
          <a:xfrm>
            <a:off x="755576" y="2882431"/>
            <a:ext cx="701880" cy="612000"/>
          </a:xfrm>
          <a:prstGeom prst="curvedRightArrow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763688" y="5805264"/>
            <a:ext cx="6696743" cy="93610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900" dirty="0" smtClean="0">
                <a:solidFill>
                  <a:schemeClr val="bg2">
                    <a:lumMod val="20000"/>
                    <a:lumOff val="80000"/>
                  </a:schemeClr>
                </a:solidFill>
                <a:effectLst/>
              </a:rPr>
              <a:t>No recibe información que le indique si la salida generada en respuesta a una determinada entrada es o no correcta</a:t>
            </a:r>
            <a:endParaRPr lang="es-ES_tradnl" altLang="es-AR" sz="1900" dirty="0">
              <a:solidFill>
                <a:schemeClr val="bg2">
                  <a:lumMod val="20000"/>
                  <a:lumOff val="80000"/>
                </a:schemeClr>
              </a:solidFill>
              <a:effectLst/>
            </a:endParaRPr>
          </a:p>
        </p:txBody>
      </p:sp>
      <p:sp>
        <p:nvSpPr>
          <p:cNvPr id="14" name="13 Flecha curvada hacia la derecha"/>
          <p:cNvSpPr/>
          <p:nvPr/>
        </p:nvSpPr>
        <p:spPr>
          <a:xfrm>
            <a:off x="755576" y="5949280"/>
            <a:ext cx="701880" cy="612000"/>
          </a:xfrm>
          <a:prstGeom prst="curvedRightArrow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782637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Aprendizaje Supervisado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2390" name="Oval 6"/>
          <p:cNvSpPr>
            <a:spLocks noChangeArrowheads="1"/>
          </p:cNvSpPr>
          <p:nvPr/>
        </p:nvSpPr>
        <p:spPr bwMode="auto">
          <a:xfrm>
            <a:off x="466725" y="1195388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A</a:t>
            </a:r>
            <a:endParaRPr lang="es-ES" altLang="es-AR" b="1"/>
          </a:p>
        </p:txBody>
      </p:sp>
      <p:sp>
        <p:nvSpPr>
          <p:cNvPr id="272391" name="Oval 7"/>
          <p:cNvSpPr>
            <a:spLocks noChangeArrowheads="1"/>
          </p:cNvSpPr>
          <p:nvPr/>
        </p:nvSpPr>
        <p:spPr bwMode="auto">
          <a:xfrm>
            <a:off x="468313" y="2852738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B</a:t>
            </a:r>
            <a:endParaRPr lang="es-ES" altLang="es-AR" b="1"/>
          </a:p>
        </p:txBody>
      </p:sp>
      <p:sp>
        <p:nvSpPr>
          <p:cNvPr id="272392" name="Rectangle 8"/>
          <p:cNvSpPr>
            <a:spLocks noChangeArrowheads="1"/>
          </p:cNvSpPr>
          <p:nvPr/>
        </p:nvSpPr>
        <p:spPr bwMode="auto">
          <a:xfrm>
            <a:off x="1116013" y="1195388"/>
            <a:ext cx="3600450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por corrección de error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72393" name="Rectangle 9"/>
          <p:cNvSpPr>
            <a:spLocks noChangeArrowheads="1"/>
          </p:cNvSpPr>
          <p:nvPr/>
        </p:nvSpPr>
        <p:spPr bwMode="auto">
          <a:xfrm>
            <a:off x="1187450" y="2852738"/>
            <a:ext cx="2232025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por refuerzo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72398" name="Oval 14"/>
          <p:cNvSpPr>
            <a:spLocks noChangeArrowheads="1"/>
          </p:cNvSpPr>
          <p:nvPr/>
        </p:nvSpPr>
        <p:spPr bwMode="auto">
          <a:xfrm>
            <a:off x="468313" y="4508500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C</a:t>
            </a:r>
            <a:endParaRPr lang="es-ES" altLang="es-AR" b="1"/>
          </a:p>
        </p:txBody>
      </p:sp>
      <p:sp>
        <p:nvSpPr>
          <p:cNvPr id="272399" name="Rectangle 15"/>
          <p:cNvSpPr>
            <a:spLocks noChangeArrowheads="1"/>
          </p:cNvSpPr>
          <p:nvPr/>
        </p:nvSpPr>
        <p:spPr bwMode="auto">
          <a:xfrm>
            <a:off x="1187450" y="4510088"/>
            <a:ext cx="1943100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estocástico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72400" name="Rectangle 16"/>
          <p:cNvSpPr>
            <a:spLocks noChangeArrowheads="1"/>
          </p:cNvSpPr>
          <p:nvPr/>
        </p:nvSpPr>
        <p:spPr bwMode="auto">
          <a:xfrm>
            <a:off x="1044575" y="1700213"/>
            <a:ext cx="7559675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Se ajustan los pesos de las conexiones de la red en función de la </a:t>
            </a:r>
            <a:r>
              <a:rPr lang="es-ES_tradnl" altLang="es-AR" sz="2000" u="sng" dirty="0">
                <a:solidFill>
                  <a:srgbClr val="FF0000"/>
                </a:solidFill>
              </a:rPr>
              <a:t>diferencia</a:t>
            </a:r>
            <a:r>
              <a:rPr lang="es-ES_tradnl" altLang="es-AR" sz="2000" dirty="0">
                <a:solidFill>
                  <a:schemeClr val="tx1"/>
                </a:solidFill>
              </a:rPr>
              <a:t> entre los valores deseados y los obtenidos a la salida de la red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72401" name="Rectangle 17"/>
          <p:cNvSpPr>
            <a:spLocks noChangeArrowheads="1"/>
          </p:cNvSpPr>
          <p:nvPr/>
        </p:nvSpPr>
        <p:spPr bwMode="auto">
          <a:xfrm>
            <a:off x="1116013" y="3357563"/>
            <a:ext cx="7812087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Se indica mediante una </a:t>
            </a:r>
            <a:r>
              <a:rPr lang="es-ES_tradnl" altLang="es-AR" sz="2000" u="sng" dirty="0">
                <a:solidFill>
                  <a:srgbClr val="FF0000"/>
                </a:solidFill>
              </a:rPr>
              <a:t>señal de refuerzo</a:t>
            </a:r>
            <a:r>
              <a:rPr lang="es-ES_tradnl" altLang="es-AR" sz="2000" dirty="0">
                <a:solidFill>
                  <a:srgbClr val="FF0000"/>
                </a:solidFill>
              </a:rPr>
              <a:t> </a:t>
            </a:r>
            <a:r>
              <a:rPr lang="es-ES_tradnl" altLang="es-AR" sz="2000" dirty="0">
                <a:solidFill>
                  <a:schemeClr val="tx1"/>
                </a:solidFill>
              </a:rPr>
              <a:t>si la salida obtenida se ajusta a la deseada (éxito = 1, fracaso = -1) y en función de ello se ajustan los pesos en base a probabilidades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72402" name="Rectangle 18"/>
          <p:cNvSpPr>
            <a:spLocks noChangeArrowheads="1"/>
          </p:cNvSpPr>
          <p:nvPr/>
        </p:nvSpPr>
        <p:spPr bwMode="auto">
          <a:xfrm>
            <a:off x="1152525" y="5013325"/>
            <a:ext cx="7596188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Se hacen </a:t>
            </a:r>
            <a:r>
              <a:rPr lang="es-ES_tradnl" altLang="es-AR" sz="2000" u="sng" dirty="0">
                <a:solidFill>
                  <a:srgbClr val="FF0000"/>
                </a:solidFill>
              </a:rPr>
              <a:t>cambios aleatorios</a:t>
            </a:r>
            <a:r>
              <a:rPr lang="es-ES_tradnl" altLang="es-AR" sz="2000" dirty="0">
                <a:solidFill>
                  <a:srgbClr val="FF0000"/>
                </a:solidFill>
              </a:rPr>
              <a:t> </a:t>
            </a:r>
            <a:r>
              <a:rPr lang="es-ES_tradnl" altLang="es-AR" sz="2000" dirty="0">
                <a:solidFill>
                  <a:schemeClr val="tx1"/>
                </a:solidFill>
              </a:rPr>
              <a:t>en los pesos de las conexiones </a:t>
            </a:r>
            <a:r>
              <a:rPr lang="es-ES_tradnl" altLang="es-AR" sz="2000" dirty="0" smtClean="0">
                <a:solidFill>
                  <a:schemeClr val="tx1"/>
                </a:solidFill>
              </a:rPr>
              <a:t>de la red y </a:t>
            </a:r>
            <a:r>
              <a:rPr lang="es-ES_tradnl" altLang="es-AR" sz="2000" dirty="0">
                <a:solidFill>
                  <a:schemeClr val="tx1"/>
                </a:solidFill>
              </a:rPr>
              <a:t>se evalúa su efecto a partir del objetivo deseado y de distribuciones de probabilidad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72403" name="Rectangle 19"/>
          <p:cNvSpPr>
            <a:spLocks noChangeArrowheads="1"/>
          </p:cNvSpPr>
          <p:nvPr/>
        </p:nvSpPr>
        <p:spPr bwMode="auto">
          <a:xfrm>
            <a:off x="3419475" y="2347913"/>
            <a:ext cx="525621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rgbClr val="FF0000"/>
                </a:solidFill>
              </a:rPr>
              <a:t>Error = Valor deseado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– Valor </a:t>
            </a:r>
            <a:r>
              <a:rPr lang="es-ES_tradnl" altLang="es-AR" sz="2000" dirty="0">
                <a:solidFill>
                  <a:srgbClr val="FF0000"/>
                </a:solidFill>
              </a:rPr>
              <a:t>obtenido</a:t>
            </a:r>
            <a:endParaRPr lang="es-ES" altLang="es-AR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2636"/>
            <a:ext cx="8229600" cy="782637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Aprendizaje No Supervisado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3411" name="Oval 3"/>
          <p:cNvSpPr>
            <a:spLocks noChangeArrowheads="1"/>
          </p:cNvSpPr>
          <p:nvPr/>
        </p:nvSpPr>
        <p:spPr bwMode="auto">
          <a:xfrm>
            <a:off x="466725" y="836712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A</a:t>
            </a:r>
            <a:endParaRPr lang="es-ES" altLang="es-AR" b="1"/>
          </a:p>
        </p:txBody>
      </p:sp>
      <p:sp>
        <p:nvSpPr>
          <p:cNvPr id="273413" name="Rectangle 5"/>
          <p:cNvSpPr>
            <a:spLocks noChangeArrowheads="1"/>
          </p:cNvSpPr>
          <p:nvPr/>
        </p:nvSpPr>
        <p:spPr bwMode="auto">
          <a:xfrm>
            <a:off x="1116013" y="836712"/>
            <a:ext cx="1871662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hebbiano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73417" name="Rectangle 9"/>
          <p:cNvSpPr>
            <a:spLocks noChangeArrowheads="1"/>
          </p:cNvSpPr>
          <p:nvPr/>
        </p:nvSpPr>
        <p:spPr bwMode="auto">
          <a:xfrm>
            <a:off x="1044575" y="1341537"/>
            <a:ext cx="755967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Un proceso de aprendizaje, durante un período de tiempo, va modificando la red para incluir la nueva información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73420" name="Rectangle 12"/>
          <p:cNvSpPr>
            <a:spLocks noChangeArrowheads="1"/>
          </p:cNvSpPr>
          <p:nvPr/>
        </p:nvSpPr>
        <p:spPr bwMode="auto">
          <a:xfrm>
            <a:off x="1043608" y="2018336"/>
            <a:ext cx="7343725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1900" dirty="0">
                <a:solidFill>
                  <a:schemeClr val="tx1"/>
                </a:solidFill>
              </a:rPr>
              <a:t>Teoría </a:t>
            </a:r>
            <a:r>
              <a:rPr lang="es-ES_tradnl" altLang="es-AR" sz="1900" dirty="0" smtClean="0">
                <a:solidFill>
                  <a:schemeClr val="tx1"/>
                </a:solidFill>
              </a:rPr>
              <a:t>Básica (experimento de </a:t>
            </a:r>
            <a:r>
              <a:rPr lang="es-ES_tradnl" altLang="es-AR" sz="1900" dirty="0" err="1" smtClean="0">
                <a:solidFill>
                  <a:schemeClr val="tx1"/>
                </a:solidFill>
              </a:rPr>
              <a:t>Pavlov</a:t>
            </a:r>
            <a:r>
              <a:rPr lang="es-ES_tradnl" altLang="es-AR" sz="1900" dirty="0" smtClean="0">
                <a:solidFill>
                  <a:schemeClr val="tx1"/>
                </a:solidFill>
              </a:rPr>
              <a:t>)</a:t>
            </a:r>
            <a:endParaRPr lang="es-ES" altLang="es-AR" sz="1900" dirty="0">
              <a:solidFill>
                <a:schemeClr val="tx1"/>
              </a:solidFill>
            </a:endParaRPr>
          </a:p>
        </p:txBody>
      </p:sp>
      <p:sp>
        <p:nvSpPr>
          <p:cNvPr id="273435" name="Rectangle 27"/>
          <p:cNvSpPr>
            <a:spLocks noChangeArrowheads="1"/>
          </p:cNvSpPr>
          <p:nvPr/>
        </p:nvSpPr>
        <p:spPr bwMode="auto">
          <a:xfrm>
            <a:off x="1547664" y="2435636"/>
            <a:ext cx="6264275" cy="244792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73421" name="Group 13"/>
          <p:cNvGrpSpPr>
            <a:grpSpLocks/>
          </p:cNvGrpSpPr>
          <p:nvPr/>
        </p:nvGrpSpPr>
        <p:grpSpPr bwMode="auto">
          <a:xfrm>
            <a:off x="1690539" y="2651536"/>
            <a:ext cx="5976937" cy="2016125"/>
            <a:chOff x="2454" y="11754"/>
            <a:chExt cx="6600" cy="2340"/>
          </a:xfrm>
        </p:grpSpPr>
        <p:sp>
          <p:nvSpPr>
            <p:cNvPr id="273422" name="Oval 14"/>
            <p:cNvSpPr>
              <a:spLocks noChangeArrowheads="1"/>
            </p:cNvSpPr>
            <p:nvPr/>
          </p:nvSpPr>
          <p:spPr bwMode="auto">
            <a:xfrm>
              <a:off x="4134" y="11934"/>
              <a:ext cx="600" cy="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A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3" name="Oval 15"/>
            <p:cNvSpPr>
              <a:spLocks noChangeArrowheads="1"/>
            </p:cNvSpPr>
            <p:nvPr/>
          </p:nvSpPr>
          <p:spPr bwMode="auto">
            <a:xfrm>
              <a:off x="4134" y="13374"/>
              <a:ext cx="600" cy="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C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4" name="Oval 16"/>
            <p:cNvSpPr>
              <a:spLocks noChangeArrowheads="1"/>
            </p:cNvSpPr>
            <p:nvPr/>
          </p:nvSpPr>
          <p:spPr bwMode="auto">
            <a:xfrm>
              <a:off x="5814" y="12654"/>
              <a:ext cx="600" cy="6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B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5" name="Line 17"/>
            <p:cNvSpPr>
              <a:spLocks noChangeShapeType="1"/>
            </p:cNvSpPr>
            <p:nvPr/>
          </p:nvSpPr>
          <p:spPr bwMode="auto">
            <a:xfrm>
              <a:off x="4734" y="12294"/>
              <a:ext cx="108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6" name="Line 18"/>
            <p:cNvSpPr>
              <a:spLocks noChangeShapeType="1"/>
            </p:cNvSpPr>
            <p:nvPr/>
          </p:nvSpPr>
          <p:spPr bwMode="auto">
            <a:xfrm flipV="1">
              <a:off x="4734" y="13014"/>
              <a:ext cx="108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7" name="Line 19"/>
            <p:cNvSpPr>
              <a:spLocks noChangeShapeType="1"/>
            </p:cNvSpPr>
            <p:nvPr/>
          </p:nvSpPr>
          <p:spPr bwMode="auto">
            <a:xfrm>
              <a:off x="6414" y="12954"/>
              <a:ext cx="1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8" name="Line 20"/>
            <p:cNvSpPr>
              <a:spLocks noChangeShapeType="1"/>
            </p:cNvSpPr>
            <p:nvPr/>
          </p:nvSpPr>
          <p:spPr bwMode="auto">
            <a:xfrm>
              <a:off x="2934" y="11754"/>
              <a:ext cx="120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29" name="Line 21"/>
            <p:cNvSpPr>
              <a:spLocks noChangeShapeType="1"/>
            </p:cNvSpPr>
            <p:nvPr/>
          </p:nvSpPr>
          <p:spPr bwMode="auto">
            <a:xfrm flipV="1">
              <a:off x="3054" y="13734"/>
              <a:ext cx="108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30" name="Text Box 22"/>
            <p:cNvSpPr txBox="1">
              <a:spLocks noChangeArrowheads="1"/>
            </p:cNvSpPr>
            <p:nvPr/>
          </p:nvSpPr>
          <p:spPr bwMode="auto">
            <a:xfrm>
              <a:off x="2454" y="12054"/>
              <a:ext cx="1200" cy="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Entrada de sonido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31" name="Text Box 23"/>
            <p:cNvSpPr txBox="1">
              <a:spLocks noChangeArrowheads="1"/>
            </p:cNvSpPr>
            <p:nvPr/>
          </p:nvSpPr>
          <p:spPr bwMode="auto">
            <a:xfrm>
              <a:off x="2454" y="13194"/>
              <a:ext cx="1200" cy="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Entrada visual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32" name="Text Box 24"/>
            <p:cNvSpPr txBox="1">
              <a:spLocks noChangeArrowheads="1"/>
            </p:cNvSpPr>
            <p:nvPr/>
          </p:nvSpPr>
          <p:spPr bwMode="auto">
            <a:xfrm>
              <a:off x="7854" y="12654"/>
              <a:ext cx="1200" cy="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Señal de salivación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33" name="Text Box 25"/>
            <p:cNvSpPr txBox="1">
              <a:spLocks noChangeArrowheads="1"/>
            </p:cNvSpPr>
            <p:nvPr/>
          </p:nvSpPr>
          <p:spPr bwMode="auto">
            <a:xfrm>
              <a:off x="5094" y="12294"/>
              <a:ext cx="8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S</a:t>
              </a:r>
              <a:r>
                <a:rPr lang="es-ES" altLang="zh-CN" sz="1400" b="1" baseline="-2500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BA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3434" name="Text Box 26"/>
            <p:cNvSpPr txBox="1">
              <a:spLocks noChangeArrowheads="1"/>
            </p:cNvSpPr>
            <p:nvPr/>
          </p:nvSpPr>
          <p:spPr bwMode="auto">
            <a:xfrm>
              <a:off x="5094" y="13194"/>
              <a:ext cx="8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S</a:t>
              </a:r>
              <a:r>
                <a:rPr lang="es-ES" altLang="zh-CN" sz="1400" b="1" baseline="-2500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BC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73436" name="Rectangle 28"/>
          <p:cNvSpPr>
            <a:spLocks noChangeArrowheads="1"/>
          </p:cNvSpPr>
          <p:nvPr/>
        </p:nvSpPr>
        <p:spPr bwMode="auto">
          <a:xfrm>
            <a:off x="466725" y="5011444"/>
            <a:ext cx="8353747" cy="172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1700" dirty="0" smtClean="0">
                <a:solidFill>
                  <a:schemeClr val="tx1"/>
                </a:solidFill>
              </a:rPr>
              <a:t>Se produce algún cambio entre A y B, de tal modo que la </a:t>
            </a:r>
            <a:r>
              <a:rPr lang="es-ES_tradnl" altLang="es-AR" sz="1700" dirty="0">
                <a:solidFill>
                  <a:schemeClr val="tx1"/>
                </a:solidFill>
              </a:rPr>
              <a:t>influencia de </a:t>
            </a:r>
            <a:r>
              <a:rPr lang="es-AR" sz="1700" dirty="0">
                <a:solidFill>
                  <a:schemeClr val="tx1"/>
                </a:solidFill>
              </a:rPr>
              <a:t>A sobre B se ve </a:t>
            </a:r>
            <a:r>
              <a:rPr lang="es-AR" sz="1700" dirty="0" smtClean="0">
                <a:solidFill>
                  <a:schemeClr val="tx1"/>
                </a:solidFill>
              </a:rPr>
              <a:t>incrementada. Si el experimento se repite con frecuencia suficiente, A será capaz de lograr que se dispare B, incluso en ausencia de la estimulación visual procedente de C.</a:t>
            </a:r>
            <a:r>
              <a:rPr lang="es-ES_tradnl" sz="1700" dirty="0" smtClean="0">
                <a:solidFill>
                  <a:schemeClr val="tx1"/>
                </a:solidFill>
              </a:rPr>
              <a:t> </a:t>
            </a:r>
          </a:p>
          <a:p>
            <a:pPr algn="ctr">
              <a:buFontTx/>
              <a:buNone/>
            </a:pPr>
            <a:r>
              <a:rPr lang="es-ES_tradnl" altLang="es-AR" sz="2000" dirty="0" smtClean="0">
                <a:solidFill>
                  <a:srgbClr val="FF0000"/>
                </a:solidFill>
              </a:rPr>
              <a:t>En RNA significa que el </a:t>
            </a:r>
            <a:r>
              <a:rPr lang="es-ES_tradnl" altLang="es-AR" sz="2000" dirty="0">
                <a:solidFill>
                  <a:srgbClr val="FF0000"/>
                </a:solidFill>
              </a:rPr>
              <a:t>peso de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la conexión entre ambas neuronas (A </a:t>
            </a:r>
            <a:r>
              <a:rPr lang="es-ES_tradnl" altLang="es-AR" sz="2000" dirty="0">
                <a:solidFill>
                  <a:srgbClr val="FF0000"/>
                </a:solidFill>
              </a:rPr>
              <a:t>y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B) </a:t>
            </a:r>
            <a:r>
              <a:rPr lang="es-ES_tradnl" altLang="es-AR" sz="2000" dirty="0">
                <a:solidFill>
                  <a:srgbClr val="FF0000"/>
                </a:solidFill>
              </a:rPr>
              <a:t>se </a:t>
            </a:r>
            <a:r>
              <a:rPr lang="es-ES_tradnl" altLang="es-AR" sz="2000" dirty="0" smtClean="0">
                <a:solidFill>
                  <a:srgbClr val="FF0000"/>
                </a:solidFill>
              </a:rPr>
              <a:t>ve incrementado</a:t>
            </a:r>
            <a:endParaRPr lang="es-ES" altLang="es-AR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782637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Aprendizaje No Supervisado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4435" name="Oval 3"/>
          <p:cNvSpPr>
            <a:spLocks noChangeArrowheads="1"/>
          </p:cNvSpPr>
          <p:nvPr/>
        </p:nvSpPr>
        <p:spPr bwMode="auto">
          <a:xfrm>
            <a:off x="466725" y="1195388"/>
            <a:ext cx="504825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s-ES_tradnl" altLang="es-AR" b="1"/>
              <a:t>B</a:t>
            </a:r>
            <a:endParaRPr lang="es-ES" altLang="es-AR" b="1"/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1116013" y="1195388"/>
            <a:ext cx="4392612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>
                <a:solidFill>
                  <a:srgbClr val="FF0000"/>
                </a:solidFill>
              </a:rPr>
              <a:t>competitivo y comparativo</a:t>
            </a:r>
            <a:endParaRPr lang="es-ES" altLang="es-AR">
              <a:solidFill>
                <a:srgbClr val="FF0000"/>
              </a:solidFill>
            </a:endParaRPr>
          </a:p>
        </p:txBody>
      </p:sp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1044575" y="1844675"/>
            <a:ext cx="7487865" cy="453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54013" indent="-354013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dirty="0">
                <a:solidFill>
                  <a:schemeClr val="tx1"/>
                </a:solidFill>
              </a:rPr>
              <a:t>Se orienta a la </a:t>
            </a:r>
            <a:r>
              <a:rPr lang="es-ES_tradnl" altLang="es-AR" u="sng" dirty="0">
                <a:solidFill>
                  <a:srgbClr val="FF0000"/>
                </a:solidFill>
              </a:rPr>
              <a:t>clasificación</a:t>
            </a:r>
            <a:r>
              <a:rPr lang="es-ES_tradnl" altLang="es-AR" dirty="0">
                <a:solidFill>
                  <a:schemeClr val="tx1"/>
                </a:solidFill>
              </a:rPr>
              <a:t> de los datos de entrada</a:t>
            </a:r>
          </a:p>
          <a:p>
            <a:r>
              <a:rPr lang="es-ES_tradnl" altLang="es-AR" dirty="0">
                <a:solidFill>
                  <a:schemeClr val="tx1"/>
                </a:solidFill>
              </a:rPr>
              <a:t>Las unidades de salida </a:t>
            </a:r>
            <a:r>
              <a:rPr lang="es-ES_tradnl" altLang="es-AR" u="sng" dirty="0">
                <a:solidFill>
                  <a:srgbClr val="FF0000"/>
                </a:solidFill>
              </a:rPr>
              <a:t>luchan</a:t>
            </a:r>
            <a:r>
              <a:rPr lang="es-ES_tradnl" altLang="es-AR" dirty="0">
                <a:solidFill>
                  <a:schemeClr val="tx1"/>
                </a:solidFill>
              </a:rPr>
              <a:t> por el control sobre porciones del espacio de entrada</a:t>
            </a:r>
          </a:p>
          <a:p>
            <a:r>
              <a:rPr lang="es-ES_tradnl" altLang="es-AR" dirty="0">
                <a:solidFill>
                  <a:schemeClr val="tx1"/>
                </a:solidFill>
              </a:rPr>
              <a:t>Las unidades </a:t>
            </a:r>
            <a:r>
              <a:rPr lang="es-ES_tradnl" altLang="es-AR" dirty="0" smtClean="0">
                <a:solidFill>
                  <a:schemeClr val="tx1"/>
                </a:solidFill>
              </a:rPr>
              <a:t>de salida con </a:t>
            </a:r>
            <a:r>
              <a:rPr lang="es-ES_tradnl" altLang="es-AR" dirty="0">
                <a:solidFill>
                  <a:schemeClr val="tx1"/>
                </a:solidFill>
              </a:rPr>
              <a:t>mayor activación </a:t>
            </a:r>
            <a:r>
              <a:rPr lang="es-ES_tradnl" altLang="es-AR" dirty="0" smtClean="0">
                <a:solidFill>
                  <a:schemeClr val="tx1"/>
                </a:solidFill>
              </a:rPr>
              <a:t>en sus entradas tendrán más fuerza que sus competidores.  Se hacen cada vez mas fuertes y su </a:t>
            </a:r>
            <a:r>
              <a:rPr lang="es-ES_tradnl" altLang="es-AR" u="sng" dirty="0" smtClean="0">
                <a:solidFill>
                  <a:srgbClr val="FF0000"/>
                </a:solidFill>
              </a:rPr>
              <a:t>efecto inhibitorio</a:t>
            </a:r>
            <a:r>
              <a:rPr lang="es-ES_tradnl" altLang="es-AR" dirty="0" smtClean="0">
                <a:solidFill>
                  <a:srgbClr val="FF0000"/>
                </a:solidFill>
              </a:rPr>
              <a:t> </a:t>
            </a:r>
            <a:r>
              <a:rPr lang="es-ES_tradnl" altLang="es-AR" dirty="0" smtClean="0">
                <a:solidFill>
                  <a:schemeClr val="tx1"/>
                </a:solidFill>
              </a:rPr>
              <a:t>sobre las demás unidades de salida se hace cada vez mayor (inhiben </a:t>
            </a:r>
            <a:r>
              <a:rPr lang="es-ES_tradnl" altLang="es-AR" dirty="0">
                <a:solidFill>
                  <a:schemeClr val="tx1"/>
                </a:solidFill>
              </a:rPr>
              <a:t>a las más </a:t>
            </a:r>
            <a:r>
              <a:rPr lang="es-ES_tradnl" altLang="es-AR" dirty="0" smtClean="0">
                <a:solidFill>
                  <a:schemeClr val="tx1"/>
                </a:solidFill>
              </a:rPr>
              <a:t>débiles)</a:t>
            </a:r>
            <a:endParaRPr lang="es-ES" alt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3168650" cy="865188"/>
          </a:xfrm>
        </p:spPr>
        <p:txBody>
          <a:bodyPr/>
          <a:lstStyle/>
          <a:p>
            <a:pPr algn="l"/>
            <a:r>
              <a:rPr lang="es-ES_tradnl" altLang="es-AR" sz="3200">
                <a:solidFill>
                  <a:schemeClr val="tx1"/>
                </a:solidFill>
              </a:rPr>
              <a:t>El Perceptrón</a:t>
            </a:r>
            <a:endParaRPr lang="es-ES" altLang="es-AR" sz="2800">
              <a:solidFill>
                <a:schemeClr val="tx1"/>
              </a:solidFill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3276600" y="547688"/>
            <a:ext cx="273685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(Rosenblatt - 1962 )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75465" name="Rectangle 9"/>
          <p:cNvSpPr>
            <a:spLocks noChangeArrowheads="1"/>
          </p:cNvSpPr>
          <p:nvPr/>
        </p:nvSpPr>
        <p:spPr bwMode="auto">
          <a:xfrm>
            <a:off x="468313" y="5274086"/>
            <a:ext cx="8135937" cy="12239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Imita una neurona, tomando la suma ponderada de sus entradas y enviando a la salida un 1, si la suma supera cierto valor umbral, o 0 en caso contrario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75472" name="Rectangle 16"/>
          <p:cNvSpPr>
            <a:spLocks noChangeArrowheads="1"/>
          </p:cNvSpPr>
          <p:nvPr/>
        </p:nvSpPr>
        <p:spPr bwMode="auto">
          <a:xfrm>
            <a:off x="323528" y="1916832"/>
            <a:ext cx="8496944" cy="3370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54013" indent="-354013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dirty="0">
                <a:solidFill>
                  <a:schemeClr val="tx1"/>
                </a:solidFill>
              </a:rPr>
              <a:t>Una sola </a:t>
            </a:r>
            <a:r>
              <a:rPr lang="es-ES_tradnl" altLang="es-AR" dirty="0" smtClean="0">
                <a:solidFill>
                  <a:schemeClr val="tx1"/>
                </a:solidFill>
              </a:rPr>
              <a:t>neurona</a:t>
            </a:r>
          </a:p>
          <a:p>
            <a:pPr marL="0" indent="0">
              <a:buNone/>
            </a:pPr>
            <a:endParaRPr lang="es-ES_tradnl" altLang="es-AR" sz="500" dirty="0">
              <a:solidFill>
                <a:schemeClr val="tx1"/>
              </a:solidFill>
            </a:endParaRPr>
          </a:p>
          <a:p>
            <a:r>
              <a:rPr lang="es-ES_tradnl" altLang="es-AR" dirty="0">
                <a:solidFill>
                  <a:schemeClr val="tx1"/>
                </a:solidFill>
              </a:rPr>
              <a:t>Entradas </a:t>
            </a:r>
            <a:r>
              <a:rPr lang="es-ES_tradnl" altLang="es-AR" dirty="0" smtClean="0">
                <a:solidFill>
                  <a:schemeClr val="tx1"/>
                </a:solidFill>
              </a:rPr>
              <a:t>binarias: solo se permiten 0 y 1</a:t>
            </a:r>
          </a:p>
          <a:p>
            <a:pPr marL="0" indent="0">
              <a:buNone/>
            </a:pPr>
            <a:endParaRPr lang="es-ES_tradnl" altLang="es-AR" sz="500" dirty="0">
              <a:solidFill>
                <a:schemeClr val="tx1"/>
              </a:solidFill>
            </a:endParaRPr>
          </a:p>
          <a:p>
            <a:r>
              <a:rPr lang="es-ES_tradnl" altLang="es-AR" dirty="0">
                <a:solidFill>
                  <a:schemeClr val="tx1"/>
                </a:solidFill>
              </a:rPr>
              <a:t>Cajas lógicas </a:t>
            </a:r>
            <a:r>
              <a:rPr lang="es-ES_tradnl" altLang="es-AR" dirty="0" smtClean="0">
                <a:solidFill>
                  <a:schemeClr val="tx1"/>
                </a:solidFill>
              </a:rPr>
              <a:t>(interpuestas entre </a:t>
            </a:r>
            <a:r>
              <a:rPr lang="es-ES_tradnl" altLang="es-AR" dirty="0">
                <a:solidFill>
                  <a:schemeClr val="tx1"/>
                </a:solidFill>
              </a:rPr>
              <a:t>entradas y pesos</a:t>
            </a:r>
            <a:r>
              <a:rPr lang="es-ES_tradnl" altLang="es-AR" dirty="0" smtClean="0">
                <a:solidFill>
                  <a:schemeClr val="tx1"/>
                </a:solidFill>
              </a:rPr>
              <a:t>). Tabla que produce un valor de salida (0 o 1) para cada combinación de 0 y 1 que pueda aparecer en la </a:t>
            </a:r>
            <a:r>
              <a:rPr lang="es-ES_tradnl" altLang="es-AR" dirty="0" smtClean="0">
                <a:solidFill>
                  <a:schemeClr val="tx1"/>
                </a:solidFill>
              </a:rPr>
              <a:t>entrada</a:t>
            </a:r>
            <a:endParaRPr lang="es-ES_tradnl" altLang="es-AR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s-ES_tradnl" altLang="es-AR" sz="500" dirty="0">
              <a:solidFill>
                <a:schemeClr val="tx1"/>
              </a:solidFill>
            </a:endParaRPr>
          </a:p>
          <a:p>
            <a:r>
              <a:rPr lang="es-ES_tradnl" altLang="es-AR" dirty="0">
                <a:solidFill>
                  <a:schemeClr val="tx1"/>
                </a:solidFill>
              </a:rPr>
              <a:t>Salida </a:t>
            </a:r>
            <a:r>
              <a:rPr lang="es-ES_tradnl" altLang="es-AR" dirty="0" smtClean="0">
                <a:solidFill>
                  <a:schemeClr val="tx1"/>
                </a:solidFill>
              </a:rPr>
              <a:t>binaria (0 o 1)</a:t>
            </a:r>
            <a:endParaRPr lang="es-ES" altLang="es-AR" dirty="0">
              <a:solidFill>
                <a:schemeClr val="tx1"/>
              </a:solidFill>
            </a:endParaRPr>
          </a:p>
        </p:txBody>
      </p:sp>
      <p:sp>
        <p:nvSpPr>
          <p:cNvPr id="275473" name="Rectangle 17"/>
          <p:cNvSpPr>
            <a:spLocks noChangeArrowheads="1"/>
          </p:cNvSpPr>
          <p:nvPr/>
        </p:nvSpPr>
        <p:spPr bwMode="auto">
          <a:xfrm>
            <a:off x="539552" y="1268760"/>
            <a:ext cx="7128792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dirty="0" smtClean="0">
                <a:solidFill>
                  <a:schemeClr val="tx1"/>
                </a:solidFill>
              </a:rPr>
              <a:t>Red neuronal que consiste </a:t>
            </a:r>
            <a:r>
              <a:rPr lang="es-ES_tradnl" altLang="es-AR" dirty="0">
                <a:solidFill>
                  <a:schemeClr val="tx1"/>
                </a:solidFill>
              </a:rPr>
              <a:t>en:</a:t>
            </a:r>
            <a:endParaRPr lang="es-ES" altLang="es-A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3168650" cy="865188"/>
          </a:xfrm>
        </p:spPr>
        <p:txBody>
          <a:bodyPr/>
          <a:lstStyle/>
          <a:p>
            <a:pPr algn="l"/>
            <a:r>
              <a:rPr lang="es-ES_tradnl" altLang="es-AR" sz="3200">
                <a:solidFill>
                  <a:schemeClr val="tx1"/>
                </a:solidFill>
              </a:rPr>
              <a:t>El Perceptrón</a:t>
            </a:r>
            <a:endParaRPr lang="es-ES" altLang="es-AR" sz="2800">
              <a:solidFill>
                <a:schemeClr val="tx1"/>
              </a:solidFill>
            </a:endParaRPr>
          </a:p>
        </p:txBody>
      </p:sp>
      <p:sp>
        <p:nvSpPr>
          <p:cNvPr id="275465" name="Rectangle 9"/>
          <p:cNvSpPr>
            <a:spLocks noChangeArrowheads="1"/>
          </p:cNvSpPr>
          <p:nvPr/>
        </p:nvSpPr>
        <p:spPr bwMode="auto">
          <a:xfrm>
            <a:off x="683568" y="4868863"/>
            <a:ext cx="7632079" cy="12239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Si </a:t>
            </a:r>
            <a:r>
              <a:rPr lang="es-ES_tradnl" altLang="es-AR" dirty="0">
                <a:solidFill>
                  <a:srgbClr val="FF0000"/>
                </a:solidFill>
                <a:effectLst/>
              </a:rPr>
              <a:t>la salida es 1 se dice que el </a:t>
            </a:r>
            <a:r>
              <a:rPr lang="es-ES_tradnl" altLang="es-AR" dirty="0" err="1">
                <a:solidFill>
                  <a:srgbClr val="FF0000"/>
                </a:solidFill>
                <a:effectLst/>
              </a:rPr>
              <a:t>perceptrón</a:t>
            </a:r>
            <a:r>
              <a:rPr lang="es-ES_tradnl" altLang="es-AR" dirty="0">
                <a:solidFill>
                  <a:srgbClr val="FF0000"/>
                </a:solidFill>
                <a:effectLst/>
              </a:rPr>
              <a:t> </a:t>
            </a: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dice SI.</a:t>
            </a:r>
          </a:p>
          <a:p>
            <a:pPr algn="ctr">
              <a:buFontTx/>
              <a:buNone/>
            </a:pP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En cualquier otro caso se dice que el </a:t>
            </a:r>
            <a:r>
              <a:rPr lang="es-ES_tradnl" altLang="es-AR" dirty="0" err="1">
                <a:solidFill>
                  <a:srgbClr val="FF0000"/>
                </a:solidFill>
                <a:effectLst/>
              </a:rPr>
              <a:t>perceptrón</a:t>
            </a:r>
            <a:r>
              <a:rPr lang="es-ES_tradnl" altLang="es-AR" dirty="0">
                <a:solidFill>
                  <a:srgbClr val="FF0000"/>
                </a:solidFill>
                <a:effectLst/>
              </a:rPr>
              <a:t> </a:t>
            </a: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dice NO.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75471" name="Rectangle 15"/>
          <p:cNvSpPr>
            <a:spLocks noChangeArrowheads="1"/>
          </p:cNvSpPr>
          <p:nvPr/>
        </p:nvSpPr>
        <p:spPr bwMode="auto">
          <a:xfrm>
            <a:off x="2699792" y="2348285"/>
            <a:ext cx="3096592" cy="1728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/>
          </a:p>
        </p:txBody>
      </p:sp>
      <p:grpSp>
        <p:nvGrpSpPr>
          <p:cNvPr id="275470" name="Group 14"/>
          <p:cNvGrpSpPr>
            <a:grpSpLocks/>
          </p:cNvGrpSpPr>
          <p:nvPr/>
        </p:nvGrpSpPr>
        <p:grpSpPr bwMode="auto">
          <a:xfrm>
            <a:off x="2771230" y="2421313"/>
            <a:ext cx="2952750" cy="1582691"/>
            <a:chOff x="1791" y="1616"/>
            <a:chExt cx="1859" cy="953"/>
          </a:xfrm>
          <a:solidFill>
            <a:schemeClr val="tx1"/>
          </a:solidFill>
        </p:grpSpPr>
        <p:sp>
          <p:nvSpPr>
            <p:cNvPr id="275468" name="Text Box 12"/>
            <p:cNvSpPr txBox="1">
              <a:spLocks noChangeArrowheads="1"/>
            </p:cNvSpPr>
            <p:nvPr/>
          </p:nvSpPr>
          <p:spPr bwMode="auto">
            <a:xfrm>
              <a:off x="1791" y="1637"/>
              <a:ext cx="1859" cy="9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        </a:t>
              </a:r>
              <a:r>
                <a:rPr lang="es-ES_tradnl" altLang="zh-CN" sz="1600" b="1" dirty="0" smtClean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1   </a:t>
              </a:r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si</a:t>
              </a:r>
            </a:p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   </a:t>
              </a:r>
            </a:p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P = </a:t>
              </a:r>
            </a:p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       </a:t>
              </a:r>
            </a:p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        0  en otro caso</a:t>
              </a:r>
              <a:endParaRPr lang="es-ES" altLang="es-AR" sz="1600" b="1" dirty="0">
                <a:solidFill>
                  <a:schemeClr val="bg1">
                    <a:lumMod val="50000"/>
                  </a:schemeClr>
                </a:solidFill>
                <a:ea typeface="SimSun" pitchFamily="2" charset="-122"/>
              </a:endParaRPr>
            </a:p>
          </p:txBody>
        </p:sp>
        <p:graphicFrame>
          <p:nvGraphicFramePr>
            <p:cNvPr id="275467" name="Object 11"/>
            <p:cNvGraphicFramePr>
              <a:graphicFrameLocks noChangeAspect="1"/>
            </p:cNvGraphicFramePr>
            <p:nvPr/>
          </p:nvGraphicFramePr>
          <p:xfrm>
            <a:off x="2517" y="1616"/>
            <a:ext cx="862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35" name="Ecuación" r:id="rId3" imgW="825480" imgH="342720" progId="Equation.3">
                    <p:embed/>
                  </p:oleObj>
                </mc:Choice>
                <mc:Fallback>
                  <p:oleObj name="Ecuación" r:id="rId3" imgW="825480" imgH="342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1616"/>
                          <a:ext cx="862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5469" name="AutoShape 13"/>
            <p:cNvSpPr>
              <a:spLocks/>
            </p:cNvSpPr>
            <p:nvPr/>
          </p:nvSpPr>
          <p:spPr bwMode="auto">
            <a:xfrm>
              <a:off x="2058" y="1659"/>
              <a:ext cx="46" cy="817"/>
            </a:xfrm>
            <a:prstGeom prst="leftBrace">
              <a:avLst>
                <a:gd name="adj1" fmla="val 148007"/>
                <a:gd name="adj2" fmla="val 5000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75473" name="Rectangle 17"/>
          <p:cNvSpPr>
            <a:spLocks noChangeArrowheads="1"/>
          </p:cNvSpPr>
          <p:nvPr/>
        </p:nvSpPr>
        <p:spPr bwMode="auto">
          <a:xfrm>
            <a:off x="468313" y="1268462"/>
            <a:ext cx="8135937" cy="864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dirty="0" smtClean="0">
                <a:solidFill>
                  <a:schemeClr val="tx1"/>
                </a:solidFill>
              </a:rPr>
              <a:t>La salida del </a:t>
            </a:r>
            <a:r>
              <a:rPr lang="es-ES_tradnl" altLang="es-AR" dirty="0" err="1" smtClean="0">
                <a:solidFill>
                  <a:schemeClr val="tx1"/>
                </a:solidFill>
              </a:rPr>
              <a:t>perceptrón</a:t>
            </a:r>
            <a:r>
              <a:rPr lang="es-ES_tradnl" altLang="es-AR" dirty="0">
                <a:solidFill>
                  <a:schemeClr val="tx1"/>
                </a:solidFill>
              </a:rPr>
              <a:t> </a:t>
            </a:r>
            <a:r>
              <a:rPr lang="es-ES_tradnl" altLang="es-AR" dirty="0" smtClean="0">
                <a:solidFill>
                  <a:schemeClr val="tx1"/>
                </a:solidFill>
              </a:rPr>
              <a:t>esta dada por la siguiente fórmula:</a:t>
            </a:r>
            <a:endParaRPr lang="es-ES" alt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7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5863" y="260350"/>
            <a:ext cx="6481762" cy="865188"/>
          </a:xfrm>
        </p:spPr>
        <p:txBody>
          <a:bodyPr/>
          <a:lstStyle/>
          <a:p>
            <a:pPr algn="l"/>
            <a:r>
              <a:rPr lang="es-ES_tradnl" altLang="es-AR" sz="3200" dirty="0" err="1">
                <a:solidFill>
                  <a:schemeClr val="tx1"/>
                </a:solidFill>
              </a:rPr>
              <a:t>Perceptrón</a:t>
            </a:r>
            <a:r>
              <a:rPr lang="es-ES_tradnl" altLang="es-AR" sz="3200" dirty="0">
                <a:solidFill>
                  <a:schemeClr val="tx1"/>
                </a:solidFill>
              </a:rPr>
              <a:t> limitado por el orden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6484" name="Rectangle 4"/>
          <p:cNvSpPr>
            <a:spLocks noChangeArrowheads="1"/>
          </p:cNvSpPr>
          <p:nvPr/>
        </p:nvSpPr>
        <p:spPr bwMode="auto">
          <a:xfrm>
            <a:off x="468313" y="5445224"/>
            <a:ext cx="8135937" cy="9350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(de orden n)</a:t>
            </a:r>
          </a:p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Cada caja lógica atiende n o menos entradas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1187450" y="1701651"/>
            <a:ext cx="6840538" cy="3311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76493" name="Group 13"/>
          <p:cNvGrpSpPr>
            <a:grpSpLocks/>
          </p:cNvGrpSpPr>
          <p:nvPr/>
        </p:nvGrpSpPr>
        <p:grpSpPr bwMode="auto">
          <a:xfrm>
            <a:off x="1260475" y="1702767"/>
            <a:ext cx="6551613" cy="3240088"/>
            <a:chOff x="2334" y="1251"/>
            <a:chExt cx="7320" cy="3600"/>
          </a:xfrm>
        </p:grpSpPr>
        <p:sp>
          <p:nvSpPr>
            <p:cNvPr id="276494" name="Text Box 14"/>
            <p:cNvSpPr txBox="1">
              <a:spLocks noChangeArrowheads="1"/>
            </p:cNvSpPr>
            <p:nvPr/>
          </p:nvSpPr>
          <p:spPr bwMode="auto">
            <a:xfrm>
              <a:off x="4134" y="1791"/>
              <a:ext cx="480" cy="5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l</a:t>
              </a:r>
              <a:r>
                <a:rPr lang="es-ES_tradnl" altLang="zh-CN" sz="1400" b="1" baseline="-2500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495" name="Text Box 15"/>
            <p:cNvSpPr txBox="1">
              <a:spLocks noChangeArrowheads="1"/>
            </p:cNvSpPr>
            <p:nvPr/>
          </p:nvSpPr>
          <p:spPr bwMode="auto">
            <a:xfrm>
              <a:off x="4134" y="2899"/>
              <a:ext cx="480" cy="5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l</a:t>
              </a:r>
              <a:r>
                <a:rPr lang="es-ES_tradnl" altLang="zh-CN" sz="1400" b="1" baseline="-2500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2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496" name="Text Box 16"/>
            <p:cNvSpPr txBox="1">
              <a:spLocks noChangeArrowheads="1"/>
            </p:cNvSpPr>
            <p:nvPr/>
          </p:nvSpPr>
          <p:spPr bwMode="auto">
            <a:xfrm>
              <a:off x="4134" y="3952"/>
              <a:ext cx="4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l</a:t>
              </a:r>
              <a:r>
                <a:rPr lang="es-ES_tradnl" altLang="zh-CN" sz="1400" b="1" baseline="-2500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3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497" name="Oval 17"/>
            <p:cNvSpPr>
              <a:spLocks noChangeArrowheads="1"/>
            </p:cNvSpPr>
            <p:nvPr/>
          </p:nvSpPr>
          <p:spPr bwMode="auto">
            <a:xfrm>
              <a:off x="5574" y="3051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498" name="Line 18"/>
            <p:cNvSpPr>
              <a:spLocks noChangeShapeType="1"/>
            </p:cNvSpPr>
            <p:nvPr/>
          </p:nvSpPr>
          <p:spPr bwMode="auto">
            <a:xfrm>
              <a:off x="4614" y="3231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499" name="Line 19"/>
            <p:cNvSpPr>
              <a:spLocks noChangeShapeType="1"/>
            </p:cNvSpPr>
            <p:nvPr/>
          </p:nvSpPr>
          <p:spPr bwMode="auto">
            <a:xfrm>
              <a:off x="6054" y="3253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00" name="Line 20"/>
            <p:cNvSpPr>
              <a:spLocks noChangeShapeType="1"/>
            </p:cNvSpPr>
            <p:nvPr/>
          </p:nvSpPr>
          <p:spPr bwMode="auto">
            <a:xfrm flipV="1">
              <a:off x="4614" y="3411"/>
              <a:ext cx="2760" cy="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01" name="Oval 21"/>
            <p:cNvSpPr>
              <a:spLocks noChangeArrowheads="1"/>
            </p:cNvSpPr>
            <p:nvPr/>
          </p:nvSpPr>
          <p:spPr bwMode="auto">
            <a:xfrm>
              <a:off x="5574" y="3771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502" name="Oval 22"/>
            <p:cNvSpPr>
              <a:spLocks noChangeArrowheads="1"/>
            </p:cNvSpPr>
            <p:nvPr/>
          </p:nvSpPr>
          <p:spPr bwMode="auto">
            <a:xfrm>
              <a:off x="7374" y="2893"/>
              <a:ext cx="720" cy="7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s-ES_tradnl" altLang="zh-CN" sz="1200" b="1" dirty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Suma</a:t>
              </a:r>
              <a:endParaRPr lang="es-ES" altLang="es-AR" sz="12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503" name="Line 23"/>
            <p:cNvSpPr>
              <a:spLocks noChangeShapeType="1"/>
            </p:cNvSpPr>
            <p:nvPr/>
          </p:nvSpPr>
          <p:spPr bwMode="auto">
            <a:xfrm>
              <a:off x="4614" y="1968"/>
              <a:ext cx="2760" cy="10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04" name="Oval 24"/>
            <p:cNvSpPr>
              <a:spLocks noChangeArrowheads="1"/>
            </p:cNvSpPr>
            <p:nvPr/>
          </p:nvSpPr>
          <p:spPr bwMode="auto">
            <a:xfrm>
              <a:off x="5574" y="2331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505" name="Oval 25"/>
            <p:cNvSpPr>
              <a:spLocks noChangeArrowheads="1"/>
            </p:cNvSpPr>
            <p:nvPr/>
          </p:nvSpPr>
          <p:spPr bwMode="auto">
            <a:xfrm>
              <a:off x="8454" y="2997"/>
              <a:ext cx="840" cy="47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64000"/>
                </a:lnSpc>
              </a:pPr>
              <a:endParaRPr lang="es-ES_tradnl" altLang="zh-CN" sz="500" b="1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SimSun" pitchFamily="2" charset="-122"/>
              </a:endParaRPr>
            </a:p>
            <a:p>
              <a:pPr>
                <a:lnSpc>
                  <a:spcPct val="64000"/>
                </a:lnSpc>
              </a:pPr>
              <a:r>
                <a:rPr lang="es-ES_tradnl" altLang="zh-CN" sz="1400" b="1" dirty="0" smtClean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&gt;</a:t>
              </a:r>
              <a:r>
                <a:rPr lang="es-ES_tradnl" altLang="zh-CN" sz="1400" b="1" dirty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0?</a:t>
              </a:r>
              <a:endParaRPr lang="es-ES" altLang="es-AR" sz="14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6506" name="Line 26"/>
            <p:cNvSpPr>
              <a:spLocks noChangeShapeType="1"/>
            </p:cNvSpPr>
            <p:nvPr/>
          </p:nvSpPr>
          <p:spPr bwMode="auto">
            <a:xfrm>
              <a:off x="8094" y="3253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07" name="Line 27"/>
            <p:cNvSpPr>
              <a:spLocks noChangeShapeType="1"/>
            </p:cNvSpPr>
            <p:nvPr/>
          </p:nvSpPr>
          <p:spPr bwMode="auto">
            <a:xfrm>
              <a:off x="9294" y="3256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08" name="Text Box 28"/>
            <p:cNvSpPr txBox="1">
              <a:spLocks noChangeArrowheads="1"/>
            </p:cNvSpPr>
            <p:nvPr/>
          </p:nvSpPr>
          <p:spPr bwMode="auto">
            <a:xfrm>
              <a:off x="5574" y="197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/>
            </a:p>
          </p:txBody>
        </p:sp>
        <p:sp>
          <p:nvSpPr>
            <p:cNvPr id="276509" name="Text Box 29"/>
            <p:cNvSpPr txBox="1">
              <a:spLocks noChangeArrowheads="1"/>
            </p:cNvSpPr>
            <p:nvPr/>
          </p:nvSpPr>
          <p:spPr bwMode="auto">
            <a:xfrm>
              <a:off x="5574" y="269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2</a:t>
              </a:r>
              <a:endParaRPr lang="es-ES" altLang="es-AR" sz="1400" b="1"/>
            </a:p>
          </p:txBody>
        </p:sp>
        <p:sp>
          <p:nvSpPr>
            <p:cNvPr id="276510" name="Text Box 30"/>
            <p:cNvSpPr txBox="1">
              <a:spLocks noChangeArrowheads="1"/>
            </p:cNvSpPr>
            <p:nvPr/>
          </p:nvSpPr>
          <p:spPr bwMode="auto">
            <a:xfrm>
              <a:off x="5574" y="341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3</a:t>
              </a:r>
              <a:endParaRPr lang="es-ES" altLang="es-AR" sz="1400" b="1"/>
            </a:p>
          </p:txBody>
        </p:sp>
        <p:sp>
          <p:nvSpPr>
            <p:cNvPr id="276511" name="Text Box 31"/>
            <p:cNvSpPr txBox="1">
              <a:spLocks noChangeArrowheads="1"/>
            </p:cNvSpPr>
            <p:nvPr/>
          </p:nvSpPr>
          <p:spPr bwMode="auto">
            <a:xfrm>
              <a:off x="2334" y="125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/>
            </a:p>
          </p:txBody>
        </p:sp>
        <p:sp>
          <p:nvSpPr>
            <p:cNvPr id="276512" name="Text Box 32"/>
            <p:cNvSpPr txBox="1">
              <a:spLocks noChangeArrowheads="1"/>
            </p:cNvSpPr>
            <p:nvPr/>
          </p:nvSpPr>
          <p:spPr bwMode="auto">
            <a:xfrm>
              <a:off x="2334" y="161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2</a:t>
              </a:r>
              <a:endParaRPr lang="es-ES" altLang="es-AR" sz="1400" b="1"/>
            </a:p>
          </p:txBody>
        </p:sp>
        <p:sp>
          <p:nvSpPr>
            <p:cNvPr id="276513" name="Text Box 33"/>
            <p:cNvSpPr txBox="1">
              <a:spLocks noChangeArrowheads="1"/>
            </p:cNvSpPr>
            <p:nvPr/>
          </p:nvSpPr>
          <p:spPr bwMode="auto">
            <a:xfrm>
              <a:off x="2334" y="197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3</a:t>
              </a:r>
              <a:endParaRPr lang="es-ES" altLang="es-AR" sz="1400" b="1"/>
            </a:p>
          </p:txBody>
        </p:sp>
        <p:sp>
          <p:nvSpPr>
            <p:cNvPr id="276514" name="Text Box 34"/>
            <p:cNvSpPr txBox="1">
              <a:spLocks noChangeArrowheads="1"/>
            </p:cNvSpPr>
            <p:nvPr/>
          </p:nvSpPr>
          <p:spPr bwMode="auto">
            <a:xfrm>
              <a:off x="2334" y="233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4</a:t>
              </a:r>
              <a:endParaRPr lang="es-ES" altLang="es-AR" sz="1400" b="1"/>
            </a:p>
          </p:txBody>
        </p:sp>
        <p:sp>
          <p:nvSpPr>
            <p:cNvPr id="276515" name="Text Box 35"/>
            <p:cNvSpPr txBox="1">
              <a:spLocks noChangeArrowheads="1"/>
            </p:cNvSpPr>
            <p:nvPr/>
          </p:nvSpPr>
          <p:spPr bwMode="auto">
            <a:xfrm>
              <a:off x="2334" y="269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5</a:t>
              </a:r>
              <a:endParaRPr lang="es-ES" altLang="es-AR" sz="1400" b="1"/>
            </a:p>
          </p:txBody>
        </p:sp>
        <p:sp>
          <p:nvSpPr>
            <p:cNvPr id="276516" name="Text Box 36"/>
            <p:cNvSpPr txBox="1">
              <a:spLocks noChangeArrowheads="1"/>
            </p:cNvSpPr>
            <p:nvPr/>
          </p:nvSpPr>
          <p:spPr bwMode="auto">
            <a:xfrm>
              <a:off x="2334" y="305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6</a:t>
              </a:r>
              <a:endParaRPr lang="es-ES" altLang="es-AR" sz="1400" b="1"/>
            </a:p>
          </p:txBody>
        </p:sp>
        <p:sp>
          <p:nvSpPr>
            <p:cNvPr id="276517" name="Text Box 37"/>
            <p:cNvSpPr txBox="1">
              <a:spLocks noChangeArrowheads="1"/>
            </p:cNvSpPr>
            <p:nvPr/>
          </p:nvSpPr>
          <p:spPr bwMode="auto">
            <a:xfrm>
              <a:off x="2334" y="341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7</a:t>
              </a:r>
              <a:endParaRPr lang="es-ES" altLang="es-AR" sz="1400" b="1"/>
            </a:p>
          </p:txBody>
        </p:sp>
        <p:sp>
          <p:nvSpPr>
            <p:cNvPr id="276518" name="Text Box 38"/>
            <p:cNvSpPr txBox="1">
              <a:spLocks noChangeArrowheads="1"/>
            </p:cNvSpPr>
            <p:nvPr/>
          </p:nvSpPr>
          <p:spPr bwMode="auto">
            <a:xfrm>
              <a:off x="2334" y="377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8</a:t>
              </a:r>
              <a:endParaRPr lang="es-ES" altLang="es-AR" sz="1400" b="1"/>
            </a:p>
          </p:txBody>
        </p:sp>
        <p:sp>
          <p:nvSpPr>
            <p:cNvPr id="276519" name="Text Box 39"/>
            <p:cNvSpPr txBox="1">
              <a:spLocks noChangeArrowheads="1"/>
            </p:cNvSpPr>
            <p:nvPr/>
          </p:nvSpPr>
          <p:spPr bwMode="auto">
            <a:xfrm>
              <a:off x="2334" y="413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9</a:t>
              </a:r>
              <a:endParaRPr lang="es-ES" altLang="es-AR" sz="1400" b="1"/>
            </a:p>
          </p:txBody>
        </p:sp>
        <p:sp>
          <p:nvSpPr>
            <p:cNvPr id="276520" name="Text Box 40"/>
            <p:cNvSpPr txBox="1">
              <a:spLocks noChangeArrowheads="1"/>
            </p:cNvSpPr>
            <p:nvPr/>
          </p:nvSpPr>
          <p:spPr bwMode="auto">
            <a:xfrm>
              <a:off x="2334" y="4491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10</a:t>
              </a:r>
              <a:endParaRPr lang="es-ES" altLang="es-AR" sz="1400" b="1"/>
            </a:p>
          </p:txBody>
        </p:sp>
        <p:sp>
          <p:nvSpPr>
            <p:cNvPr id="276521" name="Line 41"/>
            <p:cNvSpPr>
              <a:spLocks noChangeShapeType="1"/>
            </p:cNvSpPr>
            <p:nvPr/>
          </p:nvSpPr>
          <p:spPr bwMode="auto">
            <a:xfrm>
              <a:off x="2814" y="1608"/>
              <a:ext cx="132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2" name="Line 42"/>
            <p:cNvSpPr>
              <a:spLocks noChangeShapeType="1"/>
            </p:cNvSpPr>
            <p:nvPr/>
          </p:nvSpPr>
          <p:spPr bwMode="auto">
            <a:xfrm>
              <a:off x="2814" y="1848"/>
              <a:ext cx="132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3" name="Line 43"/>
            <p:cNvSpPr>
              <a:spLocks noChangeShapeType="1"/>
            </p:cNvSpPr>
            <p:nvPr/>
          </p:nvSpPr>
          <p:spPr bwMode="auto">
            <a:xfrm>
              <a:off x="2814" y="2148"/>
              <a:ext cx="132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4" name="Line 44"/>
            <p:cNvSpPr>
              <a:spLocks noChangeShapeType="1"/>
            </p:cNvSpPr>
            <p:nvPr/>
          </p:nvSpPr>
          <p:spPr bwMode="auto">
            <a:xfrm flipV="1">
              <a:off x="2814" y="2148"/>
              <a:ext cx="132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5" name="Line 45"/>
            <p:cNvSpPr>
              <a:spLocks noChangeShapeType="1"/>
            </p:cNvSpPr>
            <p:nvPr/>
          </p:nvSpPr>
          <p:spPr bwMode="auto">
            <a:xfrm>
              <a:off x="2814" y="2868"/>
              <a:ext cx="132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6" name="Line 46"/>
            <p:cNvSpPr>
              <a:spLocks noChangeShapeType="1"/>
            </p:cNvSpPr>
            <p:nvPr/>
          </p:nvSpPr>
          <p:spPr bwMode="auto">
            <a:xfrm>
              <a:off x="2814" y="3228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7" name="Line 47"/>
            <p:cNvSpPr>
              <a:spLocks noChangeShapeType="1"/>
            </p:cNvSpPr>
            <p:nvPr/>
          </p:nvSpPr>
          <p:spPr bwMode="auto">
            <a:xfrm>
              <a:off x="2814" y="3228"/>
              <a:ext cx="132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8" name="Line 48"/>
            <p:cNvSpPr>
              <a:spLocks noChangeShapeType="1"/>
            </p:cNvSpPr>
            <p:nvPr/>
          </p:nvSpPr>
          <p:spPr bwMode="auto">
            <a:xfrm>
              <a:off x="2814" y="3588"/>
              <a:ext cx="132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29" name="Line 49"/>
            <p:cNvSpPr>
              <a:spLocks noChangeShapeType="1"/>
            </p:cNvSpPr>
            <p:nvPr/>
          </p:nvSpPr>
          <p:spPr bwMode="auto">
            <a:xfrm flipV="1">
              <a:off x="2814" y="2328"/>
              <a:ext cx="1320" cy="16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30" name="Line 50"/>
            <p:cNvSpPr>
              <a:spLocks noChangeShapeType="1"/>
            </p:cNvSpPr>
            <p:nvPr/>
          </p:nvSpPr>
          <p:spPr bwMode="auto">
            <a:xfrm flipV="1">
              <a:off x="2814" y="3408"/>
              <a:ext cx="1320" cy="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31" name="Line 51"/>
            <p:cNvSpPr>
              <a:spLocks noChangeShapeType="1"/>
            </p:cNvSpPr>
            <p:nvPr/>
          </p:nvSpPr>
          <p:spPr bwMode="auto">
            <a:xfrm>
              <a:off x="2814" y="4308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6532" name="Line 52"/>
            <p:cNvSpPr>
              <a:spLocks noChangeShapeType="1"/>
            </p:cNvSpPr>
            <p:nvPr/>
          </p:nvSpPr>
          <p:spPr bwMode="auto">
            <a:xfrm flipV="1">
              <a:off x="2814" y="4488"/>
              <a:ext cx="1320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76533" name="Oval 53"/>
          <p:cNvSpPr>
            <a:spLocks noChangeArrowheads="1"/>
          </p:cNvSpPr>
          <p:nvPr/>
        </p:nvSpPr>
        <p:spPr bwMode="auto">
          <a:xfrm>
            <a:off x="393700" y="333375"/>
            <a:ext cx="649288" cy="6477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_tradnl" altLang="es-AR" sz="2400" b="1"/>
              <a:t>A</a:t>
            </a:r>
            <a:endParaRPr lang="es-ES" altLang="es-AR" sz="2400" b="1"/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2699792" y="1340768"/>
            <a:ext cx="3303920" cy="5760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Las cajas lógicas atienden un máximo de 4 entradas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5863" y="260350"/>
            <a:ext cx="6481762" cy="865188"/>
          </a:xfrm>
        </p:spPr>
        <p:txBody>
          <a:bodyPr/>
          <a:lstStyle/>
          <a:p>
            <a:pPr algn="l"/>
            <a:r>
              <a:rPr lang="es-ES_tradnl" altLang="es-AR" sz="3200" dirty="0" err="1">
                <a:solidFill>
                  <a:schemeClr val="tx1"/>
                </a:solidFill>
              </a:rPr>
              <a:t>Perceptrón</a:t>
            </a:r>
            <a:r>
              <a:rPr lang="es-ES_tradnl" altLang="es-AR" sz="3200" dirty="0">
                <a:solidFill>
                  <a:schemeClr val="tx1"/>
                </a:solidFill>
              </a:rPr>
              <a:t> directo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7507" name="Rectangle 3"/>
          <p:cNvSpPr>
            <a:spLocks noChangeArrowheads="1"/>
          </p:cNvSpPr>
          <p:nvPr/>
        </p:nvSpPr>
        <p:spPr bwMode="auto">
          <a:xfrm>
            <a:off x="468313" y="5157788"/>
            <a:ext cx="8135937" cy="93503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>
                <a:solidFill>
                  <a:srgbClr val="FF0000"/>
                </a:solidFill>
                <a:effectLst/>
              </a:rPr>
              <a:t>Cada caja lógica atiende solo una entrada</a:t>
            </a:r>
          </a:p>
          <a:p>
            <a:pPr algn="ctr">
              <a:buFontTx/>
              <a:buNone/>
            </a:pPr>
            <a:r>
              <a:rPr lang="es-ES_tradnl" altLang="es-AR">
                <a:solidFill>
                  <a:srgbClr val="FF0000"/>
                </a:solidFill>
                <a:effectLst/>
              </a:rPr>
              <a:t>La salida es igual a la entrada</a:t>
            </a:r>
            <a:endParaRPr lang="es-ES" altLang="es-AR">
              <a:solidFill>
                <a:srgbClr val="FF0000"/>
              </a:solidFill>
              <a:effectLst/>
            </a:endParaRPr>
          </a:p>
        </p:txBody>
      </p:sp>
      <p:sp>
        <p:nvSpPr>
          <p:cNvPr id="277508" name="Rectangle 4"/>
          <p:cNvSpPr>
            <a:spLocks noChangeArrowheads="1"/>
          </p:cNvSpPr>
          <p:nvPr/>
        </p:nvSpPr>
        <p:spPr bwMode="auto">
          <a:xfrm>
            <a:off x="1692275" y="1917055"/>
            <a:ext cx="5616575" cy="2232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/>
          </a:p>
        </p:txBody>
      </p:sp>
      <p:sp>
        <p:nvSpPr>
          <p:cNvPr id="277549" name="Oval 45"/>
          <p:cNvSpPr>
            <a:spLocks noChangeArrowheads="1"/>
          </p:cNvSpPr>
          <p:nvPr/>
        </p:nvSpPr>
        <p:spPr bwMode="auto">
          <a:xfrm>
            <a:off x="393700" y="333375"/>
            <a:ext cx="649288" cy="6477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_tradnl" altLang="es-AR" sz="2400" b="1"/>
              <a:t>B</a:t>
            </a:r>
            <a:endParaRPr lang="es-ES" altLang="es-AR" sz="2400" b="1"/>
          </a:p>
        </p:txBody>
      </p:sp>
      <p:grpSp>
        <p:nvGrpSpPr>
          <p:cNvPr id="277550" name="Group 46"/>
          <p:cNvGrpSpPr>
            <a:grpSpLocks/>
          </p:cNvGrpSpPr>
          <p:nvPr/>
        </p:nvGrpSpPr>
        <p:grpSpPr bwMode="auto">
          <a:xfrm>
            <a:off x="1908175" y="1988493"/>
            <a:ext cx="5040313" cy="1871662"/>
            <a:chOff x="2694" y="1248"/>
            <a:chExt cx="5520" cy="2160"/>
          </a:xfrm>
        </p:grpSpPr>
        <p:sp>
          <p:nvSpPr>
            <p:cNvPr id="277551" name="Oval 47"/>
            <p:cNvSpPr>
              <a:spLocks noChangeArrowheads="1"/>
            </p:cNvSpPr>
            <p:nvPr/>
          </p:nvSpPr>
          <p:spPr bwMode="auto">
            <a:xfrm>
              <a:off x="4134" y="2328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7552" name="Line 48"/>
            <p:cNvSpPr>
              <a:spLocks noChangeShapeType="1"/>
            </p:cNvSpPr>
            <p:nvPr/>
          </p:nvSpPr>
          <p:spPr bwMode="auto">
            <a:xfrm>
              <a:off x="4614" y="2530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53" name="Line 49"/>
            <p:cNvSpPr>
              <a:spLocks noChangeShapeType="1"/>
            </p:cNvSpPr>
            <p:nvPr/>
          </p:nvSpPr>
          <p:spPr bwMode="auto">
            <a:xfrm flipV="1">
              <a:off x="4614" y="2688"/>
              <a:ext cx="132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54" name="Oval 50"/>
            <p:cNvSpPr>
              <a:spLocks noChangeArrowheads="1"/>
            </p:cNvSpPr>
            <p:nvPr/>
          </p:nvSpPr>
          <p:spPr bwMode="auto">
            <a:xfrm>
              <a:off x="4134" y="3048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7555" name="Oval 51"/>
            <p:cNvSpPr>
              <a:spLocks noChangeArrowheads="1"/>
            </p:cNvSpPr>
            <p:nvPr/>
          </p:nvSpPr>
          <p:spPr bwMode="auto">
            <a:xfrm>
              <a:off x="5934" y="2170"/>
              <a:ext cx="720" cy="7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s-ES_tradnl" altLang="zh-CN" sz="1200" b="1" dirty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Suma</a:t>
              </a:r>
              <a:endParaRPr lang="es-ES" altLang="es-AR" sz="12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7556" name="Line 52"/>
            <p:cNvSpPr>
              <a:spLocks noChangeShapeType="1"/>
            </p:cNvSpPr>
            <p:nvPr/>
          </p:nvSpPr>
          <p:spPr bwMode="auto">
            <a:xfrm>
              <a:off x="4614" y="1788"/>
              <a:ext cx="1320" cy="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57" name="Oval 53"/>
            <p:cNvSpPr>
              <a:spLocks noChangeArrowheads="1"/>
            </p:cNvSpPr>
            <p:nvPr/>
          </p:nvSpPr>
          <p:spPr bwMode="auto">
            <a:xfrm>
              <a:off x="4134" y="1608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7558" name="Oval 54"/>
            <p:cNvSpPr>
              <a:spLocks noChangeArrowheads="1"/>
            </p:cNvSpPr>
            <p:nvPr/>
          </p:nvSpPr>
          <p:spPr bwMode="auto">
            <a:xfrm>
              <a:off x="7014" y="2280"/>
              <a:ext cx="840" cy="47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64000"/>
                </a:lnSpc>
              </a:pPr>
              <a:endParaRPr lang="es-ES_tradnl" altLang="zh-CN" sz="500" b="1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SimSun" pitchFamily="2" charset="-122"/>
              </a:endParaRPr>
            </a:p>
            <a:p>
              <a:pPr>
                <a:lnSpc>
                  <a:spcPct val="64000"/>
                </a:lnSpc>
              </a:pPr>
              <a:r>
                <a:rPr lang="es-ES_tradnl" altLang="zh-CN" sz="1400" b="1" dirty="0" smtClean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&gt;</a:t>
              </a:r>
              <a:r>
                <a:rPr lang="es-ES_tradnl" altLang="zh-CN" sz="1400" b="1" dirty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T?</a:t>
              </a:r>
              <a:endParaRPr lang="es-ES" altLang="es-AR" sz="14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7559" name="Line 55"/>
            <p:cNvSpPr>
              <a:spLocks noChangeShapeType="1"/>
            </p:cNvSpPr>
            <p:nvPr/>
          </p:nvSpPr>
          <p:spPr bwMode="auto">
            <a:xfrm>
              <a:off x="6654" y="2530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60" name="Line 56"/>
            <p:cNvSpPr>
              <a:spLocks noChangeShapeType="1"/>
            </p:cNvSpPr>
            <p:nvPr/>
          </p:nvSpPr>
          <p:spPr bwMode="auto">
            <a:xfrm>
              <a:off x="7854" y="2533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61" name="Text Box 57"/>
            <p:cNvSpPr txBox="1">
              <a:spLocks noChangeArrowheads="1"/>
            </p:cNvSpPr>
            <p:nvPr/>
          </p:nvSpPr>
          <p:spPr bwMode="auto">
            <a:xfrm>
              <a:off x="4134" y="1248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/>
            </a:p>
          </p:txBody>
        </p:sp>
        <p:sp>
          <p:nvSpPr>
            <p:cNvPr id="277562" name="Text Box 58"/>
            <p:cNvSpPr txBox="1">
              <a:spLocks noChangeArrowheads="1"/>
            </p:cNvSpPr>
            <p:nvPr/>
          </p:nvSpPr>
          <p:spPr bwMode="auto">
            <a:xfrm>
              <a:off x="4134" y="1968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2</a:t>
              </a:r>
              <a:endParaRPr lang="es-ES" altLang="es-AR" sz="1400" b="1"/>
            </a:p>
          </p:txBody>
        </p:sp>
        <p:sp>
          <p:nvSpPr>
            <p:cNvPr id="277563" name="Text Box 59"/>
            <p:cNvSpPr txBox="1">
              <a:spLocks noChangeArrowheads="1"/>
            </p:cNvSpPr>
            <p:nvPr/>
          </p:nvSpPr>
          <p:spPr bwMode="auto">
            <a:xfrm>
              <a:off x="4134" y="2688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3</a:t>
              </a:r>
              <a:endParaRPr lang="es-ES" altLang="es-AR" sz="1400" b="1"/>
            </a:p>
          </p:txBody>
        </p:sp>
        <p:sp>
          <p:nvSpPr>
            <p:cNvPr id="277564" name="Text Box 60"/>
            <p:cNvSpPr txBox="1">
              <a:spLocks noChangeArrowheads="1"/>
            </p:cNvSpPr>
            <p:nvPr/>
          </p:nvSpPr>
          <p:spPr bwMode="auto">
            <a:xfrm>
              <a:off x="2694" y="1608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/>
            </a:p>
          </p:txBody>
        </p:sp>
        <p:sp>
          <p:nvSpPr>
            <p:cNvPr id="277565" name="Text Box 61"/>
            <p:cNvSpPr txBox="1">
              <a:spLocks noChangeArrowheads="1"/>
            </p:cNvSpPr>
            <p:nvPr/>
          </p:nvSpPr>
          <p:spPr bwMode="auto">
            <a:xfrm>
              <a:off x="2694" y="2328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2</a:t>
              </a:r>
              <a:endParaRPr lang="es-ES" altLang="es-AR" sz="1400" b="1"/>
            </a:p>
          </p:txBody>
        </p:sp>
        <p:sp>
          <p:nvSpPr>
            <p:cNvPr id="277566" name="Text Box 62"/>
            <p:cNvSpPr txBox="1">
              <a:spLocks noChangeArrowheads="1"/>
            </p:cNvSpPr>
            <p:nvPr/>
          </p:nvSpPr>
          <p:spPr bwMode="auto">
            <a:xfrm>
              <a:off x="2694" y="3048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3</a:t>
              </a:r>
              <a:endParaRPr lang="es-ES" altLang="es-AR" sz="1400" b="1"/>
            </a:p>
          </p:txBody>
        </p:sp>
        <p:sp>
          <p:nvSpPr>
            <p:cNvPr id="277567" name="Line 63"/>
            <p:cNvSpPr>
              <a:spLocks noChangeShapeType="1"/>
            </p:cNvSpPr>
            <p:nvPr/>
          </p:nvSpPr>
          <p:spPr bwMode="auto">
            <a:xfrm>
              <a:off x="3174" y="181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68" name="Line 64"/>
            <p:cNvSpPr>
              <a:spLocks noChangeShapeType="1"/>
            </p:cNvSpPr>
            <p:nvPr/>
          </p:nvSpPr>
          <p:spPr bwMode="auto">
            <a:xfrm>
              <a:off x="3174" y="250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7569" name="Line 65"/>
            <p:cNvSpPr>
              <a:spLocks noChangeShapeType="1"/>
            </p:cNvSpPr>
            <p:nvPr/>
          </p:nvSpPr>
          <p:spPr bwMode="auto">
            <a:xfrm>
              <a:off x="3174" y="322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3770899" y="1556526"/>
            <a:ext cx="3303920" cy="5760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Puede verse como un </a:t>
            </a:r>
            <a:r>
              <a:rPr lang="es-ES_tradnl" altLang="es-AR" sz="17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perceptrón</a:t>
            </a: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sin cajas lógicas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424862" cy="86518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Aprendizaje del </a:t>
            </a:r>
            <a:r>
              <a:rPr lang="es-ES_tradnl" altLang="es-AR" sz="3200" dirty="0" err="1">
                <a:solidFill>
                  <a:schemeClr val="tx1"/>
                </a:solidFill>
              </a:rPr>
              <a:t>Perceptrón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78537" name="Rectangle 9"/>
          <p:cNvSpPr>
            <a:spLocks noChangeArrowheads="1"/>
          </p:cNvSpPr>
          <p:nvPr/>
        </p:nvSpPr>
        <p:spPr bwMode="auto">
          <a:xfrm>
            <a:off x="684213" y="1844675"/>
            <a:ext cx="7920037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54013" indent="-354013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dirty="0">
                <a:solidFill>
                  <a:schemeClr val="tx1"/>
                </a:solidFill>
              </a:rPr>
              <a:t>Hasta que el </a:t>
            </a:r>
            <a:r>
              <a:rPr lang="es-ES_tradnl" altLang="es-AR" dirty="0" err="1">
                <a:solidFill>
                  <a:schemeClr val="tx1"/>
                </a:solidFill>
              </a:rPr>
              <a:t>perceptrón</a:t>
            </a:r>
            <a:r>
              <a:rPr lang="es-ES_tradnl" altLang="es-AR" dirty="0">
                <a:solidFill>
                  <a:schemeClr val="tx1"/>
                </a:solidFill>
              </a:rPr>
              <a:t> de el resultado correcto para cada muestra de entrenamiento:</a:t>
            </a:r>
          </a:p>
          <a:p>
            <a:pPr lvl="1"/>
            <a:r>
              <a:rPr lang="es-ES_tradnl" altLang="es-AR" dirty="0">
                <a:solidFill>
                  <a:schemeClr val="tx1"/>
                </a:solidFill>
              </a:rPr>
              <a:t>Si el </a:t>
            </a:r>
            <a:r>
              <a:rPr lang="es-ES_tradnl" altLang="es-AR" dirty="0" err="1">
                <a:solidFill>
                  <a:schemeClr val="tx1"/>
                </a:solidFill>
              </a:rPr>
              <a:t>perceptrón</a:t>
            </a:r>
            <a:r>
              <a:rPr lang="es-ES_tradnl" altLang="es-AR" dirty="0">
                <a:solidFill>
                  <a:schemeClr val="tx1"/>
                </a:solidFill>
              </a:rPr>
              <a:t> produce una respuesta errónea:</a:t>
            </a:r>
          </a:p>
          <a:p>
            <a:pPr lvl="2">
              <a:buFont typeface="Wingdings" pitchFamily="2" charset="2"/>
              <a:buChar char="Ø"/>
            </a:pPr>
            <a:r>
              <a:rPr lang="es-ES_tradnl" altLang="es-AR" dirty="0">
                <a:solidFill>
                  <a:schemeClr val="tx1"/>
                </a:solidFill>
              </a:rPr>
              <a:t>Si dice NO cuando debería decir SI, sumar el vector de salida de caja lógica al vector peso</a:t>
            </a:r>
          </a:p>
          <a:p>
            <a:pPr lvl="2">
              <a:buFont typeface="Wingdings" pitchFamily="2" charset="2"/>
              <a:buChar char="Ø"/>
            </a:pPr>
            <a:r>
              <a:rPr lang="es-ES_tradnl" altLang="es-AR" dirty="0">
                <a:solidFill>
                  <a:schemeClr val="tx1"/>
                </a:solidFill>
              </a:rPr>
              <a:t>En otro caso, restar el vector de salida de caja lógica del vector peso</a:t>
            </a:r>
          </a:p>
          <a:p>
            <a:pPr lvl="1"/>
            <a:r>
              <a:rPr lang="es-ES_tradnl" altLang="es-AR" dirty="0">
                <a:solidFill>
                  <a:schemeClr val="tx1"/>
                </a:solidFill>
              </a:rPr>
              <a:t>En cualquier otro caso, no hacer nada</a:t>
            </a:r>
            <a:endParaRPr lang="es-ES" altLang="es-AR" dirty="0">
              <a:solidFill>
                <a:schemeClr val="tx1"/>
              </a:solidFill>
            </a:endParaRPr>
          </a:p>
        </p:txBody>
      </p:sp>
      <p:sp>
        <p:nvSpPr>
          <p:cNvPr id="278538" name="Rectangle 10"/>
          <p:cNvSpPr>
            <a:spLocks noChangeArrowheads="1"/>
          </p:cNvSpPr>
          <p:nvPr/>
        </p:nvSpPr>
        <p:spPr bwMode="auto">
          <a:xfrm>
            <a:off x="611188" y="1341438"/>
            <a:ext cx="295275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2800">
                <a:solidFill>
                  <a:srgbClr val="FF0000"/>
                </a:solidFill>
              </a:rPr>
              <a:t>Entrenamiento:</a:t>
            </a:r>
            <a:endParaRPr lang="es-ES" altLang="es-AR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994122"/>
          </a:xfrm>
        </p:spPr>
        <p:txBody>
          <a:bodyPr/>
          <a:lstStyle/>
          <a:p>
            <a:pPr algn="l"/>
            <a:r>
              <a:rPr lang="es-ES_tradnl" altLang="es-AR" sz="3200" dirty="0" err="1">
                <a:solidFill>
                  <a:schemeClr val="tx1"/>
                </a:solidFill>
              </a:rPr>
              <a:t>Perceptrón</a:t>
            </a:r>
            <a:r>
              <a:rPr lang="es-ES_tradnl" altLang="es-AR" sz="3200" dirty="0">
                <a:solidFill>
                  <a:schemeClr val="tx1"/>
                </a:solidFill>
              </a:rPr>
              <a:t> </a:t>
            </a:r>
            <a:r>
              <a:rPr lang="es-ES_tradnl" altLang="es-AR" sz="3200" dirty="0" smtClean="0">
                <a:solidFill>
                  <a:schemeClr val="tx1"/>
                </a:solidFill>
              </a:rPr>
              <a:t>directo</a:t>
            </a:r>
            <a:br>
              <a:rPr lang="es-ES_tradnl" altLang="es-AR" sz="3200" dirty="0" smtClean="0">
                <a:solidFill>
                  <a:schemeClr val="tx1"/>
                </a:solidFill>
              </a:rPr>
            </a:br>
            <a:r>
              <a:rPr lang="es-ES_tradnl" altLang="es-AR" sz="2500" dirty="0" smtClean="0">
                <a:solidFill>
                  <a:schemeClr val="tx1"/>
                </a:solidFill>
              </a:rPr>
              <a:t>Entrenarlo para que efectúe la Función </a:t>
            </a:r>
            <a:r>
              <a:rPr lang="es-ES_tradnl" altLang="es-AR" sz="2500" dirty="0">
                <a:solidFill>
                  <a:schemeClr val="tx1"/>
                </a:solidFill>
              </a:rPr>
              <a:t>L</a:t>
            </a:r>
            <a:r>
              <a:rPr lang="es-ES_tradnl" altLang="es-AR" sz="2500" dirty="0" smtClean="0">
                <a:solidFill>
                  <a:schemeClr val="tx1"/>
                </a:solidFill>
              </a:rPr>
              <a:t>ógica OR</a:t>
            </a:r>
            <a:endParaRPr lang="es-ES" altLang="es-AR" sz="2500" dirty="0">
              <a:solidFill>
                <a:schemeClr val="tx1"/>
              </a:solidFill>
            </a:endParaRPr>
          </a:p>
        </p:txBody>
      </p:sp>
      <p:graphicFrame>
        <p:nvGraphicFramePr>
          <p:cNvPr id="279679" name="Group 12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824717"/>
              </p:ext>
            </p:extLst>
          </p:nvPr>
        </p:nvGraphicFramePr>
        <p:xfrm>
          <a:off x="972393" y="1412776"/>
          <a:ext cx="6911975" cy="1920240"/>
        </p:xfrm>
        <a:graphic>
          <a:graphicData uri="http://schemas.openxmlformats.org/drawingml/2006/table">
            <a:tbl>
              <a:tblPr/>
              <a:tblGrid>
                <a:gridCol w="1381125"/>
                <a:gridCol w="1382712"/>
                <a:gridCol w="1384300"/>
                <a:gridCol w="1382713"/>
                <a:gridCol w="1381125"/>
              </a:tblGrid>
              <a:tr h="5000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Muestra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 = (l</a:t>
                      </a:r>
                      <a:r>
                        <a:rPr kumimoji="0" lang="es-ES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" altLang="es-AR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 = (l</a:t>
                      </a:r>
                      <a:r>
                        <a:rPr kumimoji="0" lang="es-ES" altLang="es-AR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" altLang="es-AR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 = (l</a:t>
                      </a:r>
                      <a:r>
                        <a:rPr kumimoji="0" lang="es-ES" altLang="es-AR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)=1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Salida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deseada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889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905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889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889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79677" name="Rectangle 125"/>
          <p:cNvSpPr>
            <a:spLocks noChangeArrowheads="1"/>
          </p:cNvSpPr>
          <p:nvPr/>
        </p:nvSpPr>
        <p:spPr bwMode="auto">
          <a:xfrm>
            <a:off x="3203897" y="4509343"/>
            <a:ext cx="5616575" cy="2232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/>
          </a:p>
        </p:txBody>
      </p:sp>
      <p:grpSp>
        <p:nvGrpSpPr>
          <p:cNvPr id="279655" name="Group 103"/>
          <p:cNvGrpSpPr>
            <a:grpSpLocks/>
          </p:cNvGrpSpPr>
          <p:nvPr/>
        </p:nvGrpSpPr>
        <p:grpSpPr bwMode="auto">
          <a:xfrm>
            <a:off x="3347789" y="4580780"/>
            <a:ext cx="5184775" cy="1944688"/>
            <a:chOff x="2694" y="1425"/>
            <a:chExt cx="5520" cy="2160"/>
          </a:xfrm>
        </p:grpSpPr>
        <p:sp>
          <p:nvSpPr>
            <p:cNvPr id="279656" name="Oval 104"/>
            <p:cNvSpPr>
              <a:spLocks noChangeArrowheads="1"/>
            </p:cNvSpPr>
            <p:nvPr/>
          </p:nvSpPr>
          <p:spPr bwMode="auto">
            <a:xfrm>
              <a:off x="4134" y="2505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9657" name="Line 105"/>
            <p:cNvSpPr>
              <a:spLocks noChangeShapeType="1"/>
            </p:cNvSpPr>
            <p:nvPr/>
          </p:nvSpPr>
          <p:spPr bwMode="auto">
            <a:xfrm>
              <a:off x="4614" y="2707"/>
              <a:ext cx="1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58" name="Line 106"/>
            <p:cNvSpPr>
              <a:spLocks noChangeShapeType="1"/>
            </p:cNvSpPr>
            <p:nvPr/>
          </p:nvSpPr>
          <p:spPr bwMode="auto">
            <a:xfrm flipV="1">
              <a:off x="4614" y="2865"/>
              <a:ext cx="132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59" name="Oval 107"/>
            <p:cNvSpPr>
              <a:spLocks noChangeArrowheads="1"/>
            </p:cNvSpPr>
            <p:nvPr/>
          </p:nvSpPr>
          <p:spPr bwMode="auto">
            <a:xfrm>
              <a:off x="4134" y="3225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9660" name="Oval 108"/>
            <p:cNvSpPr>
              <a:spLocks noChangeArrowheads="1"/>
            </p:cNvSpPr>
            <p:nvPr/>
          </p:nvSpPr>
          <p:spPr bwMode="auto">
            <a:xfrm>
              <a:off x="5934" y="2347"/>
              <a:ext cx="720" cy="7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s-ES_tradnl" altLang="zh-CN" sz="12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Suma</a:t>
              </a:r>
              <a:endParaRPr lang="es-ES" altLang="es-AR" sz="12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9661" name="Line 109"/>
            <p:cNvSpPr>
              <a:spLocks noChangeShapeType="1"/>
            </p:cNvSpPr>
            <p:nvPr/>
          </p:nvSpPr>
          <p:spPr bwMode="auto">
            <a:xfrm>
              <a:off x="4614" y="1965"/>
              <a:ext cx="1320" cy="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62" name="Oval 110"/>
            <p:cNvSpPr>
              <a:spLocks noChangeArrowheads="1"/>
            </p:cNvSpPr>
            <p:nvPr/>
          </p:nvSpPr>
          <p:spPr bwMode="auto">
            <a:xfrm>
              <a:off x="4134" y="1785"/>
              <a:ext cx="48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48000"/>
                </a:lnSpc>
              </a:pPr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x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9663" name="Oval 111"/>
            <p:cNvSpPr>
              <a:spLocks noChangeArrowheads="1"/>
            </p:cNvSpPr>
            <p:nvPr/>
          </p:nvSpPr>
          <p:spPr bwMode="auto">
            <a:xfrm>
              <a:off x="7014" y="2463"/>
              <a:ext cx="8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lnSpc>
                  <a:spcPct val="64000"/>
                </a:lnSpc>
              </a:pPr>
              <a:endParaRPr lang="es-ES_tradnl" altLang="zh-CN" sz="500" b="1" dirty="0" smtClean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SimSun" pitchFamily="2" charset="-122"/>
              </a:endParaRPr>
            </a:p>
            <a:p>
              <a:pPr>
                <a:lnSpc>
                  <a:spcPct val="64000"/>
                </a:lnSpc>
              </a:pPr>
              <a:r>
                <a:rPr lang="es-ES_tradnl" altLang="zh-CN" sz="1400" b="1" dirty="0" smtClean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&gt;</a:t>
              </a:r>
              <a:r>
                <a:rPr lang="es-ES_tradnl" altLang="zh-CN" sz="1400" b="1" dirty="0">
                  <a:solidFill>
                    <a:schemeClr val="bg1">
                      <a:lumMod val="50000"/>
                    </a:schemeClr>
                  </a:solidFill>
                  <a:latin typeface="Verdana" pitchFamily="34" charset="0"/>
                  <a:ea typeface="SimSun" pitchFamily="2" charset="-122"/>
                </a:rPr>
                <a:t>0?</a:t>
              </a:r>
              <a:endParaRPr lang="es-ES" altLang="es-AR" sz="14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9664" name="Line 112"/>
            <p:cNvSpPr>
              <a:spLocks noChangeShapeType="1"/>
            </p:cNvSpPr>
            <p:nvPr/>
          </p:nvSpPr>
          <p:spPr bwMode="auto">
            <a:xfrm>
              <a:off x="6654" y="2707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65" name="Line 113"/>
            <p:cNvSpPr>
              <a:spLocks noChangeShapeType="1"/>
            </p:cNvSpPr>
            <p:nvPr/>
          </p:nvSpPr>
          <p:spPr bwMode="auto">
            <a:xfrm>
              <a:off x="7854" y="2710"/>
              <a:ext cx="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66" name="Text Box 114"/>
            <p:cNvSpPr txBox="1">
              <a:spLocks noChangeArrowheads="1"/>
            </p:cNvSpPr>
            <p:nvPr/>
          </p:nvSpPr>
          <p:spPr bwMode="auto">
            <a:xfrm>
              <a:off x="4134" y="1425"/>
              <a:ext cx="108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</a:t>
              </a:r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 = 0</a:t>
              </a:r>
              <a:endParaRPr lang="es-ES" altLang="es-AR" sz="1400" b="1"/>
            </a:p>
          </p:txBody>
        </p:sp>
        <p:sp>
          <p:nvSpPr>
            <p:cNvPr id="279667" name="Text Box 115"/>
            <p:cNvSpPr txBox="1">
              <a:spLocks noChangeArrowheads="1"/>
            </p:cNvSpPr>
            <p:nvPr/>
          </p:nvSpPr>
          <p:spPr bwMode="auto">
            <a:xfrm>
              <a:off x="4134" y="2145"/>
              <a:ext cx="9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2</a:t>
              </a:r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 = 0</a:t>
              </a:r>
              <a:endParaRPr lang="es-ES" altLang="es-AR" sz="1400" b="1"/>
            </a:p>
          </p:txBody>
        </p:sp>
        <p:sp>
          <p:nvSpPr>
            <p:cNvPr id="279668" name="Text Box 116"/>
            <p:cNvSpPr txBox="1">
              <a:spLocks noChangeArrowheads="1"/>
            </p:cNvSpPr>
            <p:nvPr/>
          </p:nvSpPr>
          <p:spPr bwMode="auto">
            <a:xfrm>
              <a:off x="4134" y="2865"/>
              <a:ext cx="9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w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3</a:t>
              </a:r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 = 0</a:t>
              </a:r>
              <a:endParaRPr lang="es-ES" altLang="es-AR" sz="1400" b="1"/>
            </a:p>
          </p:txBody>
        </p:sp>
        <p:sp>
          <p:nvSpPr>
            <p:cNvPr id="279669" name="Text Box 117"/>
            <p:cNvSpPr txBox="1">
              <a:spLocks noChangeArrowheads="1"/>
            </p:cNvSpPr>
            <p:nvPr/>
          </p:nvSpPr>
          <p:spPr bwMode="auto">
            <a:xfrm>
              <a:off x="2694" y="1785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/>
            </a:p>
          </p:txBody>
        </p:sp>
        <p:sp>
          <p:nvSpPr>
            <p:cNvPr id="279670" name="Text Box 118"/>
            <p:cNvSpPr txBox="1">
              <a:spLocks noChangeArrowheads="1"/>
            </p:cNvSpPr>
            <p:nvPr/>
          </p:nvSpPr>
          <p:spPr bwMode="auto">
            <a:xfrm>
              <a:off x="2694" y="2505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x</a:t>
              </a:r>
              <a:r>
                <a:rPr lang="es-ES_tradnl" altLang="zh-CN" sz="1400" b="1" baseline="-25000">
                  <a:latin typeface="Verdana" pitchFamily="34" charset="0"/>
                  <a:ea typeface="SimSun" pitchFamily="2" charset="-122"/>
                </a:rPr>
                <a:t>2</a:t>
              </a:r>
              <a:endParaRPr lang="es-ES" altLang="es-AR" sz="1400" b="1"/>
            </a:p>
          </p:txBody>
        </p:sp>
        <p:sp>
          <p:nvSpPr>
            <p:cNvPr id="279671" name="Text Box 119"/>
            <p:cNvSpPr txBox="1">
              <a:spLocks noChangeArrowheads="1"/>
            </p:cNvSpPr>
            <p:nvPr/>
          </p:nvSpPr>
          <p:spPr bwMode="auto">
            <a:xfrm>
              <a:off x="2694" y="3225"/>
              <a:ext cx="60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400" b="1">
                  <a:latin typeface="Verdana" pitchFamily="34" charset="0"/>
                  <a:ea typeface="SimSun" pitchFamily="2" charset="-122"/>
                </a:rPr>
                <a:t>1</a:t>
              </a:r>
              <a:endParaRPr lang="es-ES" altLang="es-AR" sz="1400" b="1"/>
            </a:p>
          </p:txBody>
        </p:sp>
        <p:sp>
          <p:nvSpPr>
            <p:cNvPr id="279672" name="Line 120"/>
            <p:cNvSpPr>
              <a:spLocks noChangeShapeType="1"/>
            </p:cNvSpPr>
            <p:nvPr/>
          </p:nvSpPr>
          <p:spPr bwMode="auto">
            <a:xfrm>
              <a:off x="3174" y="1993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73" name="Line 121"/>
            <p:cNvSpPr>
              <a:spLocks noChangeShapeType="1"/>
            </p:cNvSpPr>
            <p:nvPr/>
          </p:nvSpPr>
          <p:spPr bwMode="auto">
            <a:xfrm>
              <a:off x="3174" y="2685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9674" name="Line 122"/>
            <p:cNvSpPr>
              <a:spLocks noChangeShapeType="1"/>
            </p:cNvSpPr>
            <p:nvPr/>
          </p:nvSpPr>
          <p:spPr bwMode="auto">
            <a:xfrm>
              <a:off x="3174" y="3405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206043" y="4647703"/>
            <a:ext cx="2853070" cy="141635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Como el </a:t>
            </a:r>
            <a:r>
              <a:rPr lang="es-ES_tradnl" altLang="es-AR" sz="17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perceptrón</a:t>
            </a:r>
            <a:r>
              <a:rPr lang="es-ES_tradnl" altLang="es-AR" sz="17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es directo, el vector de salida de caja lógica es el mismo que el vector de entrada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323528" y="3501008"/>
            <a:ext cx="8496944" cy="86431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Se añade una entrada virtual extra cuyo valor siempre es 1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El </a:t>
            </a:r>
            <a:r>
              <a:rPr lang="es-ES_tradnl" altLang="es-AR" sz="17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perceptrón</a:t>
            </a: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se ve como si tuviera un umbral de 0 y dice SI siempre que la suma ponderada de las salidas de las cajas lógicas sea mayor que 0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02" name="Rectangle 102"/>
          <p:cNvSpPr>
            <a:spLocks noChangeArrowheads="1"/>
          </p:cNvSpPr>
          <p:nvPr/>
        </p:nvSpPr>
        <p:spPr bwMode="auto">
          <a:xfrm>
            <a:off x="936625" y="847725"/>
            <a:ext cx="5397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AR"/>
          </a:p>
        </p:txBody>
      </p:sp>
      <p:sp>
        <p:nvSpPr>
          <p:cNvPr id="281671" name="Text Box 71"/>
          <p:cNvSpPr txBox="1">
            <a:spLocks noChangeArrowheads="1"/>
          </p:cNvSpPr>
          <p:nvPr/>
        </p:nvSpPr>
        <p:spPr bwMode="auto">
          <a:xfrm>
            <a:off x="1763713" y="3522663"/>
            <a:ext cx="2486025" cy="9826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Sumar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    Vector de pesos	0 0 0</a:t>
            </a: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Vector de entradas	</a:t>
            </a:r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0 1 1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		0 1 1</a:t>
            </a:r>
          </a:p>
        </p:txBody>
      </p:sp>
      <p:sp>
        <p:nvSpPr>
          <p:cNvPr id="281670" name="Text Box 70"/>
          <p:cNvSpPr txBox="1">
            <a:spLocks noChangeArrowheads="1"/>
          </p:cNvSpPr>
          <p:nvPr/>
        </p:nvSpPr>
        <p:spPr bwMode="auto">
          <a:xfrm>
            <a:off x="2628900" y="4667250"/>
            <a:ext cx="2535238" cy="981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Restar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    Vector de pesos	0 1 1</a:t>
            </a: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Vector de entradas	</a:t>
            </a:r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0 0 1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		0 1 0</a:t>
            </a:r>
          </a:p>
        </p:txBody>
      </p:sp>
      <p:sp>
        <p:nvSpPr>
          <p:cNvPr id="281669" name="Text Box 69"/>
          <p:cNvSpPr txBox="1">
            <a:spLocks noChangeArrowheads="1"/>
          </p:cNvSpPr>
          <p:nvPr/>
        </p:nvSpPr>
        <p:spPr bwMode="auto">
          <a:xfrm>
            <a:off x="4935538" y="3522663"/>
            <a:ext cx="2517775" cy="9826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Sumar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    Vector de pesos	0 1 0</a:t>
            </a: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Vector de entradas	</a:t>
            </a:r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1 0 1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		1 1 1</a:t>
            </a:r>
          </a:p>
        </p:txBody>
      </p:sp>
      <p:sp>
        <p:nvSpPr>
          <p:cNvPr id="281668" name="Text Box 68"/>
          <p:cNvSpPr txBox="1">
            <a:spLocks noChangeArrowheads="1"/>
          </p:cNvSpPr>
          <p:nvPr/>
        </p:nvSpPr>
        <p:spPr bwMode="auto">
          <a:xfrm>
            <a:off x="5468938" y="4895850"/>
            <a:ext cx="2487612" cy="981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Restar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    Vector de pesos	1 1 1</a:t>
            </a: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Vector de entradas	</a:t>
            </a:r>
            <a:r>
              <a:rPr lang="es-ES" altLang="es-AR" sz="1400" b="1" u="sng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0 0 1</a:t>
            </a:r>
            <a:endParaRPr lang="es-ES" altLang="es-AR" sz="1400" b="1">
              <a:solidFill>
                <a:schemeClr val="bg1">
                  <a:lumMod val="50000"/>
                </a:schemeClr>
              </a:solidFill>
              <a:ea typeface="SimSun" pitchFamily="2" charset="-122"/>
              <a:cs typeface="Times New Roman" pitchFamily="18" charset="0"/>
            </a:endParaRPr>
          </a:p>
          <a:p>
            <a:pPr eaLnBrk="0" hangingPunct="0"/>
            <a:r>
              <a:rPr lang="es-ES" altLang="es-AR" sz="1400" b="1">
                <a:solidFill>
                  <a:schemeClr val="bg1">
                    <a:lumMod val="50000"/>
                  </a:schemeClr>
                </a:solidFill>
                <a:ea typeface="SimSun" pitchFamily="2" charset="-122"/>
                <a:cs typeface="Times New Roman" pitchFamily="18" charset="0"/>
              </a:rPr>
              <a:t>		1 1 0</a:t>
            </a:r>
          </a:p>
        </p:txBody>
      </p:sp>
      <p:graphicFrame>
        <p:nvGraphicFramePr>
          <p:cNvPr id="282169" name="Group 5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496319"/>
              </p:ext>
            </p:extLst>
          </p:nvPr>
        </p:nvGraphicFramePr>
        <p:xfrm>
          <a:off x="900113" y="692150"/>
          <a:ext cx="7129462" cy="2651760"/>
        </p:xfrm>
        <a:graphic>
          <a:graphicData uri="http://schemas.openxmlformats.org/drawingml/2006/table">
            <a:tbl>
              <a:tblPr/>
              <a:tblGrid>
                <a:gridCol w="712787"/>
                <a:gridCol w="712788"/>
                <a:gridCol w="712787"/>
                <a:gridCol w="712788"/>
                <a:gridCol w="714375"/>
                <a:gridCol w="712787"/>
                <a:gridCol w="712788"/>
                <a:gridCol w="712787"/>
                <a:gridCol w="712788"/>
                <a:gridCol w="712787"/>
              </a:tblGrid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Pesos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" altLang="es-AR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s-ES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" altLang="es-AR" sz="16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s-ES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228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altLang="es-AR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281663" name="Freeform 63"/>
          <p:cNvSpPr>
            <a:spLocks/>
          </p:cNvSpPr>
          <p:nvPr/>
        </p:nvSpPr>
        <p:spPr bwMode="auto">
          <a:xfrm>
            <a:off x="3348038" y="2555875"/>
            <a:ext cx="387350" cy="923925"/>
          </a:xfrm>
          <a:custGeom>
            <a:avLst/>
            <a:gdLst>
              <a:gd name="T0" fmla="*/ 137 w 244"/>
              <a:gd name="T1" fmla="*/ 0 h 582"/>
              <a:gd name="T2" fmla="*/ 229 w 244"/>
              <a:gd name="T3" fmla="*/ 183 h 582"/>
              <a:gd name="T4" fmla="*/ 197 w 244"/>
              <a:gd name="T5" fmla="*/ 432 h 582"/>
              <a:gd name="T6" fmla="*/ 0 w 244"/>
              <a:gd name="T7" fmla="*/ 582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4" h="582">
                <a:moveTo>
                  <a:pt x="137" y="0"/>
                </a:moveTo>
                <a:cubicBezTo>
                  <a:pt x="152" y="30"/>
                  <a:pt x="219" y="111"/>
                  <a:pt x="229" y="183"/>
                </a:cubicBezTo>
                <a:cubicBezTo>
                  <a:pt x="222" y="254"/>
                  <a:pt x="244" y="368"/>
                  <a:pt x="197" y="432"/>
                </a:cubicBezTo>
                <a:cubicBezTo>
                  <a:pt x="149" y="497"/>
                  <a:pt x="41" y="551"/>
                  <a:pt x="0" y="582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1662" name="Freeform 62"/>
          <p:cNvSpPr>
            <a:spLocks/>
          </p:cNvSpPr>
          <p:nvPr/>
        </p:nvSpPr>
        <p:spPr bwMode="auto">
          <a:xfrm>
            <a:off x="4427538" y="2244725"/>
            <a:ext cx="695325" cy="2357438"/>
          </a:xfrm>
          <a:custGeom>
            <a:avLst/>
            <a:gdLst>
              <a:gd name="T0" fmla="*/ 379 w 438"/>
              <a:gd name="T1" fmla="*/ 0 h 1485"/>
              <a:gd name="T2" fmla="*/ 418 w 438"/>
              <a:gd name="T3" fmla="*/ 196 h 1485"/>
              <a:gd name="T4" fmla="*/ 366 w 438"/>
              <a:gd name="T5" fmla="*/ 484 h 1485"/>
              <a:gd name="T6" fmla="*/ 224 w 438"/>
              <a:gd name="T7" fmla="*/ 689 h 1485"/>
              <a:gd name="T8" fmla="*/ 48 w 438"/>
              <a:gd name="T9" fmla="*/ 998 h 1485"/>
              <a:gd name="T10" fmla="*/ 0 w 438"/>
              <a:gd name="T11" fmla="*/ 1485 h 14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8" h="1485">
                <a:moveTo>
                  <a:pt x="379" y="0"/>
                </a:moveTo>
                <a:cubicBezTo>
                  <a:pt x="386" y="33"/>
                  <a:pt x="420" y="115"/>
                  <a:pt x="418" y="196"/>
                </a:cubicBezTo>
                <a:cubicBezTo>
                  <a:pt x="438" y="283"/>
                  <a:pt x="426" y="411"/>
                  <a:pt x="366" y="484"/>
                </a:cubicBezTo>
                <a:cubicBezTo>
                  <a:pt x="306" y="558"/>
                  <a:pt x="307" y="608"/>
                  <a:pt x="224" y="689"/>
                </a:cubicBezTo>
                <a:cubicBezTo>
                  <a:pt x="141" y="769"/>
                  <a:pt x="85" y="865"/>
                  <a:pt x="48" y="998"/>
                </a:cubicBezTo>
                <a:cubicBezTo>
                  <a:pt x="11" y="1131"/>
                  <a:pt x="10" y="1384"/>
                  <a:pt x="0" y="1485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1661" name="Freeform 61"/>
          <p:cNvSpPr>
            <a:spLocks/>
          </p:cNvSpPr>
          <p:nvPr/>
        </p:nvSpPr>
        <p:spPr bwMode="auto">
          <a:xfrm>
            <a:off x="5580063" y="2944813"/>
            <a:ext cx="122237" cy="555625"/>
          </a:xfrm>
          <a:custGeom>
            <a:avLst/>
            <a:gdLst>
              <a:gd name="T0" fmla="*/ 66 w 77"/>
              <a:gd name="T1" fmla="*/ 0 h 350"/>
              <a:gd name="T2" fmla="*/ 66 w 77"/>
              <a:gd name="T3" fmla="*/ 157 h 350"/>
              <a:gd name="T4" fmla="*/ 0 w 77"/>
              <a:gd name="T5" fmla="*/ 35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7" h="350">
                <a:moveTo>
                  <a:pt x="66" y="0"/>
                </a:moveTo>
                <a:cubicBezTo>
                  <a:pt x="66" y="28"/>
                  <a:pt x="77" y="99"/>
                  <a:pt x="66" y="157"/>
                </a:cubicBezTo>
                <a:cubicBezTo>
                  <a:pt x="55" y="222"/>
                  <a:pt x="14" y="310"/>
                  <a:pt x="0" y="35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1660" name="Freeform 60"/>
          <p:cNvSpPr>
            <a:spLocks/>
          </p:cNvSpPr>
          <p:nvPr/>
        </p:nvSpPr>
        <p:spPr bwMode="auto">
          <a:xfrm>
            <a:off x="7019925" y="2349500"/>
            <a:ext cx="809625" cy="2555875"/>
          </a:xfrm>
          <a:custGeom>
            <a:avLst/>
            <a:gdLst>
              <a:gd name="T0" fmla="*/ 0 w 468"/>
              <a:gd name="T1" fmla="*/ 0 h 1624"/>
              <a:gd name="T2" fmla="*/ 131 w 468"/>
              <a:gd name="T3" fmla="*/ 341 h 1624"/>
              <a:gd name="T4" fmla="*/ 254 w 468"/>
              <a:gd name="T5" fmla="*/ 558 h 1624"/>
              <a:gd name="T6" fmla="*/ 438 w 468"/>
              <a:gd name="T7" fmla="*/ 892 h 1624"/>
              <a:gd name="T8" fmla="*/ 432 w 468"/>
              <a:gd name="T9" fmla="*/ 1312 h 1624"/>
              <a:gd name="T10" fmla="*/ 304 w 468"/>
              <a:gd name="T11" fmla="*/ 1624 h 1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68" h="1624">
                <a:moveTo>
                  <a:pt x="0" y="0"/>
                </a:moveTo>
                <a:cubicBezTo>
                  <a:pt x="22" y="57"/>
                  <a:pt x="89" y="248"/>
                  <a:pt x="131" y="341"/>
                </a:cubicBezTo>
                <a:cubicBezTo>
                  <a:pt x="173" y="434"/>
                  <a:pt x="254" y="558"/>
                  <a:pt x="254" y="558"/>
                </a:cubicBezTo>
                <a:cubicBezTo>
                  <a:pt x="254" y="558"/>
                  <a:pt x="409" y="767"/>
                  <a:pt x="438" y="892"/>
                </a:cubicBezTo>
                <a:cubicBezTo>
                  <a:pt x="468" y="1018"/>
                  <a:pt x="454" y="1190"/>
                  <a:pt x="432" y="1312"/>
                </a:cubicBezTo>
                <a:cubicBezTo>
                  <a:pt x="409" y="1434"/>
                  <a:pt x="330" y="1559"/>
                  <a:pt x="304" y="1624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2170" name="Oval 570"/>
          <p:cNvSpPr>
            <a:spLocks noChangeArrowheads="1"/>
          </p:cNvSpPr>
          <p:nvPr/>
        </p:nvSpPr>
        <p:spPr bwMode="auto">
          <a:xfrm>
            <a:off x="5364163" y="2636838"/>
            <a:ext cx="360362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2171" name="Oval 571"/>
          <p:cNvSpPr>
            <a:spLocks noChangeArrowheads="1"/>
          </p:cNvSpPr>
          <p:nvPr/>
        </p:nvSpPr>
        <p:spPr bwMode="auto">
          <a:xfrm>
            <a:off x="4643438" y="1989138"/>
            <a:ext cx="360362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2172" name="Oval 572"/>
          <p:cNvSpPr>
            <a:spLocks noChangeArrowheads="1"/>
          </p:cNvSpPr>
          <p:nvPr/>
        </p:nvSpPr>
        <p:spPr bwMode="auto">
          <a:xfrm>
            <a:off x="3203575" y="2347913"/>
            <a:ext cx="360363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281665" name="Oval 65"/>
          <p:cNvSpPr>
            <a:spLocks noChangeArrowheads="1"/>
          </p:cNvSpPr>
          <p:nvPr/>
        </p:nvSpPr>
        <p:spPr bwMode="auto">
          <a:xfrm>
            <a:off x="6732588" y="1989138"/>
            <a:ext cx="360362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188640"/>
            <a:ext cx="8229600" cy="994122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La separación lineal (OR)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468313" y="4810849"/>
            <a:ext cx="8135937" cy="1917699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100" dirty="0">
                <a:solidFill>
                  <a:srgbClr val="FF0000"/>
                </a:solidFill>
                <a:effectLst/>
              </a:rPr>
              <a:t>El </a:t>
            </a:r>
            <a:r>
              <a:rPr lang="es-ES_tradnl" altLang="es-AR" sz="2100" dirty="0" err="1">
                <a:solidFill>
                  <a:srgbClr val="FF0000"/>
                </a:solidFill>
                <a:effectLst/>
              </a:rPr>
              <a:t>Perceptrón</a:t>
            </a:r>
            <a:r>
              <a:rPr lang="es-ES_tradnl" altLang="es-AR" sz="2100" dirty="0">
                <a:solidFill>
                  <a:srgbClr val="FF0000"/>
                </a:solidFill>
                <a:effectLst/>
              </a:rPr>
              <a:t> encontrará un estado solución</a:t>
            </a:r>
          </a:p>
          <a:p>
            <a:pPr algn="ctr">
              <a:buFontTx/>
              <a:buNone/>
            </a:pPr>
            <a:r>
              <a:rPr lang="es-ES_tradnl" altLang="es-AR" sz="2100" dirty="0">
                <a:solidFill>
                  <a:srgbClr val="FF0000"/>
                </a:solidFill>
                <a:effectLst/>
              </a:rPr>
              <a:t>Aprenderá a clasificar cualquier conjunto de entradas linealmente </a:t>
            </a:r>
            <a:r>
              <a:rPr lang="es-ES_tradnl" altLang="es-AR" sz="2100" dirty="0" smtClean="0">
                <a:solidFill>
                  <a:srgbClr val="FF0000"/>
                </a:solidFill>
                <a:effectLst/>
              </a:rPr>
              <a:t>separables</a:t>
            </a:r>
          </a:p>
          <a:p>
            <a:pPr algn="ctr">
              <a:buFontTx/>
              <a:buNone/>
            </a:pPr>
            <a:r>
              <a:rPr lang="es-ES_tradnl" altLang="es-AR" sz="2100" dirty="0" smtClean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Crea una superficie lineal de decisión que separa las diferentes salidas</a:t>
            </a:r>
            <a:endParaRPr lang="es-ES" altLang="es-AR" sz="210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82629" name="Rectangle 5"/>
          <p:cNvSpPr>
            <a:spLocks noChangeArrowheads="1"/>
          </p:cNvSpPr>
          <p:nvPr/>
        </p:nvSpPr>
        <p:spPr bwMode="auto">
          <a:xfrm>
            <a:off x="1106488" y="1529942"/>
            <a:ext cx="3313112" cy="2592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2634" name="Rectangle 10"/>
          <p:cNvSpPr>
            <a:spLocks noChangeArrowheads="1"/>
          </p:cNvSpPr>
          <p:nvPr/>
        </p:nvSpPr>
        <p:spPr bwMode="auto">
          <a:xfrm>
            <a:off x="1403350" y="4378752"/>
            <a:ext cx="6264275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dirty="0">
                <a:solidFill>
                  <a:schemeClr val="tx1"/>
                </a:solidFill>
              </a:rPr>
              <a:t>Teorema de Convergencia del </a:t>
            </a:r>
            <a:r>
              <a:rPr lang="es-ES_tradnl" altLang="es-AR" dirty="0" err="1">
                <a:solidFill>
                  <a:schemeClr val="tx1"/>
                </a:solidFill>
              </a:rPr>
              <a:t>Perceptrón</a:t>
            </a:r>
            <a:endParaRPr lang="es-ES" altLang="es-AR" dirty="0">
              <a:solidFill>
                <a:schemeClr val="tx1"/>
              </a:solidFill>
            </a:endParaRPr>
          </a:p>
        </p:txBody>
      </p:sp>
      <p:graphicFrame>
        <p:nvGraphicFramePr>
          <p:cNvPr id="282748" name="Group 12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224478"/>
              </p:ext>
            </p:extLst>
          </p:nvPr>
        </p:nvGraphicFramePr>
        <p:xfrm>
          <a:off x="3986213" y="1385480"/>
          <a:ext cx="4186237" cy="1676400"/>
        </p:xfrm>
        <a:graphic>
          <a:graphicData uri="http://schemas.openxmlformats.org/drawingml/2006/table">
            <a:tbl>
              <a:tblPr/>
              <a:tblGrid>
                <a:gridCol w="1252537"/>
                <a:gridCol w="1252538"/>
                <a:gridCol w="1681162"/>
              </a:tblGrid>
              <a:tr h="2730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_tradnl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s-ES_tradnl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_tradnl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s-ES_tradnl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OR x</a:t>
                      </a:r>
                      <a:r>
                        <a:rPr kumimoji="0" lang="en-US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82749" name="Group 125"/>
          <p:cNvGrpSpPr>
            <a:grpSpLocks/>
          </p:cNvGrpSpPr>
          <p:nvPr/>
        </p:nvGrpSpPr>
        <p:grpSpPr bwMode="auto">
          <a:xfrm>
            <a:off x="1250950" y="1601380"/>
            <a:ext cx="3167063" cy="2420937"/>
            <a:chOff x="1614" y="11094"/>
            <a:chExt cx="4320" cy="3360"/>
          </a:xfrm>
        </p:grpSpPr>
        <p:sp>
          <p:nvSpPr>
            <p:cNvPr id="282750" name="Line 126"/>
            <p:cNvSpPr>
              <a:spLocks noChangeShapeType="1"/>
            </p:cNvSpPr>
            <p:nvPr/>
          </p:nvSpPr>
          <p:spPr bwMode="auto">
            <a:xfrm flipV="1">
              <a:off x="2214" y="11454"/>
              <a:ext cx="0" cy="2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2751" name="Line 127"/>
            <p:cNvSpPr>
              <a:spLocks noChangeShapeType="1"/>
            </p:cNvSpPr>
            <p:nvPr/>
          </p:nvSpPr>
          <p:spPr bwMode="auto">
            <a:xfrm>
              <a:off x="2214" y="13974"/>
              <a:ext cx="2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2752" name="Line 128"/>
            <p:cNvSpPr>
              <a:spLocks noChangeShapeType="1"/>
            </p:cNvSpPr>
            <p:nvPr/>
          </p:nvSpPr>
          <p:spPr bwMode="auto">
            <a:xfrm>
              <a:off x="1854" y="12894"/>
              <a:ext cx="1440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2753" name="Oval 129"/>
            <p:cNvSpPr>
              <a:spLocks noChangeArrowheads="1"/>
            </p:cNvSpPr>
            <p:nvPr/>
          </p:nvSpPr>
          <p:spPr bwMode="auto">
            <a:xfrm>
              <a:off x="3294" y="13794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2754" name="Oval 130"/>
            <p:cNvSpPr>
              <a:spLocks noChangeArrowheads="1"/>
            </p:cNvSpPr>
            <p:nvPr/>
          </p:nvSpPr>
          <p:spPr bwMode="auto">
            <a:xfrm>
              <a:off x="1974" y="13794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2755" name="Oval 131"/>
            <p:cNvSpPr>
              <a:spLocks noChangeArrowheads="1"/>
            </p:cNvSpPr>
            <p:nvPr/>
          </p:nvSpPr>
          <p:spPr bwMode="auto">
            <a:xfrm>
              <a:off x="3294" y="12534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2756" name="Oval 132"/>
            <p:cNvSpPr>
              <a:spLocks noChangeArrowheads="1"/>
            </p:cNvSpPr>
            <p:nvPr/>
          </p:nvSpPr>
          <p:spPr bwMode="auto">
            <a:xfrm>
              <a:off x="1974" y="12534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2757" name="Text Box 133"/>
            <p:cNvSpPr txBox="1">
              <a:spLocks noChangeArrowheads="1"/>
            </p:cNvSpPr>
            <p:nvPr/>
          </p:nvSpPr>
          <p:spPr bwMode="auto">
            <a:xfrm>
              <a:off x="5214" y="13974"/>
              <a:ext cx="72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x</a:t>
              </a:r>
              <a:r>
                <a:rPr lang="es-ES_tradnl" altLang="zh-CN" sz="1600" b="1" baseline="-25000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1</a:t>
              </a:r>
              <a:endParaRPr lang="es-ES" altLang="es-AR" sz="16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758" name="Text Box 134"/>
            <p:cNvSpPr txBox="1">
              <a:spLocks noChangeArrowheads="1"/>
            </p:cNvSpPr>
            <p:nvPr/>
          </p:nvSpPr>
          <p:spPr bwMode="auto">
            <a:xfrm>
              <a:off x="1614" y="11094"/>
              <a:ext cx="720" cy="4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X</a:t>
              </a:r>
              <a:r>
                <a:rPr lang="es-ES_tradnl" altLang="zh-CN" sz="1600" b="1" baseline="-25000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2</a:t>
              </a:r>
              <a:endParaRPr lang="es-ES" altLang="es-AR" sz="16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570722" y="3422496"/>
            <a:ext cx="3457662" cy="59982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Hay una única recta que separa las salidas 1 de las salidas 0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El problema del </a:t>
            </a:r>
            <a:r>
              <a:rPr lang="es-ES_tradnl" altLang="es-AR" sz="3200" dirty="0" smtClean="0">
                <a:solidFill>
                  <a:schemeClr val="tx1"/>
                </a:solidFill>
              </a:rPr>
              <a:t>XOR </a:t>
            </a:r>
            <a:r>
              <a:rPr lang="es-ES_tradnl" altLang="es-AR" sz="2500" dirty="0" smtClean="0">
                <a:solidFill>
                  <a:schemeClr val="tx1"/>
                </a:solidFill>
              </a:rPr>
              <a:t>(OR-Exclusiva)</a:t>
            </a:r>
            <a:endParaRPr lang="es-ES" altLang="es-AR" sz="2500" dirty="0">
              <a:solidFill>
                <a:schemeClr val="tx1"/>
              </a:solidFill>
            </a:endParaRPr>
          </a:p>
        </p:txBody>
      </p:sp>
      <p:sp>
        <p:nvSpPr>
          <p:cNvPr id="284675" name="Rectangle 3"/>
          <p:cNvSpPr>
            <a:spLocks noChangeArrowheads="1"/>
          </p:cNvSpPr>
          <p:nvPr/>
        </p:nvSpPr>
        <p:spPr bwMode="auto">
          <a:xfrm>
            <a:off x="450283" y="4824536"/>
            <a:ext cx="8135937" cy="191683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None/>
            </a:pPr>
            <a:r>
              <a:rPr lang="es-ES_tradnl" altLang="es-AR" sz="21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El </a:t>
            </a:r>
            <a:r>
              <a:rPr lang="es-ES_tradnl" altLang="es-AR" sz="2100" dirty="0" err="1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Perceptrón</a:t>
            </a:r>
            <a:r>
              <a:rPr lang="es-ES_tradnl" altLang="es-AR" sz="210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</a:rPr>
              <a:t> no puede crear una superficie lineal de decisión que separe las diferentes salidas</a:t>
            </a:r>
            <a:endParaRPr lang="es-ES" altLang="es-AR" sz="210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  <a:p>
            <a:pPr algn="ctr">
              <a:buFontTx/>
              <a:buNone/>
            </a:pPr>
            <a:r>
              <a:rPr lang="es-ES_tradnl" altLang="es-AR" sz="2100" dirty="0" smtClean="0">
                <a:solidFill>
                  <a:srgbClr val="FF0000"/>
                </a:solidFill>
                <a:effectLst/>
              </a:rPr>
              <a:t>El </a:t>
            </a:r>
            <a:r>
              <a:rPr lang="es-ES_tradnl" altLang="es-AR" sz="2100" dirty="0" err="1">
                <a:solidFill>
                  <a:srgbClr val="FF0000"/>
                </a:solidFill>
                <a:effectLst/>
              </a:rPr>
              <a:t>Perceptrón</a:t>
            </a:r>
            <a:r>
              <a:rPr lang="es-ES_tradnl" altLang="es-AR" sz="2100" dirty="0">
                <a:solidFill>
                  <a:srgbClr val="FF0000"/>
                </a:solidFill>
                <a:effectLst/>
              </a:rPr>
              <a:t> no puede modelar superficies de decisión elípticas</a:t>
            </a:r>
          </a:p>
          <a:p>
            <a:pPr algn="ctr">
              <a:buFontTx/>
              <a:buNone/>
            </a:pPr>
            <a:r>
              <a:rPr lang="es-ES_tradnl" altLang="es-AR" sz="2100" dirty="0">
                <a:solidFill>
                  <a:srgbClr val="FF0000"/>
                </a:solidFill>
                <a:effectLst/>
              </a:rPr>
              <a:t>Solución: </a:t>
            </a:r>
            <a:r>
              <a:rPr lang="es-ES_tradnl" altLang="es-AR" sz="2100" dirty="0" err="1">
                <a:solidFill>
                  <a:srgbClr val="FF0000"/>
                </a:solidFill>
                <a:effectLst/>
              </a:rPr>
              <a:t>Perceptrón</a:t>
            </a:r>
            <a:r>
              <a:rPr lang="es-ES_tradnl" altLang="es-AR" sz="2100" dirty="0">
                <a:solidFill>
                  <a:srgbClr val="FF0000"/>
                </a:solidFill>
                <a:effectLst/>
              </a:rPr>
              <a:t> Multicapa</a:t>
            </a:r>
          </a:p>
        </p:txBody>
      </p:sp>
      <p:sp>
        <p:nvSpPr>
          <p:cNvPr id="284676" name="Rectangle 4"/>
          <p:cNvSpPr>
            <a:spLocks noChangeArrowheads="1"/>
          </p:cNvSpPr>
          <p:nvPr/>
        </p:nvSpPr>
        <p:spPr bwMode="auto">
          <a:xfrm>
            <a:off x="1106488" y="2061294"/>
            <a:ext cx="3313112" cy="25923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/>
          </a:p>
        </p:txBody>
      </p:sp>
      <p:graphicFrame>
        <p:nvGraphicFramePr>
          <p:cNvPr id="284678" name="Group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516970"/>
              </p:ext>
            </p:extLst>
          </p:nvPr>
        </p:nvGraphicFramePr>
        <p:xfrm>
          <a:off x="3986213" y="1916832"/>
          <a:ext cx="4186237" cy="1676400"/>
        </p:xfrm>
        <a:graphic>
          <a:graphicData uri="http://schemas.openxmlformats.org/drawingml/2006/table">
            <a:tbl>
              <a:tblPr/>
              <a:tblGrid>
                <a:gridCol w="1252537"/>
                <a:gridCol w="1252538"/>
                <a:gridCol w="1681162"/>
              </a:tblGrid>
              <a:tr h="273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_tradnl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s-ES_tradnl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s-ES_tradnl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s-ES_tradnl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XOR x</a:t>
                      </a:r>
                      <a:r>
                        <a:rPr kumimoji="0" lang="en-US" altLang="es-AR" sz="16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  <a:tr h="255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alt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SimSun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 b="1">
                          <a:solidFill>
                            <a:srgbClr val="6666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A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s-ES" altLang="es-A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84737" name="Group 65"/>
          <p:cNvGrpSpPr>
            <a:grpSpLocks/>
          </p:cNvGrpSpPr>
          <p:nvPr/>
        </p:nvGrpSpPr>
        <p:grpSpPr bwMode="auto">
          <a:xfrm>
            <a:off x="1258888" y="2132732"/>
            <a:ext cx="3097212" cy="2376487"/>
            <a:chOff x="646" y="2230"/>
            <a:chExt cx="1728" cy="1296"/>
          </a:xfrm>
        </p:grpSpPr>
        <p:sp>
          <p:nvSpPr>
            <p:cNvPr id="284727" name="Line 55"/>
            <p:cNvSpPr>
              <a:spLocks noChangeShapeType="1"/>
            </p:cNvSpPr>
            <p:nvPr/>
          </p:nvSpPr>
          <p:spPr bwMode="auto">
            <a:xfrm flipV="1">
              <a:off x="886" y="2374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4728" name="Line 56"/>
            <p:cNvSpPr>
              <a:spLocks noChangeShapeType="1"/>
            </p:cNvSpPr>
            <p:nvPr/>
          </p:nvSpPr>
          <p:spPr bwMode="auto">
            <a:xfrm>
              <a:off x="886" y="3382"/>
              <a:ext cx="11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4729" name="Line 57"/>
            <p:cNvSpPr>
              <a:spLocks noChangeShapeType="1"/>
            </p:cNvSpPr>
            <p:nvPr/>
          </p:nvSpPr>
          <p:spPr bwMode="auto">
            <a:xfrm>
              <a:off x="742" y="2950"/>
              <a:ext cx="576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4730" name="Line 58"/>
            <p:cNvSpPr>
              <a:spLocks noChangeShapeType="1"/>
            </p:cNvSpPr>
            <p:nvPr/>
          </p:nvSpPr>
          <p:spPr bwMode="auto">
            <a:xfrm>
              <a:off x="838" y="2662"/>
              <a:ext cx="864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4731" name="Oval 59"/>
            <p:cNvSpPr>
              <a:spLocks noChangeArrowheads="1"/>
            </p:cNvSpPr>
            <p:nvPr/>
          </p:nvSpPr>
          <p:spPr bwMode="auto">
            <a:xfrm>
              <a:off x="1318" y="3310"/>
              <a:ext cx="144" cy="1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4732" name="Oval 60"/>
            <p:cNvSpPr>
              <a:spLocks noChangeArrowheads="1"/>
            </p:cNvSpPr>
            <p:nvPr/>
          </p:nvSpPr>
          <p:spPr bwMode="auto">
            <a:xfrm>
              <a:off x="790" y="3310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4733" name="Oval 61"/>
            <p:cNvSpPr>
              <a:spLocks noChangeArrowheads="1"/>
            </p:cNvSpPr>
            <p:nvPr/>
          </p:nvSpPr>
          <p:spPr bwMode="auto">
            <a:xfrm>
              <a:off x="1318" y="280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4734" name="Oval 62"/>
            <p:cNvSpPr>
              <a:spLocks noChangeArrowheads="1"/>
            </p:cNvSpPr>
            <p:nvPr/>
          </p:nvSpPr>
          <p:spPr bwMode="auto">
            <a:xfrm>
              <a:off x="790" y="2806"/>
              <a:ext cx="144" cy="1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4735" name="Text Box 63"/>
            <p:cNvSpPr txBox="1">
              <a:spLocks noChangeArrowheads="1"/>
            </p:cNvSpPr>
            <p:nvPr/>
          </p:nvSpPr>
          <p:spPr bwMode="auto">
            <a:xfrm>
              <a:off x="2086" y="3382"/>
              <a:ext cx="288" cy="1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x</a:t>
              </a:r>
              <a:r>
                <a:rPr lang="es-ES_tradnl" altLang="zh-CN" sz="1600" b="1" baseline="-25000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1</a:t>
              </a:r>
              <a:endParaRPr lang="es-ES" altLang="es-AR" sz="16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4736" name="Text Box 64"/>
            <p:cNvSpPr txBox="1">
              <a:spLocks noChangeArrowheads="1"/>
            </p:cNvSpPr>
            <p:nvPr/>
          </p:nvSpPr>
          <p:spPr bwMode="auto">
            <a:xfrm>
              <a:off x="646" y="2230"/>
              <a:ext cx="288" cy="1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s-ES_tradnl" altLang="zh-CN" sz="1600" b="1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X</a:t>
              </a:r>
              <a:r>
                <a:rPr lang="es-ES_tradnl" altLang="zh-CN" sz="1600" b="1" baseline="-25000" dirty="0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2</a:t>
              </a:r>
              <a:endParaRPr lang="es-ES" altLang="es-AR" sz="16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570722" y="3953848"/>
            <a:ext cx="4033528" cy="59982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No hay una única recta que pueda separar las salidas 1 de las salidas 0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478709" y="908720"/>
            <a:ext cx="7909715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300" dirty="0" smtClean="0">
                <a:solidFill>
                  <a:schemeClr val="tx1"/>
                </a:solidFill>
              </a:rPr>
              <a:t>El </a:t>
            </a:r>
            <a:r>
              <a:rPr lang="es-ES_tradnl" altLang="es-AR" sz="2300" dirty="0" err="1" smtClean="0">
                <a:solidFill>
                  <a:schemeClr val="tx1"/>
                </a:solidFill>
              </a:rPr>
              <a:t>Perceptrón</a:t>
            </a:r>
            <a:r>
              <a:rPr lang="es-ES_tradnl" altLang="es-AR" sz="2300" dirty="0" smtClean="0">
                <a:solidFill>
                  <a:schemeClr val="tx1"/>
                </a:solidFill>
              </a:rPr>
              <a:t> es incapaz de aprender a resolver algunos problemas muy sencillos.</a:t>
            </a:r>
            <a:endParaRPr lang="es-ES" altLang="es-AR" sz="2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424862" cy="86518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de </a:t>
            </a:r>
            <a:r>
              <a:rPr lang="es-ES_tradnl" altLang="es-AR" sz="3200" dirty="0" err="1">
                <a:solidFill>
                  <a:schemeClr val="tx1"/>
                </a:solidFill>
              </a:rPr>
              <a:t>Hopfield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323850" y="6021660"/>
            <a:ext cx="8496300" cy="6477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Se introduce una NUEVA TEORÍA sobre la MEMORIA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sp>
        <p:nvSpPr>
          <p:cNvPr id="285705" name="Rectangle 9"/>
          <p:cNvSpPr>
            <a:spLocks noChangeArrowheads="1"/>
          </p:cNvSpPr>
          <p:nvPr/>
        </p:nvSpPr>
        <p:spPr bwMode="auto">
          <a:xfrm>
            <a:off x="3995738" y="547688"/>
            <a:ext cx="273685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(Hopfield - 1982 )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85706" name="Rectangle 10"/>
          <p:cNvSpPr>
            <a:spLocks noChangeArrowheads="1"/>
          </p:cNvSpPr>
          <p:nvPr/>
        </p:nvSpPr>
        <p:spPr bwMode="auto">
          <a:xfrm>
            <a:off x="323850" y="1125538"/>
            <a:ext cx="84963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Accedemos a la memoria por </a:t>
            </a:r>
            <a:r>
              <a:rPr lang="es-ES_tradnl" altLang="es-AR" sz="2000" u="sng" dirty="0">
                <a:solidFill>
                  <a:schemeClr val="tx1"/>
                </a:solidFill>
              </a:rPr>
              <a:t>contenidos</a:t>
            </a:r>
            <a:r>
              <a:rPr lang="es-ES_tradnl" altLang="es-AR" sz="2000" dirty="0">
                <a:solidFill>
                  <a:schemeClr val="tx1"/>
                </a:solidFill>
              </a:rPr>
              <a:t>  </a:t>
            </a:r>
            <a:r>
              <a:rPr lang="es-ES_tradnl" altLang="es-AR" sz="2000" dirty="0">
                <a:solidFill>
                  <a:schemeClr val="tx1"/>
                </a:solidFill>
                <a:sym typeface="Wingdings" pitchFamily="2" charset="2"/>
              </a:rPr>
              <a:t> gris, grande, mamífero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85743" name="Rectangle 47"/>
          <p:cNvSpPr>
            <a:spLocks noChangeArrowheads="1"/>
          </p:cNvSpPr>
          <p:nvPr/>
        </p:nvSpPr>
        <p:spPr bwMode="auto">
          <a:xfrm>
            <a:off x="350823" y="2132855"/>
            <a:ext cx="2528107" cy="1872209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8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Representación distribuida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600" dirty="0" smtClean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La memoria se almacena como un patrón de activación a través de un conjunto de unidades de proceso</a:t>
            </a:r>
            <a:endParaRPr lang="es-ES" altLang="es-AR" sz="1600" dirty="0">
              <a:solidFill>
                <a:schemeClr val="bg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85744" name="Oval 48"/>
          <p:cNvSpPr>
            <a:spLocks noChangeArrowheads="1"/>
          </p:cNvSpPr>
          <p:nvPr/>
        </p:nvSpPr>
        <p:spPr bwMode="auto">
          <a:xfrm>
            <a:off x="3059832" y="2491928"/>
            <a:ext cx="3455988" cy="1081088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txBody>
          <a:bodyPr/>
          <a:lstStyle/>
          <a:p>
            <a:pPr algn="ctr"/>
            <a:endParaRPr lang="es-ES_tradnl" altLang="es-AR" sz="500" b="1" dirty="0" smtClean="0">
              <a:solidFill>
                <a:srgbClr val="FF0000"/>
              </a:solidFill>
            </a:endParaRPr>
          </a:p>
          <a:p>
            <a:pPr algn="ctr"/>
            <a:endParaRPr lang="es-ES_tradnl" altLang="es-AR" sz="500" b="1" dirty="0" smtClean="0">
              <a:solidFill>
                <a:srgbClr val="FF0000"/>
              </a:solidFill>
            </a:endParaRPr>
          </a:p>
          <a:p>
            <a:pPr algn="ctr"/>
            <a:r>
              <a:rPr lang="es-ES_tradnl" altLang="es-AR" sz="2400" b="1" dirty="0" smtClean="0">
                <a:solidFill>
                  <a:srgbClr val="FF0000"/>
                </a:solidFill>
              </a:rPr>
              <a:t>Características</a:t>
            </a:r>
            <a:endParaRPr lang="es-ES" altLang="es-AR" sz="2400" b="1" dirty="0">
              <a:solidFill>
                <a:srgbClr val="FF0000"/>
              </a:solidFill>
            </a:endParaRPr>
          </a:p>
        </p:txBody>
      </p:sp>
      <p:sp>
        <p:nvSpPr>
          <p:cNvPr id="285745" name="Rectangle 49"/>
          <p:cNvSpPr>
            <a:spLocks noChangeArrowheads="1"/>
          </p:cNvSpPr>
          <p:nvPr/>
        </p:nvSpPr>
        <p:spPr bwMode="auto">
          <a:xfrm>
            <a:off x="350824" y="4221559"/>
            <a:ext cx="2709008" cy="15837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Control asíncrono y </a:t>
            </a:r>
            <a:r>
              <a:rPr lang="es-ES_tradnl" altLang="es-AR" sz="18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distribuido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altLang="es-AR" sz="1600" dirty="0" smtClean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Cada unidad de proceso toma decisiones basadas sólo en su propia situación local</a:t>
            </a:r>
            <a:endParaRPr lang="es-ES" altLang="es-AR" sz="1600" dirty="0">
              <a:solidFill>
                <a:schemeClr val="bg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85746" name="Rectangle 50"/>
          <p:cNvSpPr>
            <a:spLocks noChangeArrowheads="1"/>
          </p:cNvSpPr>
          <p:nvPr/>
        </p:nvSpPr>
        <p:spPr bwMode="auto">
          <a:xfrm>
            <a:off x="3347864" y="4293566"/>
            <a:ext cx="5472286" cy="1151658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800" dirty="0">
                <a:solidFill>
                  <a:srgbClr val="FF0000"/>
                </a:solidFill>
              </a:rPr>
              <a:t>Memoria </a:t>
            </a:r>
            <a:r>
              <a:rPr lang="es-ES_tradnl" altLang="es-AR" sz="1800" dirty="0" err="1">
                <a:solidFill>
                  <a:srgbClr val="FF0000"/>
                </a:solidFill>
              </a:rPr>
              <a:t>direccionable</a:t>
            </a:r>
            <a:r>
              <a:rPr lang="es-ES_tradnl" altLang="es-AR" sz="1800" dirty="0">
                <a:solidFill>
                  <a:srgbClr val="FF0000"/>
                </a:solidFill>
              </a:rPr>
              <a:t> por </a:t>
            </a:r>
            <a:r>
              <a:rPr lang="es-ES_tradnl" altLang="es-AR" sz="1800" dirty="0" smtClean="0">
                <a:solidFill>
                  <a:srgbClr val="FF0000"/>
                </a:solidFill>
              </a:rPr>
              <a:t>contenido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600" dirty="0" smtClean="0">
                <a:solidFill>
                  <a:srgbClr val="FF0000"/>
                </a:solidFill>
                <a:effectLst/>
              </a:rPr>
              <a:t>Para recuperar un patrón únicamente se necesita una parte específica de él. La red encuentra automáticamente el emparejamiento más próximo.</a:t>
            </a:r>
            <a:endParaRPr lang="es-ES" altLang="es-AR" sz="1600" dirty="0">
              <a:solidFill>
                <a:srgbClr val="FF0000"/>
              </a:solidFill>
              <a:effectLst/>
            </a:endParaRPr>
          </a:p>
        </p:txBody>
      </p:sp>
      <p:sp>
        <p:nvSpPr>
          <p:cNvPr id="285747" name="Rectangle 51"/>
          <p:cNvSpPr>
            <a:spLocks noChangeArrowheads="1"/>
          </p:cNvSpPr>
          <p:nvPr/>
        </p:nvSpPr>
        <p:spPr bwMode="auto">
          <a:xfrm>
            <a:off x="6732588" y="2132856"/>
            <a:ext cx="2087562" cy="1906464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Tolerancia a </a:t>
            </a:r>
            <a:r>
              <a:rPr lang="es-ES_tradnl" altLang="es-AR" sz="180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fallos</a:t>
            </a:r>
            <a:endParaRPr lang="es-ES" altLang="es-AR" sz="18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altLang="es-AR" sz="1600" dirty="0" smtClean="0">
                <a:solidFill>
                  <a:schemeClr val="bg1">
                    <a:lumMod val="60000"/>
                    <a:lumOff val="40000"/>
                  </a:schemeClr>
                </a:solidFill>
                <a:effectLst/>
              </a:rPr>
              <a:t>Aunque algunas de las unidades de proceso fallen, la red funcionará adecuadamente</a:t>
            </a:r>
            <a:endParaRPr lang="es-ES" altLang="es-AR" sz="1600" dirty="0">
              <a:solidFill>
                <a:schemeClr val="bg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85748" name="Rectangle 52"/>
          <p:cNvSpPr>
            <a:spLocks noChangeArrowheads="1"/>
          </p:cNvSpPr>
          <p:nvPr/>
        </p:nvSpPr>
        <p:spPr bwMode="auto">
          <a:xfrm>
            <a:off x="2267992" y="1845072"/>
            <a:ext cx="5040312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3636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2000250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63683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273425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7306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41878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6450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5102225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_tradnl" altLang="es-AR" sz="2000" u="sng" dirty="0">
                <a:solidFill>
                  <a:srgbClr val="FF0000"/>
                </a:solidFill>
              </a:rPr>
              <a:t>se definen PATRONES</a:t>
            </a:r>
            <a:endParaRPr lang="es-ES" altLang="es-AR" sz="20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424862" cy="792386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de </a:t>
            </a:r>
            <a:r>
              <a:rPr lang="es-ES_tradnl" altLang="es-AR" sz="3200" dirty="0" err="1">
                <a:solidFill>
                  <a:schemeClr val="tx1"/>
                </a:solidFill>
              </a:rPr>
              <a:t>Hopfield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93894" name="Rectangle 6"/>
          <p:cNvSpPr>
            <a:spLocks noChangeArrowheads="1"/>
          </p:cNvSpPr>
          <p:nvPr/>
        </p:nvSpPr>
        <p:spPr bwMode="auto">
          <a:xfrm>
            <a:off x="2771800" y="4365897"/>
            <a:ext cx="2816225" cy="23034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s-AR"/>
          </a:p>
        </p:txBody>
      </p:sp>
      <p:grpSp>
        <p:nvGrpSpPr>
          <p:cNvPr id="293895" name="Group 7"/>
          <p:cNvGrpSpPr>
            <a:grpSpLocks/>
          </p:cNvGrpSpPr>
          <p:nvPr/>
        </p:nvGrpSpPr>
        <p:grpSpPr bwMode="auto">
          <a:xfrm>
            <a:off x="2924200" y="4437335"/>
            <a:ext cx="2376487" cy="2089150"/>
            <a:chOff x="3141" y="4041"/>
            <a:chExt cx="2880" cy="2520"/>
          </a:xfrm>
        </p:grpSpPr>
        <p:sp>
          <p:nvSpPr>
            <p:cNvPr id="293896" name="Oval 8"/>
            <p:cNvSpPr>
              <a:spLocks noChangeArrowheads="1"/>
            </p:cNvSpPr>
            <p:nvPr/>
          </p:nvSpPr>
          <p:spPr bwMode="auto">
            <a:xfrm>
              <a:off x="3261" y="6021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897" name="Oval 9"/>
            <p:cNvSpPr>
              <a:spLocks noChangeArrowheads="1"/>
            </p:cNvSpPr>
            <p:nvPr/>
          </p:nvSpPr>
          <p:spPr bwMode="auto">
            <a:xfrm>
              <a:off x="3861" y="512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898" name="Oval 10"/>
            <p:cNvSpPr>
              <a:spLocks noChangeArrowheads="1"/>
            </p:cNvSpPr>
            <p:nvPr/>
          </p:nvSpPr>
          <p:spPr bwMode="auto">
            <a:xfrm>
              <a:off x="3861" y="422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899" name="Oval 11"/>
            <p:cNvSpPr>
              <a:spLocks noChangeArrowheads="1"/>
            </p:cNvSpPr>
            <p:nvPr/>
          </p:nvSpPr>
          <p:spPr bwMode="auto">
            <a:xfrm>
              <a:off x="5061" y="4221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0" name="Oval 12"/>
            <p:cNvSpPr>
              <a:spLocks noChangeArrowheads="1"/>
            </p:cNvSpPr>
            <p:nvPr/>
          </p:nvSpPr>
          <p:spPr bwMode="auto">
            <a:xfrm>
              <a:off x="5061" y="512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1" name="Oval 13"/>
            <p:cNvSpPr>
              <a:spLocks noChangeArrowheads="1"/>
            </p:cNvSpPr>
            <p:nvPr/>
          </p:nvSpPr>
          <p:spPr bwMode="auto">
            <a:xfrm>
              <a:off x="5661" y="602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2" name="Oval 14"/>
            <p:cNvSpPr>
              <a:spLocks noChangeArrowheads="1"/>
            </p:cNvSpPr>
            <p:nvPr/>
          </p:nvSpPr>
          <p:spPr bwMode="auto">
            <a:xfrm>
              <a:off x="4461" y="602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3" name="Line 15"/>
            <p:cNvSpPr>
              <a:spLocks noChangeShapeType="1"/>
            </p:cNvSpPr>
            <p:nvPr/>
          </p:nvSpPr>
          <p:spPr bwMode="auto">
            <a:xfrm>
              <a:off x="3981" y="4581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4" name="Line 16"/>
            <p:cNvSpPr>
              <a:spLocks noChangeShapeType="1"/>
            </p:cNvSpPr>
            <p:nvPr/>
          </p:nvSpPr>
          <p:spPr bwMode="auto">
            <a:xfrm>
              <a:off x="5301" y="4581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5" name="Line 17"/>
            <p:cNvSpPr>
              <a:spLocks noChangeShapeType="1"/>
            </p:cNvSpPr>
            <p:nvPr/>
          </p:nvSpPr>
          <p:spPr bwMode="auto">
            <a:xfrm>
              <a:off x="4221" y="440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6" name="Line 18"/>
            <p:cNvSpPr>
              <a:spLocks noChangeShapeType="1"/>
            </p:cNvSpPr>
            <p:nvPr/>
          </p:nvSpPr>
          <p:spPr bwMode="auto">
            <a:xfrm>
              <a:off x="4821" y="620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7" name="Line 19"/>
            <p:cNvSpPr>
              <a:spLocks noChangeShapeType="1"/>
            </p:cNvSpPr>
            <p:nvPr/>
          </p:nvSpPr>
          <p:spPr bwMode="auto">
            <a:xfrm>
              <a:off x="3621" y="620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8" name="Line 20"/>
            <p:cNvSpPr>
              <a:spLocks noChangeShapeType="1"/>
            </p:cNvSpPr>
            <p:nvPr/>
          </p:nvSpPr>
          <p:spPr bwMode="auto">
            <a:xfrm>
              <a:off x="4221" y="530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09" name="Line 21"/>
            <p:cNvSpPr>
              <a:spLocks noChangeShapeType="1"/>
            </p:cNvSpPr>
            <p:nvPr/>
          </p:nvSpPr>
          <p:spPr bwMode="auto">
            <a:xfrm>
              <a:off x="5301" y="548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0" name="Line 22"/>
            <p:cNvSpPr>
              <a:spLocks noChangeShapeType="1"/>
            </p:cNvSpPr>
            <p:nvPr/>
          </p:nvSpPr>
          <p:spPr bwMode="auto">
            <a:xfrm>
              <a:off x="4101" y="548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1" name="Line 23"/>
            <p:cNvSpPr>
              <a:spLocks noChangeShapeType="1"/>
            </p:cNvSpPr>
            <p:nvPr/>
          </p:nvSpPr>
          <p:spPr bwMode="auto">
            <a:xfrm flipH="1">
              <a:off x="4701" y="548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2" name="Line 24"/>
            <p:cNvSpPr>
              <a:spLocks noChangeShapeType="1"/>
            </p:cNvSpPr>
            <p:nvPr/>
          </p:nvSpPr>
          <p:spPr bwMode="auto">
            <a:xfrm flipH="1">
              <a:off x="3501" y="548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3" name="Line 25"/>
            <p:cNvSpPr>
              <a:spLocks noChangeShapeType="1"/>
            </p:cNvSpPr>
            <p:nvPr/>
          </p:nvSpPr>
          <p:spPr bwMode="auto">
            <a:xfrm>
              <a:off x="4101" y="4581"/>
              <a:ext cx="10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4" name="Text Box 26"/>
            <p:cNvSpPr txBox="1">
              <a:spLocks noChangeArrowheads="1"/>
            </p:cNvSpPr>
            <p:nvPr/>
          </p:nvSpPr>
          <p:spPr bwMode="auto">
            <a:xfrm>
              <a:off x="4341" y="404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-1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5" name="Text Box 27"/>
            <p:cNvSpPr txBox="1">
              <a:spLocks noChangeArrowheads="1"/>
            </p:cNvSpPr>
            <p:nvPr/>
          </p:nvSpPr>
          <p:spPr bwMode="auto">
            <a:xfrm>
              <a:off x="4341" y="45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-1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6" name="Text Box 28"/>
            <p:cNvSpPr txBox="1">
              <a:spLocks noChangeArrowheads="1"/>
            </p:cNvSpPr>
            <p:nvPr/>
          </p:nvSpPr>
          <p:spPr bwMode="auto">
            <a:xfrm>
              <a:off x="3381" y="45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+1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7" name="Text Box 29"/>
            <p:cNvSpPr txBox="1">
              <a:spLocks noChangeArrowheads="1"/>
            </p:cNvSpPr>
            <p:nvPr/>
          </p:nvSpPr>
          <p:spPr bwMode="auto">
            <a:xfrm>
              <a:off x="4101" y="54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+1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8" name="Text Box 30"/>
            <p:cNvSpPr txBox="1">
              <a:spLocks noChangeArrowheads="1"/>
            </p:cNvSpPr>
            <p:nvPr/>
          </p:nvSpPr>
          <p:spPr bwMode="auto">
            <a:xfrm>
              <a:off x="5301" y="54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+3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19" name="Text Box 31"/>
            <p:cNvSpPr txBox="1">
              <a:spLocks noChangeArrowheads="1"/>
            </p:cNvSpPr>
            <p:nvPr/>
          </p:nvSpPr>
          <p:spPr bwMode="auto">
            <a:xfrm>
              <a:off x="4221" y="494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-1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20" name="Text Box 32"/>
            <p:cNvSpPr txBox="1">
              <a:spLocks noChangeArrowheads="1"/>
            </p:cNvSpPr>
            <p:nvPr/>
          </p:nvSpPr>
          <p:spPr bwMode="auto">
            <a:xfrm>
              <a:off x="3141" y="54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+2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21" name="Text Box 33"/>
            <p:cNvSpPr txBox="1">
              <a:spLocks noChangeArrowheads="1"/>
            </p:cNvSpPr>
            <p:nvPr/>
          </p:nvSpPr>
          <p:spPr bwMode="auto">
            <a:xfrm>
              <a:off x="5181" y="45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+3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22" name="Text Box 34"/>
            <p:cNvSpPr txBox="1">
              <a:spLocks noChangeArrowheads="1"/>
            </p:cNvSpPr>
            <p:nvPr/>
          </p:nvSpPr>
          <p:spPr bwMode="auto">
            <a:xfrm>
              <a:off x="4941" y="620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-1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23" name="Text Box 35"/>
            <p:cNvSpPr txBox="1">
              <a:spLocks noChangeArrowheads="1"/>
            </p:cNvSpPr>
            <p:nvPr/>
          </p:nvSpPr>
          <p:spPr bwMode="auto">
            <a:xfrm>
              <a:off x="3741" y="620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+1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93924" name="Text Box 36"/>
            <p:cNvSpPr txBox="1">
              <a:spLocks noChangeArrowheads="1"/>
            </p:cNvSpPr>
            <p:nvPr/>
          </p:nvSpPr>
          <p:spPr bwMode="auto">
            <a:xfrm>
              <a:off x="4701" y="566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solidFill>
                    <a:schemeClr val="bg1">
                      <a:lumMod val="50000"/>
                    </a:schemeClr>
                  </a:solidFill>
                  <a:ea typeface="SimSun" pitchFamily="2" charset="-122"/>
                </a:rPr>
                <a:t>-2</a:t>
              </a:r>
              <a:endParaRPr lang="es-ES" altLang="es-AR" sz="1400" b="1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93925" name="Rectangle 37"/>
          <p:cNvSpPr>
            <a:spLocks noChangeArrowheads="1"/>
          </p:cNvSpPr>
          <p:nvPr/>
        </p:nvSpPr>
        <p:spPr bwMode="auto">
          <a:xfrm>
            <a:off x="6083325" y="5445397"/>
            <a:ext cx="20161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rgbClr val="FF0000"/>
                </a:solidFill>
              </a:rPr>
              <a:t>CONEXIONES</a:t>
            </a:r>
            <a:endParaRPr lang="es-ES" altLang="es-AR" sz="2000">
              <a:solidFill>
                <a:srgbClr val="FF0000"/>
              </a:solidFill>
            </a:endParaRPr>
          </a:p>
        </p:txBody>
      </p:sp>
      <p:sp>
        <p:nvSpPr>
          <p:cNvPr id="293926" name="Rectangle 38"/>
          <p:cNvSpPr>
            <a:spLocks noChangeArrowheads="1"/>
          </p:cNvSpPr>
          <p:nvPr/>
        </p:nvSpPr>
        <p:spPr bwMode="auto">
          <a:xfrm>
            <a:off x="6156350" y="4221336"/>
            <a:ext cx="1584325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rgbClr val="FF0000"/>
                </a:solidFill>
              </a:rPr>
              <a:t>UNIDADES</a:t>
            </a:r>
            <a:endParaRPr lang="es-ES" altLang="es-AR" sz="2000" dirty="0">
              <a:solidFill>
                <a:srgbClr val="FF0000"/>
              </a:solidFill>
            </a:endParaRPr>
          </a:p>
        </p:txBody>
      </p:sp>
      <p:sp>
        <p:nvSpPr>
          <p:cNvPr id="293927" name="AutoShape 39"/>
          <p:cNvSpPr>
            <a:spLocks noChangeArrowheads="1"/>
          </p:cNvSpPr>
          <p:nvPr/>
        </p:nvSpPr>
        <p:spPr bwMode="auto">
          <a:xfrm rot="-6083886">
            <a:off x="5491188" y="4027716"/>
            <a:ext cx="107950" cy="1076325"/>
          </a:xfrm>
          <a:prstGeom prst="downArrow">
            <a:avLst>
              <a:gd name="adj1" fmla="val 50000"/>
              <a:gd name="adj2" fmla="val 24926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293928" name="AutoShape 40"/>
          <p:cNvSpPr>
            <a:spLocks noChangeArrowheads="1"/>
          </p:cNvSpPr>
          <p:nvPr/>
        </p:nvSpPr>
        <p:spPr bwMode="auto">
          <a:xfrm rot="-4529748">
            <a:off x="5488013" y="4745309"/>
            <a:ext cx="107950" cy="1076325"/>
          </a:xfrm>
          <a:prstGeom prst="downArrow">
            <a:avLst>
              <a:gd name="adj1" fmla="val 50000"/>
              <a:gd name="adj2" fmla="val 24926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293929" name="Rectangle 41"/>
          <p:cNvSpPr>
            <a:spLocks noChangeArrowheads="1"/>
          </p:cNvSpPr>
          <p:nvPr/>
        </p:nvSpPr>
        <p:spPr bwMode="auto">
          <a:xfrm>
            <a:off x="395288" y="1124743"/>
            <a:ext cx="8064500" cy="302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marL="342900" indent="-342900" algn="just"/>
            <a:r>
              <a:rPr lang="es-ES_tradnl" altLang="es-AR" sz="2200" dirty="0" smtClean="0">
                <a:solidFill>
                  <a:schemeClr val="tx1"/>
                </a:solidFill>
              </a:rPr>
              <a:t>Las unidades de proceso se encuentran en estado activo o inactivo</a:t>
            </a:r>
          </a:p>
          <a:p>
            <a:pPr marL="342900" indent="-342900" algn="just"/>
            <a:r>
              <a:rPr lang="es-ES_tradnl" altLang="es-AR" sz="2200" dirty="0" smtClean="0">
                <a:solidFill>
                  <a:schemeClr val="tx1"/>
                </a:solidFill>
              </a:rPr>
              <a:t>Las unidades están conectadas unas con otras por conexiones simétricas y con pesos</a:t>
            </a:r>
          </a:p>
          <a:p>
            <a:pPr marL="342900" indent="-342900" algn="just"/>
            <a:r>
              <a:rPr lang="es-ES_tradnl" altLang="es-AR" sz="2200" dirty="0" smtClean="0">
                <a:solidFill>
                  <a:schemeClr val="tx1"/>
                </a:solidFill>
              </a:rPr>
              <a:t>Una </a:t>
            </a:r>
            <a:r>
              <a:rPr lang="es-ES_tradnl" altLang="es-AR" sz="22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conexión con peso positivo </a:t>
            </a:r>
            <a:r>
              <a:rPr lang="es-ES_tradnl" altLang="es-AR" sz="2200" dirty="0" smtClean="0">
                <a:solidFill>
                  <a:schemeClr val="tx1"/>
                </a:solidFill>
              </a:rPr>
              <a:t>indica que las dos unidades tienden a activarse </a:t>
            </a:r>
            <a:r>
              <a:rPr lang="es-ES_tradnl" altLang="es-AR" sz="2200" dirty="0">
                <a:solidFill>
                  <a:schemeClr val="tx1"/>
                </a:solidFill>
              </a:rPr>
              <a:t>una a la </a:t>
            </a:r>
            <a:r>
              <a:rPr lang="es-ES_tradnl" altLang="es-AR" sz="2200" dirty="0" smtClean="0">
                <a:solidFill>
                  <a:schemeClr val="tx1"/>
                </a:solidFill>
              </a:rPr>
              <a:t>otra</a:t>
            </a:r>
          </a:p>
          <a:p>
            <a:pPr marL="342900" indent="-342900" algn="just"/>
            <a:r>
              <a:rPr lang="es-ES_tradnl" altLang="es-AR" sz="2200" dirty="0" smtClean="0">
                <a:solidFill>
                  <a:schemeClr val="tx1"/>
                </a:solidFill>
              </a:rPr>
              <a:t>Una </a:t>
            </a:r>
            <a:r>
              <a:rPr lang="es-ES_tradnl" altLang="es-AR" sz="22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conexión con peso negativo </a:t>
            </a:r>
            <a:r>
              <a:rPr lang="es-ES_tradnl" altLang="es-AR" sz="2200" dirty="0" smtClean="0">
                <a:solidFill>
                  <a:schemeClr val="tx1"/>
                </a:solidFill>
              </a:rPr>
              <a:t>permite que una unidad activa desactive a su unidad vecina</a:t>
            </a:r>
          </a:p>
          <a:p>
            <a:pPr algn="just">
              <a:buFontTx/>
              <a:buNone/>
            </a:pPr>
            <a:endParaRPr lang="es-ES" altLang="es-AR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640"/>
            <a:ext cx="8424862" cy="79208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de </a:t>
            </a:r>
            <a:r>
              <a:rPr lang="es-ES_tradnl" altLang="es-AR" sz="3200" dirty="0" err="1">
                <a:solidFill>
                  <a:schemeClr val="tx1"/>
                </a:solidFill>
              </a:rPr>
              <a:t>Hopfield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93891" name="Rectangle 3"/>
          <p:cNvSpPr>
            <a:spLocks noChangeArrowheads="1"/>
          </p:cNvSpPr>
          <p:nvPr/>
        </p:nvSpPr>
        <p:spPr bwMode="auto">
          <a:xfrm>
            <a:off x="430515" y="3816336"/>
            <a:ext cx="8496300" cy="115212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 smtClean="0">
                <a:solidFill>
                  <a:schemeClr val="tx1"/>
                </a:solidFill>
                <a:effectLst/>
              </a:rPr>
              <a:t>El </a:t>
            </a:r>
            <a:r>
              <a:rPr lang="es-ES_tradnl" altLang="es-AR" dirty="0">
                <a:solidFill>
                  <a:schemeClr val="tx1"/>
                </a:solidFill>
                <a:effectLst/>
              </a:rPr>
              <a:t>proceso se repite hasta alcanzar un </a:t>
            </a:r>
            <a:r>
              <a:rPr lang="es-ES_tradnl" altLang="es-AR" u="sng" dirty="0">
                <a:solidFill>
                  <a:srgbClr val="FF0000"/>
                </a:solidFill>
                <a:effectLst/>
              </a:rPr>
              <a:t>estado </a:t>
            </a:r>
            <a:r>
              <a:rPr lang="es-ES_tradnl" altLang="es-AR" u="sng" dirty="0" smtClean="0">
                <a:solidFill>
                  <a:srgbClr val="FF0000"/>
                </a:solidFill>
                <a:effectLst/>
              </a:rPr>
              <a:t>estable</a:t>
            </a:r>
            <a:r>
              <a:rPr lang="es-ES_tradnl" altLang="es-AR" dirty="0" smtClean="0">
                <a:solidFill>
                  <a:schemeClr val="tx1"/>
                </a:solidFill>
                <a:effectLst/>
              </a:rPr>
              <a:t>,</a:t>
            </a:r>
            <a:r>
              <a:rPr lang="es-ES_tradnl" altLang="es-AR" u="sng" dirty="0" smtClean="0">
                <a:solidFill>
                  <a:schemeClr val="tx1"/>
                </a:solidFill>
                <a:effectLst/>
              </a:rPr>
              <a:t> </a:t>
            </a:r>
            <a:r>
              <a:rPr lang="es-ES_tradnl" altLang="es-AR" dirty="0" smtClean="0">
                <a:solidFill>
                  <a:schemeClr val="tx1"/>
                </a:solidFill>
                <a:effectLst/>
              </a:rPr>
              <a:t>hasta que no quede ninguna unidad que pueda cambiar de estado</a:t>
            </a:r>
            <a:endParaRPr lang="es-ES" altLang="es-AR" dirty="0">
              <a:solidFill>
                <a:schemeClr val="tx1"/>
              </a:solidFill>
              <a:effectLst/>
            </a:endParaRPr>
          </a:p>
        </p:txBody>
      </p:sp>
      <p:sp>
        <p:nvSpPr>
          <p:cNvPr id="293929" name="Rectangle 41"/>
          <p:cNvSpPr>
            <a:spLocks noChangeArrowheads="1"/>
          </p:cNvSpPr>
          <p:nvPr/>
        </p:nvSpPr>
        <p:spPr bwMode="auto">
          <a:xfrm>
            <a:off x="395288" y="1124545"/>
            <a:ext cx="8424862" cy="2520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just">
              <a:buFontTx/>
              <a:buNone/>
            </a:pPr>
            <a:r>
              <a:rPr lang="es-ES_tradnl" altLang="es-AR" dirty="0" smtClean="0">
                <a:solidFill>
                  <a:schemeClr val="tx1"/>
                </a:solidFill>
              </a:rPr>
              <a:t>La red funciona del siguiente modo:</a:t>
            </a:r>
          </a:p>
          <a:p>
            <a:pPr algn="just">
              <a:buFontTx/>
              <a:buNone/>
            </a:pPr>
            <a:endParaRPr lang="es-ES_tradnl" altLang="es-AR" sz="500" dirty="0" smtClean="0">
              <a:solidFill>
                <a:schemeClr val="tx1"/>
              </a:solidFill>
            </a:endParaRPr>
          </a:p>
          <a:p>
            <a:pPr marL="342900" indent="-342900" algn="just"/>
            <a:r>
              <a:rPr lang="es-ES_tradnl" altLang="es-AR" sz="2300" dirty="0" smtClean="0">
                <a:solidFill>
                  <a:schemeClr val="tx1"/>
                </a:solidFill>
              </a:rPr>
              <a:t>Se elige una unidad aleatoriamente</a:t>
            </a:r>
          </a:p>
          <a:p>
            <a:pPr marL="342900" indent="-342900" algn="just"/>
            <a:r>
              <a:rPr lang="es-ES_tradnl" altLang="es-AR" sz="2300" dirty="0" smtClean="0">
                <a:solidFill>
                  <a:schemeClr val="tx1"/>
                </a:solidFill>
              </a:rPr>
              <a:t>Si alguna de sus vecinas está activada, se calcula la suma de los pesos de las conexiones de esas unidades</a:t>
            </a:r>
          </a:p>
          <a:p>
            <a:pPr marL="342900" indent="-342900" algn="just"/>
            <a:r>
              <a:rPr lang="es-ES_tradnl" altLang="es-AR" sz="2300" dirty="0" smtClean="0">
                <a:solidFill>
                  <a:schemeClr val="tx1"/>
                </a:solidFill>
              </a:rPr>
              <a:t>Si la suma es positiva, la unidad se activa, caso contrario, se desactiva</a:t>
            </a:r>
            <a:endParaRPr lang="es-ES" altLang="es-AR" sz="2300" dirty="0">
              <a:solidFill>
                <a:schemeClr val="tx1"/>
              </a:solidFill>
            </a:endParaRP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611560" y="5085184"/>
            <a:ext cx="820859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800" dirty="0">
                <a:solidFill>
                  <a:srgbClr val="FF0000"/>
                </a:solidFill>
              </a:rPr>
              <a:t>Proceso de Relajación </a:t>
            </a:r>
            <a:r>
              <a:rPr lang="es-ES_tradnl" altLang="es-AR" sz="2800" dirty="0" smtClean="0">
                <a:solidFill>
                  <a:srgbClr val="FF0000"/>
                </a:solidFill>
              </a:rPr>
              <a:t>Paralela</a:t>
            </a:r>
          </a:p>
          <a:p>
            <a:pPr algn="ctr">
              <a:buFontTx/>
              <a:buNone/>
            </a:pPr>
            <a:r>
              <a:rPr lang="es-ES_tradnl" altLang="es-AR" sz="2200" dirty="0" smtClean="0">
                <a:solidFill>
                  <a:srgbClr val="FF0000"/>
                </a:solidFill>
              </a:rPr>
              <a:t>Dado un conjunto de pesos y un estado inicial, el algoritmo de relajación paralela en algún momento llevará la red hacia un estado estable</a:t>
            </a:r>
            <a:endParaRPr lang="es-ES" altLang="es-AR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28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648"/>
            <a:ext cx="8424862" cy="1440160"/>
          </a:xfrm>
        </p:spPr>
        <p:txBody>
          <a:bodyPr/>
          <a:lstStyle/>
          <a:p>
            <a:r>
              <a:rPr lang="es-ES_tradnl" altLang="es-AR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Esta red tiene sólo 4 </a:t>
            </a:r>
            <a:r>
              <a:rPr lang="es-ES_tradnl" altLang="es-AR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estados estables </a:t>
            </a:r>
            <a:r>
              <a:rPr lang="es-ES_tradnl" altLang="es-AR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posibles</a:t>
            </a:r>
            <a:r>
              <a:rPr lang="es-ES_tradnl" altLang="es-AR" sz="2500" dirty="0" smtClean="0">
                <a:solidFill>
                  <a:schemeClr val="tx1"/>
                </a:solidFill>
              </a:rPr>
              <a:t/>
            </a:r>
            <a:br>
              <a:rPr lang="es-ES_tradnl" altLang="es-AR" sz="2500" dirty="0" smtClean="0">
                <a:solidFill>
                  <a:schemeClr val="tx1"/>
                </a:solidFill>
              </a:rPr>
            </a:br>
            <a:r>
              <a:rPr lang="es-ES_tradnl" altLang="es-AR" sz="2200" dirty="0" smtClean="0">
                <a:solidFill>
                  <a:schemeClr val="tx1"/>
                </a:solidFill>
              </a:rPr>
              <a:t>(Dado un estado inicial, la red se asentará en una de estas cuatro configuraciones)</a:t>
            </a:r>
            <a:endParaRPr lang="es-ES" altLang="es-AR" sz="2200" dirty="0">
              <a:solidFill>
                <a:schemeClr val="tx1"/>
              </a:solidFill>
            </a:endParaRPr>
          </a:p>
        </p:txBody>
      </p:sp>
      <p:sp>
        <p:nvSpPr>
          <p:cNvPr id="286723" name="Rectangle 3"/>
          <p:cNvSpPr>
            <a:spLocks noChangeArrowheads="1"/>
          </p:cNvSpPr>
          <p:nvPr/>
        </p:nvSpPr>
        <p:spPr bwMode="auto">
          <a:xfrm>
            <a:off x="323850" y="6021660"/>
            <a:ext cx="8496300" cy="6477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>
                <a:solidFill>
                  <a:srgbClr val="FF0000"/>
                </a:solidFill>
                <a:effectLst/>
              </a:rPr>
              <a:t>Red de Hopfield </a:t>
            </a:r>
            <a:r>
              <a:rPr lang="es-ES_tradnl" altLang="es-AR">
                <a:solidFill>
                  <a:srgbClr val="FF0000"/>
                </a:solidFill>
                <a:effectLst/>
                <a:sym typeface="Wingdings" pitchFamily="2" charset="2"/>
              </a:rPr>
              <a:t> Almacenador de PATRONES</a:t>
            </a:r>
            <a:endParaRPr lang="es-ES" altLang="es-AR">
              <a:solidFill>
                <a:srgbClr val="FF0000"/>
              </a:solidFill>
              <a:effectLst/>
            </a:endParaRPr>
          </a:p>
        </p:txBody>
      </p:sp>
      <p:grpSp>
        <p:nvGrpSpPr>
          <p:cNvPr id="286724" name="Group 4"/>
          <p:cNvGrpSpPr>
            <a:grpSpLocks/>
          </p:cNvGrpSpPr>
          <p:nvPr/>
        </p:nvGrpSpPr>
        <p:grpSpPr bwMode="auto">
          <a:xfrm>
            <a:off x="1763713" y="1773485"/>
            <a:ext cx="4824412" cy="1943100"/>
            <a:chOff x="2301" y="12681"/>
            <a:chExt cx="6600" cy="2520"/>
          </a:xfrm>
        </p:grpSpPr>
        <p:sp>
          <p:nvSpPr>
            <p:cNvPr id="286725" name="Oval 5"/>
            <p:cNvSpPr>
              <a:spLocks noChangeArrowheads="1"/>
            </p:cNvSpPr>
            <p:nvPr/>
          </p:nvSpPr>
          <p:spPr bwMode="auto">
            <a:xfrm>
              <a:off x="2421" y="1466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26" name="Oval 6"/>
            <p:cNvSpPr>
              <a:spLocks noChangeArrowheads="1"/>
            </p:cNvSpPr>
            <p:nvPr/>
          </p:nvSpPr>
          <p:spPr bwMode="auto">
            <a:xfrm>
              <a:off x="3021" y="1376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27" name="Oval 7"/>
            <p:cNvSpPr>
              <a:spLocks noChangeArrowheads="1"/>
            </p:cNvSpPr>
            <p:nvPr/>
          </p:nvSpPr>
          <p:spPr bwMode="auto">
            <a:xfrm>
              <a:off x="3021" y="1286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28" name="Oval 8"/>
            <p:cNvSpPr>
              <a:spLocks noChangeArrowheads="1"/>
            </p:cNvSpPr>
            <p:nvPr/>
          </p:nvSpPr>
          <p:spPr bwMode="auto">
            <a:xfrm>
              <a:off x="4221" y="1286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29" name="Oval 9"/>
            <p:cNvSpPr>
              <a:spLocks noChangeArrowheads="1"/>
            </p:cNvSpPr>
            <p:nvPr/>
          </p:nvSpPr>
          <p:spPr bwMode="auto">
            <a:xfrm>
              <a:off x="4221" y="1376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30" name="Oval 10"/>
            <p:cNvSpPr>
              <a:spLocks noChangeArrowheads="1"/>
            </p:cNvSpPr>
            <p:nvPr/>
          </p:nvSpPr>
          <p:spPr bwMode="auto">
            <a:xfrm>
              <a:off x="4821" y="1466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1" name="Oval 11"/>
            <p:cNvSpPr>
              <a:spLocks noChangeArrowheads="1"/>
            </p:cNvSpPr>
            <p:nvPr/>
          </p:nvSpPr>
          <p:spPr bwMode="auto">
            <a:xfrm>
              <a:off x="3621" y="1466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2" name="Line 12"/>
            <p:cNvSpPr>
              <a:spLocks noChangeShapeType="1"/>
            </p:cNvSpPr>
            <p:nvPr/>
          </p:nvSpPr>
          <p:spPr bwMode="auto">
            <a:xfrm>
              <a:off x="3141" y="13221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3" name="Line 13"/>
            <p:cNvSpPr>
              <a:spLocks noChangeShapeType="1"/>
            </p:cNvSpPr>
            <p:nvPr/>
          </p:nvSpPr>
          <p:spPr bwMode="auto">
            <a:xfrm>
              <a:off x="4461" y="13221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4" name="Line 14"/>
            <p:cNvSpPr>
              <a:spLocks noChangeShapeType="1"/>
            </p:cNvSpPr>
            <p:nvPr/>
          </p:nvSpPr>
          <p:spPr bwMode="auto">
            <a:xfrm>
              <a:off x="3381" y="130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5" name="Line 15"/>
            <p:cNvSpPr>
              <a:spLocks noChangeShapeType="1"/>
            </p:cNvSpPr>
            <p:nvPr/>
          </p:nvSpPr>
          <p:spPr bwMode="auto">
            <a:xfrm>
              <a:off x="3981" y="148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6" name="Line 16"/>
            <p:cNvSpPr>
              <a:spLocks noChangeShapeType="1"/>
            </p:cNvSpPr>
            <p:nvPr/>
          </p:nvSpPr>
          <p:spPr bwMode="auto">
            <a:xfrm>
              <a:off x="2781" y="148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7" name="Line 17"/>
            <p:cNvSpPr>
              <a:spLocks noChangeShapeType="1"/>
            </p:cNvSpPr>
            <p:nvPr/>
          </p:nvSpPr>
          <p:spPr bwMode="auto">
            <a:xfrm>
              <a:off x="3381" y="139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8" name="Line 18"/>
            <p:cNvSpPr>
              <a:spLocks noChangeShapeType="1"/>
            </p:cNvSpPr>
            <p:nvPr/>
          </p:nvSpPr>
          <p:spPr bwMode="auto">
            <a:xfrm>
              <a:off x="446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39" name="Line 19"/>
            <p:cNvSpPr>
              <a:spLocks noChangeShapeType="1"/>
            </p:cNvSpPr>
            <p:nvPr/>
          </p:nvSpPr>
          <p:spPr bwMode="auto">
            <a:xfrm>
              <a:off x="326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40" name="Line 20"/>
            <p:cNvSpPr>
              <a:spLocks noChangeShapeType="1"/>
            </p:cNvSpPr>
            <p:nvPr/>
          </p:nvSpPr>
          <p:spPr bwMode="auto">
            <a:xfrm flipH="1">
              <a:off x="386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41" name="Line 21"/>
            <p:cNvSpPr>
              <a:spLocks noChangeShapeType="1"/>
            </p:cNvSpPr>
            <p:nvPr/>
          </p:nvSpPr>
          <p:spPr bwMode="auto">
            <a:xfrm flipH="1">
              <a:off x="266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42" name="Line 22"/>
            <p:cNvSpPr>
              <a:spLocks noChangeShapeType="1"/>
            </p:cNvSpPr>
            <p:nvPr/>
          </p:nvSpPr>
          <p:spPr bwMode="auto">
            <a:xfrm>
              <a:off x="3261" y="13221"/>
              <a:ext cx="10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43" name="Text Box 23"/>
            <p:cNvSpPr txBox="1">
              <a:spLocks noChangeArrowheads="1"/>
            </p:cNvSpPr>
            <p:nvPr/>
          </p:nvSpPr>
          <p:spPr bwMode="auto">
            <a:xfrm>
              <a:off x="3501" y="126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44" name="Text Box 24"/>
            <p:cNvSpPr txBox="1">
              <a:spLocks noChangeArrowheads="1"/>
            </p:cNvSpPr>
            <p:nvPr/>
          </p:nvSpPr>
          <p:spPr bwMode="auto">
            <a:xfrm>
              <a:off x="3501" y="132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45" name="Text Box 25"/>
            <p:cNvSpPr txBox="1">
              <a:spLocks noChangeArrowheads="1"/>
            </p:cNvSpPr>
            <p:nvPr/>
          </p:nvSpPr>
          <p:spPr bwMode="auto">
            <a:xfrm>
              <a:off x="2541" y="132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746" name="Text Box 26"/>
            <p:cNvSpPr txBox="1">
              <a:spLocks noChangeArrowheads="1"/>
            </p:cNvSpPr>
            <p:nvPr/>
          </p:nvSpPr>
          <p:spPr bwMode="auto">
            <a:xfrm>
              <a:off x="3261" y="141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747" name="Text Box 27"/>
            <p:cNvSpPr txBox="1">
              <a:spLocks noChangeArrowheads="1"/>
            </p:cNvSpPr>
            <p:nvPr/>
          </p:nvSpPr>
          <p:spPr bwMode="auto">
            <a:xfrm>
              <a:off x="4461" y="141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748" name="Text Box 28"/>
            <p:cNvSpPr txBox="1">
              <a:spLocks noChangeArrowheads="1"/>
            </p:cNvSpPr>
            <p:nvPr/>
          </p:nvSpPr>
          <p:spPr bwMode="auto">
            <a:xfrm>
              <a:off x="3381" y="135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49" name="Text Box 29"/>
            <p:cNvSpPr txBox="1">
              <a:spLocks noChangeArrowheads="1"/>
            </p:cNvSpPr>
            <p:nvPr/>
          </p:nvSpPr>
          <p:spPr bwMode="auto">
            <a:xfrm>
              <a:off x="2301" y="141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+2</a:t>
              </a:r>
              <a:endParaRPr lang="es-ES" altLang="es-AR" sz="1400" b="1"/>
            </a:p>
          </p:txBody>
        </p:sp>
        <p:sp>
          <p:nvSpPr>
            <p:cNvPr id="286750" name="Text Box 30"/>
            <p:cNvSpPr txBox="1">
              <a:spLocks noChangeArrowheads="1"/>
            </p:cNvSpPr>
            <p:nvPr/>
          </p:nvSpPr>
          <p:spPr bwMode="auto">
            <a:xfrm>
              <a:off x="4341" y="132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751" name="Text Box 31"/>
            <p:cNvSpPr txBox="1">
              <a:spLocks noChangeArrowheads="1"/>
            </p:cNvSpPr>
            <p:nvPr/>
          </p:nvSpPr>
          <p:spPr bwMode="auto">
            <a:xfrm>
              <a:off x="4101" y="1484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52" name="Text Box 32"/>
            <p:cNvSpPr txBox="1">
              <a:spLocks noChangeArrowheads="1"/>
            </p:cNvSpPr>
            <p:nvPr/>
          </p:nvSpPr>
          <p:spPr bwMode="auto">
            <a:xfrm>
              <a:off x="2901" y="1484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753" name="Text Box 33"/>
            <p:cNvSpPr txBox="1">
              <a:spLocks noChangeArrowheads="1"/>
            </p:cNvSpPr>
            <p:nvPr/>
          </p:nvSpPr>
          <p:spPr bwMode="auto">
            <a:xfrm>
              <a:off x="3861" y="1430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-2</a:t>
              </a:r>
              <a:endParaRPr lang="es-ES" altLang="es-AR" sz="1400" b="1"/>
            </a:p>
          </p:txBody>
        </p:sp>
        <p:sp>
          <p:nvSpPr>
            <p:cNvPr id="286754" name="Oval 34"/>
            <p:cNvSpPr>
              <a:spLocks noChangeArrowheads="1"/>
            </p:cNvSpPr>
            <p:nvPr/>
          </p:nvSpPr>
          <p:spPr bwMode="auto">
            <a:xfrm>
              <a:off x="6141" y="14661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55" name="Oval 35"/>
            <p:cNvSpPr>
              <a:spLocks noChangeArrowheads="1"/>
            </p:cNvSpPr>
            <p:nvPr/>
          </p:nvSpPr>
          <p:spPr bwMode="auto">
            <a:xfrm>
              <a:off x="6741" y="13761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56" name="Oval 36"/>
            <p:cNvSpPr>
              <a:spLocks noChangeArrowheads="1"/>
            </p:cNvSpPr>
            <p:nvPr/>
          </p:nvSpPr>
          <p:spPr bwMode="auto">
            <a:xfrm>
              <a:off x="6741" y="12861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57" name="Oval 37"/>
            <p:cNvSpPr>
              <a:spLocks noChangeArrowheads="1"/>
            </p:cNvSpPr>
            <p:nvPr/>
          </p:nvSpPr>
          <p:spPr bwMode="auto">
            <a:xfrm>
              <a:off x="7941" y="1286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58" name="Oval 38"/>
            <p:cNvSpPr>
              <a:spLocks noChangeArrowheads="1"/>
            </p:cNvSpPr>
            <p:nvPr/>
          </p:nvSpPr>
          <p:spPr bwMode="auto">
            <a:xfrm>
              <a:off x="7941" y="13761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59" name="Oval 39"/>
            <p:cNvSpPr>
              <a:spLocks noChangeArrowheads="1"/>
            </p:cNvSpPr>
            <p:nvPr/>
          </p:nvSpPr>
          <p:spPr bwMode="auto">
            <a:xfrm>
              <a:off x="8541" y="14661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0" name="Oval 40"/>
            <p:cNvSpPr>
              <a:spLocks noChangeArrowheads="1"/>
            </p:cNvSpPr>
            <p:nvPr/>
          </p:nvSpPr>
          <p:spPr bwMode="auto">
            <a:xfrm>
              <a:off x="7341" y="14661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61" name="Line 41"/>
            <p:cNvSpPr>
              <a:spLocks noChangeShapeType="1"/>
            </p:cNvSpPr>
            <p:nvPr/>
          </p:nvSpPr>
          <p:spPr bwMode="auto">
            <a:xfrm>
              <a:off x="6861" y="13221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2" name="Line 42"/>
            <p:cNvSpPr>
              <a:spLocks noChangeShapeType="1"/>
            </p:cNvSpPr>
            <p:nvPr/>
          </p:nvSpPr>
          <p:spPr bwMode="auto">
            <a:xfrm>
              <a:off x="8181" y="13221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3" name="Line 43"/>
            <p:cNvSpPr>
              <a:spLocks noChangeShapeType="1"/>
            </p:cNvSpPr>
            <p:nvPr/>
          </p:nvSpPr>
          <p:spPr bwMode="auto">
            <a:xfrm>
              <a:off x="7101" y="130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4" name="Line 44"/>
            <p:cNvSpPr>
              <a:spLocks noChangeShapeType="1"/>
            </p:cNvSpPr>
            <p:nvPr/>
          </p:nvSpPr>
          <p:spPr bwMode="auto">
            <a:xfrm>
              <a:off x="7701" y="148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5" name="Line 45"/>
            <p:cNvSpPr>
              <a:spLocks noChangeShapeType="1"/>
            </p:cNvSpPr>
            <p:nvPr/>
          </p:nvSpPr>
          <p:spPr bwMode="auto">
            <a:xfrm>
              <a:off x="6501" y="148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6" name="Line 46"/>
            <p:cNvSpPr>
              <a:spLocks noChangeShapeType="1"/>
            </p:cNvSpPr>
            <p:nvPr/>
          </p:nvSpPr>
          <p:spPr bwMode="auto">
            <a:xfrm>
              <a:off x="7101" y="13941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7" name="Line 47"/>
            <p:cNvSpPr>
              <a:spLocks noChangeShapeType="1"/>
            </p:cNvSpPr>
            <p:nvPr/>
          </p:nvSpPr>
          <p:spPr bwMode="auto">
            <a:xfrm>
              <a:off x="818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8" name="Line 48"/>
            <p:cNvSpPr>
              <a:spLocks noChangeShapeType="1"/>
            </p:cNvSpPr>
            <p:nvPr/>
          </p:nvSpPr>
          <p:spPr bwMode="auto">
            <a:xfrm>
              <a:off x="698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69" name="Line 49"/>
            <p:cNvSpPr>
              <a:spLocks noChangeShapeType="1"/>
            </p:cNvSpPr>
            <p:nvPr/>
          </p:nvSpPr>
          <p:spPr bwMode="auto">
            <a:xfrm flipH="1">
              <a:off x="758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70" name="Line 50"/>
            <p:cNvSpPr>
              <a:spLocks noChangeShapeType="1"/>
            </p:cNvSpPr>
            <p:nvPr/>
          </p:nvSpPr>
          <p:spPr bwMode="auto">
            <a:xfrm flipH="1">
              <a:off x="6381" y="14121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71" name="Line 51"/>
            <p:cNvSpPr>
              <a:spLocks noChangeShapeType="1"/>
            </p:cNvSpPr>
            <p:nvPr/>
          </p:nvSpPr>
          <p:spPr bwMode="auto">
            <a:xfrm>
              <a:off x="6981" y="13221"/>
              <a:ext cx="10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72" name="Text Box 52"/>
            <p:cNvSpPr txBox="1">
              <a:spLocks noChangeArrowheads="1"/>
            </p:cNvSpPr>
            <p:nvPr/>
          </p:nvSpPr>
          <p:spPr bwMode="auto">
            <a:xfrm>
              <a:off x="7221" y="126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73" name="Text Box 53"/>
            <p:cNvSpPr txBox="1">
              <a:spLocks noChangeArrowheads="1"/>
            </p:cNvSpPr>
            <p:nvPr/>
          </p:nvSpPr>
          <p:spPr bwMode="auto">
            <a:xfrm>
              <a:off x="7221" y="132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74" name="Text Box 54"/>
            <p:cNvSpPr txBox="1">
              <a:spLocks noChangeArrowheads="1"/>
            </p:cNvSpPr>
            <p:nvPr/>
          </p:nvSpPr>
          <p:spPr bwMode="auto">
            <a:xfrm>
              <a:off x="6261" y="132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775" name="Text Box 55"/>
            <p:cNvSpPr txBox="1">
              <a:spLocks noChangeArrowheads="1"/>
            </p:cNvSpPr>
            <p:nvPr/>
          </p:nvSpPr>
          <p:spPr bwMode="auto">
            <a:xfrm>
              <a:off x="6981" y="141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776" name="Text Box 56"/>
            <p:cNvSpPr txBox="1">
              <a:spLocks noChangeArrowheads="1"/>
            </p:cNvSpPr>
            <p:nvPr/>
          </p:nvSpPr>
          <p:spPr bwMode="auto">
            <a:xfrm>
              <a:off x="8181" y="141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777" name="Text Box 57"/>
            <p:cNvSpPr txBox="1">
              <a:spLocks noChangeArrowheads="1"/>
            </p:cNvSpPr>
            <p:nvPr/>
          </p:nvSpPr>
          <p:spPr bwMode="auto">
            <a:xfrm>
              <a:off x="7101" y="1358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78" name="Text Box 58"/>
            <p:cNvSpPr txBox="1">
              <a:spLocks noChangeArrowheads="1"/>
            </p:cNvSpPr>
            <p:nvPr/>
          </p:nvSpPr>
          <p:spPr bwMode="auto">
            <a:xfrm>
              <a:off x="6021" y="141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+2</a:t>
              </a:r>
              <a:endParaRPr lang="es-ES" altLang="es-AR" sz="1400" b="1"/>
            </a:p>
          </p:txBody>
        </p:sp>
        <p:sp>
          <p:nvSpPr>
            <p:cNvPr id="286779" name="Text Box 59"/>
            <p:cNvSpPr txBox="1">
              <a:spLocks noChangeArrowheads="1"/>
            </p:cNvSpPr>
            <p:nvPr/>
          </p:nvSpPr>
          <p:spPr bwMode="auto">
            <a:xfrm>
              <a:off x="8061" y="1322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780" name="Text Box 60"/>
            <p:cNvSpPr txBox="1">
              <a:spLocks noChangeArrowheads="1"/>
            </p:cNvSpPr>
            <p:nvPr/>
          </p:nvSpPr>
          <p:spPr bwMode="auto">
            <a:xfrm>
              <a:off x="7821" y="1484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781" name="Text Box 61"/>
            <p:cNvSpPr txBox="1">
              <a:spLocks noChangeArrowheads="1"/>
            </p:cNvSpPr>
            <p:nvPr/>
          </p:nvSpPr>
          <p:spPr bwMode="auto">
            <a:xfrm>
              <a:off x="6621" y="1484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782" name="Text Box 62"/>
            <p:cNvSpPr txBox="1">
              <a:spLocks noChangeArrowheads="1"/>
            </p:cNvSpPr>
            <p:nvPr/>
          </p:nvSpPr>
          <p:spPr bwMode="auto">
            <a:xfrm>
              <a:off x="7581" y="14301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-2</a:t>
              </a:r>
              <a:endParaRPr lang="es-ES" altLang="es-AR" sz="1400" b="1"/>
            </a:p>
          </p:txBody>
        </p:sp>
      </p:grpSp>
      <p:grpSp>
        <p:nvGrpSpPr>
          <p:cNvPr id="286783" name="Group 63"/>
          <p:cNvGrpSpPr>
            <a:grpSpLocks/>
          </p:cNvGrpSpPr>
          <p:nvPr/>
        </p:nvGrpSpPr>
        <p:grpSpPr bwMode="auto">
          <a:xfrm>
            <a:off x="1763713" y="3862635"/>
            <a:ext cx="4824412" cy="1943100"/>
            <a:chOff x="2421" y="1950"/>
            <a:chExt cx="6600" cy="2520"/>
          </a:xfrm>
        </p:grpSpPr>
        <p:sp>
          <p:nvSpPr>
            <p:cNvPr id="286784" name="Oval 64"/>
            <p:cNvSpPr>
              <a:spLocks noChangeArrowheads="1"/>
            </p:cNvSpPr>
            <p:nvPr/>
          </p:nvSpPr>
          <p:spPr bwMode="auto">
            <a:xfrm>
              <a:off x="2541" y="3930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85" name="Oval 65"/>
            <p:cNvSpPr>
              <a:spLocks noChangeArrowheads="1"/>
            </p:cNvSpPr>
            <p:nvPr/>
          </p:nvSpPr>
          <p:spPr bwMode="auto">
            <a:xfrm>
              <a:off x="3141" y="3030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86" name="Oval 66"/>
            <p:cNvSpPr>
              <a:spLocks noChangeArrowheads="1"/>
            </p:cNvSpPr>
            <p:nvPr/>
          </p:nvSpPr>
          <p:spPr bwMode="auto">
            <a:xfrm>
              <a:off x="3141" y="2130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87" name="Oval 67"/>
            <p:cNvSpPr>
              <a:spLocks noChangeArrowheads="1"/>
            </p:cNvSpPr>
            <p:nvPr/>
          </p:nvSpPr>
          <p:spPr bwMode="auto">
            <a:xfrm>
              <a:off x="4341" y="21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88" name="Oval 68"/>
            <p:cNvSpPr>
              <a:spLocks noChangeArrowheads="1"/>
            </p:cNvSpPr>
            <p:nvPr/>
          </p:nvSpPr>
          <p:spPr bwMode="auto">
            <a:xfrm>
              <a:off x="4341" y="30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89" name="Oval 69"/>
            <p:cNvSpPr>
              <a:spLocks noChangeArrowheads="1"/>
            </p:cNvSpPr>
            <p:nvPr/>
          </p:nvSpPr>
          <p:spPr bwMode="auto">
            <a:xfrm>
              <a:off x="4941" y="39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790" name="Oval 70"/>
            <p:cNvSpPr>
              <a:spLocks noChangeArrowheads="1"/>
            </p:cNvSpPr>
            <p:nvPr/>
          </p:nvSpPr>
          <p:spPr bwMode="auto">
            <a:xfrm>
              <a:off x="3741" y="3930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1" name="Line 71"/>
            <p:cNvSpPr>
              <a:spLocks noChangeShapeType="1"/>
            </p:cNvSpPr>
            <p:nvPr/>
          </p:nvSpPr>
          <p:spPr bwMode="auto">
            <a:xfrm>
              <a:off x="3261" y="2490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2" name="Line 72"/>
            <p:cNvSpPr>
              <a:spLocks noChangeShapeType="1"/>
            </p:cNvSpPr>
            <p:nvPr/>
          </p:nvSpPr>
          <p:spPr bwMode="auto">
            <a:xfrm>
              <a:off x="4581" y="2490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3" name="Line 73"/>
            <p:cNvSpPr>
              <a:spLocks noChangeShapeType="1"/>
            </p:cNvSpPr>
            <p:nvPr/>
          </p:nvSpPr>
          <p:spPr bwMode="auto">
            <a:xfrm>
              <a:off x="3501" y="23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4" name="Line 74"/>
            <p:cNvSpPr>
              <a:spLocks noChangeShapeType="1"/>
            </p:cNvSpPr>
            <p:nvPr/>
          </p:nvSpPr>
          <p:spPr bwMode="auto">
            <a:xfrm>
              <a:off x="4101" y="41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5" name="Line 75"/>
            <p:cNvSpPr>
              <a:spLocks noChangeShapeType="1"/>
            </p:cNvSpPr>
            <p:nvPr/>
          </p:nvSpPr>
          <p:spPr bwMode="auto">
            <a:xfrm>
              <a:off x="2901" y="41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6" name="Line 76"/>
            <p:cNvSpPr>
              <a:spLocks noChangeShapeType="1"/>
            </p:cNvSpPr>
            <p:nvPr/>
          </p:nvSpPr>
          <p:spPr bwMode="auto">
            <a:xfrm>
              <a:off x="3501" y="32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7" name="Line 77"/>
            <p:cNvSpPr>
              <a:spLocks noChangeShapeType="1"/>
            </p:cNvSpPr>
            <p:nvPr/>
          </p:nvSpPr>
          <p:spPr bwMode="auto">
            <a:xfrm>
              <a:off x="458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8" name="Line 78"/>
            <p:cNvSpPr>
              <a:spLocks noChangeShapeType="1"/>
            </p:cNvSpPr>
            <p:nvPr/>
          </p:nvSpPr>
          <p:spPr bwMode="auto">
            <a:xfrm>
              <a:off x="338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799" name="Line 79"/>
            <p:cNvSpPr>
              <a:spLocks noChangeShapeType="1"/>
            </p:cNvSpPr>
            <p:nvPr/>
          </p:nvSpPr>
          <p:spPr bwMode="auto">
            <a:xfrm flipH="1">
              <a:off x="398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00" name="Line 80"/>
            <p:cNvSpPr>
              <a:spLocks noChangeShapeType="1"/>
            </p:cNvSpPr>
            <p:nvPr/>
          </p:nvSpPr>
          <p:spPr bwMode="auto">
            <a:xfrm flipH="1">
              <a:off x="278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01" name="Line 81"/>
            <p:cNvSpPr>
              <a:spLocks noChangeShapeType="1"/>
            </p:cNvSpPr>
            <p:nvPr/>
          </p:nvSpPr>
          <p:spPr bwMode="auto">
            <a:xfrm>
              <a:off x="3381" y="2490"/>
              <a:ext cx="10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02" name="Text Box 82"/>
            <p:cNvSpPr txBox="1">
              <a:spLocks noChangeArrowheads="1"/>
            </p:cNvSpPr>
            <p:nvPr/>
          </p:nvSpPr>
          <p:spPr bwMode="auto">
            <a:xfrm>
              <a:off x="3621" y="195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03" name="Text Box 83"/>
            <p:cNvSpPr txBox="1">
              <a:spLocks noChangeArrowheads="1"/>
            </p:cNvSpPr>
            <p:nvPr/>
          </p:nvSpPr>
          <p:spPr bwMode="auto">
            <a:xfrm>
              <a:off x="3621" y="24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04" name="Text Box 84"/>
            <p:cNvSpPr txBox="1">
              <a:spLocks noChangeArrowheads="1"/>
            </p:cNvSpPr>
            <p:nvPr/>
          </p:nvSpPr>
          <p:spPr bwMode="auto">
            <a:xfrm>
              <a:off x="2661" y="24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805" name="Text Box 85"/>
            <p:cNvSpPr txBox="1">
              <a:spLocks noChangeArrowheads="1"/>
            </p:cNvSpPr>
            <p:nvPr/>
          </p:nvSpPr>
          <p:spPr bwMode="auto">
            <a:xfrm>
              <a:off x="3381" y="33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806" name="Text Box 86"/>
            <p:cNvSpPr txBox="1">
              <a:spLocks noChangeArrowheads="1"/>
            </p:cNvSpPr>
            <p:nvPr/>
          </p:nvSpPr>
          <p:spPr bwMode="auto">
            <a:xfrm>
              <a:off x="4581" y="33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807" name="Text Box 87"/>
            <p:cNvSpPr txBox="1">
              <a:spLocks noChangeArrowheads="1"/>
            </p:cNvSpPr>
            <p:nvPr/>
          </p:nvSpPr>
          <p:spPr bwMode="auto">
            <a:xfrm>
              <a:off x="3501" y="285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08" name="Text Box 88"/>
            <p:cNvSpPr txBox="1">
              <a:spLocks noChangeArrowheads="1"/>
            </p:cNvSpPr>
            <p:nvPr/>
          </p:nvSpPr>
          <p:spPr bwMode="auto">
            <a:xfrm>
              <a:off x="2421" y="33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+2</a:t>
              </a:r>
              <a:endParaRPr lang="es-ES" altLang="es-AR" sz="1400" b="1"/>
            </a:p>
          </p:txBody>
        </p:sp>
        <p:sp>
          <p:nvSpPr>
            <p:cNvPr id="286809" name="Text Box 89"/>
            <p:cNvSpPr txBox="1">
              <a:spLocks noChangeArrowheads="1"/>
            </p:cNvSpPr>
            <p:nvPr/>
          </p:nvSpPr>
          <p:spPr bwMode="auto">
            <a:xfrm>
              <a:off x="4461" y="24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810" name="Text Box 90"/>
            <p:cNvSpPr txBox="1">
              <a:spLocks noChangeArrowheads="1"/>
            </p:cNvSpPr>
            <p:nvPr/>
          </p:nvSpPr>
          <p:spPr bwMode="auto">
            <a:xfrm>
              <a:off x="4221" y="411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11" name="Text Box 91"/>
            <p:cNvSpPr txBox="1">
              <a:spLocks noChangeArrowheads="1"/>
            </p:cNvSpPr>
            <p:nvPr/>
          </p:nvSpPr>
          <p:spPr bwMode="auto">
            <a:xfrm>
              <a:off x="3021" y="411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812" name="Text Box 92"/>
            <p:cNvSpPr txBox="1">
              <a:spLocks noChangeArrowheads="1"/>
            </p:cNvSpPr>
            <p:nvPr/>
          </p:nvSpPr>
          <p:spPr bwMode="auto">
            <a:xfrm>
              <a:off x="3981" y="357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-2</a:t>
              </a:r>
              <a:endParaRPr lang="es-ES" altLang="es-AR" sz="1400" b="1"/>
            </a:p>
          </p:txBody>
        </p:sp>
        <p:sp>
          <p:nvSpPr>
            <p:cNvPr id="286813" name="Oval 93"/>
            <p:cNvSpPr>
              <a:spLocks noChangeArrowheads="1"/>
            </p:cNvSpPr>
            <p:nvPr/>
          </p:nvSpPr>
          <p:spPr bwMode="auto">
            <a:xfrm>
              <a:off x="6261" y="39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814" name="Oval 94"/>
            <p:cNvSpPr>
              <a:spLocks noChangeArrowheads="1"/>
            </p:cNvSpPr>
            <p:nvPr/>
          </p:nvSpPr>
          <p:spPr bwMode="auto">
            <a:xfrm>
              <a:off x="6861" y="30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815" name="Oval 95"/>
            <p:cNvSpPr>
              <a:spLocks noChangeArrowheads="1"/>
            </p:cNvSpPr>
            <p:nvPr/>
          </p:nvSpPr>
          <p:spPr bwMode="auto">
            <a:xfrm>
              <a:off x="6861" y="2130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816" name="Oval 96"/>
            <p:cNvSpPr>
              <a:spLocks noChangeArrowheads="1"/>
            </p:cNvSpPr>
            <p:nvPr/>
          </p:nvSpPr>
          <p:spPr bwMode="auto">
            <a:xfrm>
              <a:off x="8061" y="21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817" name="Oval 97"/>
            <p:cNvSpPr>
              <a:spLocks noChangeArrowheads="1"/>
            </p:cNvSpPr>
            <p:nvPr/>
          </p:nvSpPr>
          <p:spPr bwMode="auto">
            <a:xfrm>
              <a:off x="8061" y="30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818" name="Oval 98"/>
            <p:cNvSpPr>
              <a:spLocks noChangeArrowheads="1"/>
            </p:cNvSpPr>
            <p:nvPr/>
          </p:nvSpPr>
          <p:spPr bwMode="auto">
            <a:xfrm>
              <a:off x="8661" y="3930"/>
              <a:ext cx="360" cy="36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86819" name="Oval 99"/>
            <p:cNvSpPr>
              <a:spLocks noChangeArrowheads="1"/>
            </p:cNvSpPr>
            <p:nvPr/>
          </p:nvSpPr>
          <p:spPr bwMode="auto">
            <a:xfrm>
              <a:off x="7461" y="3930"/>
              <a:ext cx="360" cy="36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0" name="Line 100"/>
            <p:cNvSpPr>
              <a:spLocks noChangeShapeType="1"/>
            </p:cNvSpPr>
            <p:nvPr/>
          </p:nvSpPr>
          <p:spPr bwMode="auto">
            <a:xfrm>
              <a:off x="6981" y="2490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1" name="Line 101"/>
            <p:cNvSpPr>
              <a:spLocks noChangeShapeType="1"/>
            </p:cNvSpPr>
            <p:nvPr/>
          </p:nvSpPr>
          <p:spPr bwMode="auto">
            <a:xfrm>
              <a:off x="8301" y="2490"/>
              <a:ext cx="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2" name="Line 102"/>
            <p:cNvSpPr>
              <a:spLocks noChangeShapeType="1"/>
            </p:cNvSpPr>
            <p:nvPr/>
          </p:nvSpPr>
          <p:spPr bwMode="auto">
            <a:xfrm>
              <a:off x="7221" y="23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3" name="Line 103"/>
            <p:cNvSpPr>
              <a:spLocks noChangeShapeType="1"/>
            </p:cNvSpPr>
            <p:nvPr/>
          </p:nvSpPr>
          <p:spPr bwMode="auto">
            <a:xfrm>
              <a:off x="7821" y="41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4" name="Line 104"/>
            <p:cNvSpPr>
              <a:spLocks noChangeShapeType="1"/>
            </p:cNvSpPr>
            <p:nvPr/>
          </p:nvSpPr>
          <p:spPr bwMode="auto">
            <a:xfrm>
              <a:off x="6621" y="41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5" name="Line 105"/>
            <p:cNvSpPr>
              <a:spLocks noChangeShapeType="1"/>
            </p:cNvSpPr>
            <p:nvPr/>
          </p:nvSpPr>
          <p:spPr bwMode="auto">
            <a:xfrm>
              <a:off x="7221" y="3210"/>
              <a:ext cx="84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6" name="Line 106"/>
            <p:cNvSpPr>
              <a:spLocks noChangeShapeType="1"/>
            </p:cNvSpPr>
            <p:nvPr/>
          </p:nvSpPr>
          <p:spPr bwMode="auto">
            <a:xfrm>
              <a:off x="830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7" name="Line 107"/>
            <p:cNvSpPr>
              <a:spLocks noChangeShapeType="1"/>
            </p:cNvSpPr>
            <p:nvPr/>
          </p:nvSpPr>
          <p:spPr bwMode="auto">
            <a:xfrm>
              <a:off x="710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8" name="Line 108"/>
            <p:cNvSpPr>
              <a:spLocks noChangeShapeType="1"/>
            </p:cNvSpPr>
            <p:nvPr/>
          </p:nvSpPr>
          <p:spPr bwMode="auto">
            <a:xfrm flipH="1">
              <a:off x="770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29" name="Line 109"/>
            <p:cNvSpPr>
              <a:spLocks noChangeShapeType="1"/>
            </p:cNvSpPr>
            <p:nvPr/>
          </p:nvSpPr>
          <p:spPr bwMode="auto">
            <a:xfrm flipH="1">
              <a:off x="6501" y="3390"/>
              <a:ext cx="4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30" name="Line 110"/>
            <p:cNvSpPr>
              <a:spLocks noChangeShapeType="1"/>
            </p:cNvSpPr>
            <p:nvPr/>
          </p:nvSpPr>
          <p:spPr bwMode="auto">
            <a:xfrm>
              <a:off x="7101" y="2490"/>
              <a:ext cx="1080" cy="54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6831" name="Text Box 111"/>
            <p:cNvSpPr txBox="1">
              <a:spLocks noChangeArrowheads="1"/>
            </p:cNvSpPr>
            <p:nvPr/>
          </p:nvSpPr>
          <p:spPr bwMode="auto">
            <a:xfrm>
              <a:off x="7341" y="195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32" name="Text Box 112"/>
            <p:cNvSpPr txBox="1">
              <a:spLocks noChangeArrowheads="1"/>
            </p:cNvSpPr>
            <p:nvPr/>
          </p:nvSpPr>
          <p:spPr bwMode="auto">
            <a:xfrm>
              <a:off x="7341" y="24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33" name="Text Box 113"/>
            <p:cNvSpPr txBox="1">
              <a:spLocks noChangeArrowheads="1"/>
            </p:cNvSpPr>
            <p:nvPr/>
          </p:nvSpPr>
          <p:spPr bwMode="auto">
            <a:xfrm>
              <a:off x="6381" y="24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834" name="Text Box 114"/>
            <p:cNvSpPr txBox="1">
              <a:spLocks noChangeArrowheads="1"/>
            </p:cNvSpPr>
            <p:nvPr/>
          </p:nvSpPr>
          <p:spPr bwMode="auto">
            <a:xfrm>
              <a:off x="7101" y="33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835" name="Text Box 115"/>
            <p:cNvSpPr txBox="1">
              <a:spLocks noChangeArrowheads="1"/>
            </p:cNvSpPr>
            <p:nvPr/>
          </p:nvSpPr>
          <p:spPr bwMode="auto">
            <a:xfrm>
              <a:off x="8301" y="33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836" name="Text Box 116"/>
            <p:cNvSpPr txBox="1">
              <a:spLocks noChangeArrowheads="1"/>
            </p:cNvSpPr>
            <p:nvPr/>
          </p:nvSpPr>
          <p:spPr bwMode="auto">
            <a:xfrm>
              <a:off x="7221" y="285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37" name="Text Box 117"/>
            <p:cNvSpPr txBox="1">
              <a:spLocks noChangeArrowheads="1"/>
            </p:cNvSpPr>
            <p:nvPr/>
          </p:nvSpPr>
          <p:spPr bwMode="auto">
            <a:xfrm>
              <a:off x="6141" y="33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+2</a:t>
              </a:r>
              <a:endParaRPr lang="es-ES" altLang="es-AR" sz="1400" b="1"/>
            </a:p>
          </p:txBody>
        </p:sp>
        <p:sp>
          <p:nvSpPr>
            <p:cNvPr id="286838" name="Text Box 118"/>
            <p:cNvSpPr txBox="1">
              <a:spLocks noChangeArrowheads="1"/>
            </p:cNvSpPr>
            <p:nvPr/>
          </p:nvSpPr>
          <p:spPr bwMode="auto">
            <a:xfrm>
              <a:off x="8181" y="249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+3</a:t>
              </a:r>
              <a:endParaRPr lang="es-ES" altLang="es-AR" sz="1400" b="1"/>
            </a:p>
          </p:txBody>
        </p:sp>
        <p:sp>
          <p:nvSpPr>
            <p:cNvPr id="286839" name="Text Box 119"/>
            <p:cNvSpPr txBox="1">
              <a:spLocks noChangeArrowheads="1"/>
            </p:cNvSpPr>
            <p:nvPr/>
          </p:nvSpPr>
          <p:spPr bwMode="auto">
            <a:xfrm>
              <a:off x="7941" y="411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-1</a:t>
              </a:r>
              <a:endParaRPr lang="es-ES" altLang="es-AR" sz="1400" b="1"/>
            </a:p>
          </p:txBody>
        </p:sp>
        <p:sp>
          <p:nvSpPr>
            <p:cNvPr id="286840" name="Text Box 120"/>
            <p:cNvSpPr txBox="1">
              <a:spLocks noChangeArrowheads="1"/>
            </p:cNvSpPr>
            <p:nvPr/>
          </p:nvSpPr>
          <p:spPr bwMode="auto">
            <a:xfrm>
              <a:off x="6741" y="411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+1</a:t>
              </a:r>
              <a:endParaRPr lang="es-ES" altLang="es-AR" sz="1400" b="1"/>
            </a:p>
          </p:txBody>
        </p:sp>
        <p:sp>
          <p:nvSpPr>
            <p:cNvPr id="286841" name="Text Box 121"/>
            <p:cNvSpPr txBox="1">
              <a:spLocks noChangeArrowheads="1"/>
            </p:cNvSpPr>
            <p:nvPr/>
          </p:nvSpPr>
          <p:spPr bwMode="auto">
            <a:xfrm>
              <a:off x="7701" y="3570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es-ES_tradnl" altLang="zh-CN" sz="1400" b="1">
                  <a:ea typeface="SimSun" pitchFamily="2" charset="-122"/>
                </a:rPr>
                <a:t>-2</a:t>
              </a:r>
              <a:endParaRPr lang="es-ES" altLang="es-AR" sz="14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922337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Máquinas de </a:t>
            </a:r>
            <a:r>
              <a:rPr lang="es-ES_tradnl" altLang="es-AR" sz="3200" dirty="0" err="1">
                <a:solidFill>
                  <a:schemeClr val="tx1"/>
                </a:solidFill>
              </a:rPr>
              <a:t>Boltzmann</a:t>
            </a:r>
            <a:endParaRPr lang="es-ES" altLang="es-AR" sz="3200" dirty="0">
              <a:solidFill>
                <a:schemeClr val="tx1"/>
              </a:solidFill>
            </a:endParaRPr>
          </a:p>
        </p:txBody>
      </p:sp>
      <p:sp>
        <p:nvSpPr>
          <p:cNvPr id="290819" name="Rectangle 3"/>
          <p:cNvSpPr>
            <a:spLocks noChangeArrowheads="1"/>
          </p:cNvSpPr>
          <p:nvPr/>
        </p:nvSpPr>
        <p:spPr bwMode="auto">
          <a:xfrm>
            <a:off x="323850" y="5877074"/>
            <a:ext cx="8496300" cy="5762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>
                <a:solidFill>
                  <a:srgbClr val="FF0000"/>
                </a:solidFill>
                <a:effectLst/>
              </a:rPr>
              <a:t>Son una variación de una red de Hopfield</a:t>
            </a:r>
            <a:endParaRPr lang="es-ES" altLang="es-AR">
              <a:solidFill>
                <a:srgbClr val="FF0000"/>
              </a:solidFill>
              <a:effectLst/>
            </a:endParaRPr>
          </a:p>
        </p:txBody>
      </p:sp>
      <p:sp>
        <p:nvSpPr>
          <p:cNvPr id="291000" name="Rectangle 184"/>
          <p:cNvSpPr>
            <a:spLocks noChangeArrowheads="1"/>
          </p:cNvSpPr>
          <p:nvPr/>
        </p:nvSpPr>
        <p:spPr bwMode="auto">
          <a:xfrm>
            <a:off x="3924300" y="1990056"/>
            <a:ext cx="4032250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Memoria direccionable por contenido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91001" name="Rectangle 185"/>
          <p:cNvSpPr>
            <a:spLocks noChangeArrowheads="1"/>
          </p:cNvSpPr>
          <p:nvPr/>
        </p:nvSpPr>
        <p:spPr bwMode="auto">
          <a:xfrm>
            <a:off x="3924300" y="4293295"/>
            <a:ext cx="4105275" cy="7921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Problemas de </a:t>
            </a:r>
            <a:r>
              <a:rPr lang="es-ES_tradnl" altLang="es-AR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Verificación</a:t>
            </a:r>
          </a:p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 Restricciones</a:t>
            </a:r>
            <a:endParaRPr lang="es-ES" altLang="es-AR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1002" name="Rectangle 186"/>
          <p:cNvSpPr>
            <a:spLocks noChangeArrowheads="1"/>
          </p:cNvSpPr>
          <p:nvPr/>
        </p:nvSpPr>
        <p:spPr bwMode="auto">
          <a:xfrm>
            <a:off x="1187450" y="3429695"/>
            <a:ext cx="2232025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Máquina de </a:t>
            </a:r>
            <a:r>
              <a:rPr lang="es-ES_tradnl" altLang="es-AR" sz="2000" dirty="0" err="1" smtClean="0">
                <a:solidFill>
                  <a:schemeClr val="tx1"/>
                </a:solidFill>
              </a:rPr>
              <a:t>Boltzmann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91003" name="Rectangle 187"/>
          <p:cNvSpPr>
            <a:spLocks noChangeArrowheads="1"/>
          </p:cNvSpPr>
          <p:nvPr/>
        </p:nvSpPr>
        <p:spPr bwMode="auto">
          <a:xfrm>
            <a:off x="1116013" y="1340768"/>
            <a:ext cx="2303462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Red de Hopfield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91004" name="AutoShape 188"/>
          <p:cNvSpPr>
            <a:spLocks noChangeArrowheads="1"/>
          </p:cNvSpPr>
          <p:nvPr/>
        </p:nvSpPr>
        <p:spPr bwMode="auto">
          <a:xfrm flipV="1">
            <a:off x="3059113" y="1990056"/>
            <a:ext cx="503237" cy="503237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291005" name="AutoShape 189"/>
          <p:cNvSpPr>
            <a:spLocks noChangeArrowheads="1"/>
          </p:cNvSpPr>
          <p:nvPr/>
        </p:nvSpPr>
        <p:spPr bwMode="auto">
          <a:xfrm flipV="1">
            <a:off x="3132138" y="4223445"/>
            <a:ext cx="503237" cy="503237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291007" name="Rectangle 191"/>
          <p:cNvSpPr>
            <a:spLocks noChangeArrowheads="1"/>
          </p:cNvSpPr>
          <p:nvPr/>
        </p:nvSpPr>
        <p:spPr bwMode="auto">
          <a:xfrm>
            <a:off x="3997325" y="2709194"/>
            <a:ext cx="3887788" cy="108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800" u="sng" dirty="0" smtClean="0">
                <a:solidFill>
                  <a:srgbClr val="FF0000"/>
                </a:solidFill>
              </a:rPr>
              <a:t>Principal problema</a:t>
            </a:r>
          </a:p>
          <a:p>
            <a:pPr algn="ctr">
              <a:buFontTx/>
              <a:buNone/>
            </a:pPr>
            <a:r>
              <a:rPr lang="es-ES_tradnl" altLang="es-AR" sz="1800" dirty="0" smtClean="0">
                <a:solidFill>
                  <a:srgbClr val="FF0000"/>
                </a:solidFill>
              </a:rPr>
              <a:t>Convergen </a:t>
            </a:r>
            <a:r>
              <a:rPr lang="es-ES_tradnl" altLang="es-AR" sz="1800" dirty="0">
                <a:solidFill>
                  <a:srgbClr val="FF0000"/>
                </a:solidFill>
              </a:rPr>
              <a:t>a mínimos </a:t>
            </a:r>
            <a:r>
              <a:rPr lang="es-ES_tradnl" altLang="es-AR" sz="1800" dirty="0" smtClean="0">
                <a:solidFill>
                  <a:srgbClr val="FF0000"/>
                </a:solidFill>
              </a:rPr>
              <a:t>locales (estado estable mas cercano)</a:t>
            </a:r>
            <a:endParaRPr lang="es-ES" altLang="es-AR" sz="1800" dirty="0">
              <a:solidFill>
                <a:srgbClr val="FF0000"/>
              </a:solidFill>
            </a:endParaRPr>
          </a:p>
        </p:txBody>
      </p:sp>
      <p:sp>
        <p:nvSpPr>
          <p:cNvPr id="291008" name="Rectangle 192"/>
          <p:cNvSpPr>
            <a:spLocks noChangeArrowheads="1"/>
          </p:cNvSpPr>
          <p:nvPr/>
        </p:nvSpPr>
        <p:spPr bwMode="auto">
          <a:xfrm>
            <a:off x="4067175" y="5085457"/>
            <a:ext cx="3887788" cy="648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800" dirty="0" smtClean="0">
                <a:solidFill>
                  <a:srgbClr val="FF0000"/>
                </a:solidFill>
              </a:rPr>
              <a:t>Es necesario encontrar el estado globalmente óptimo de la red</a:t>
            </a:r>
            <a:endParaRPr lang="es-ES" altLang="es-AR" sz="1800" dirty="0">
              <a:solidFill>
                <a:srgbClr val="FF0000"/>
              </a:solidFill>
            </a:endParaRPr>
          </a:p>
        </p:txBody>
      </p:sp>
      <p:sp>
        <p:nvSpPr>
          <p:cNvPr id="291009" name="Rectangle 193"/>
          <p:cNvSpPr>
            <a:spLocks noChangeArrowheads="1"/>
          </p:cNvSpPr>
          <p:nvPr/>
        </p:nvSpPr>
        <p:spPr bwMode="auto">
          <a:xfrm>
            <a:off x="5292725" y="547911"/>
            <a:ext cx="38512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(</a:t>
            </a:r>
            <a:r>
              <a:rPr lang="es-ES_tradnl" altLang="es-AR" sz="2000" dirty="0" err="1">
                <a:solidFill>
                  <a:schemeClr val="tx1"/>
                </a:solidFill>
              </a:rPr>
              <a:t>Hinton</a:t>
            </a:r>
            <a:r>
              <a:rPr lang="es-ES_tradnl" altLang="es-AR" sz="2000" dirty="0">
                <a:solidFill>
                  <a:schemeClr val="tx1"/>
                </a:solidFill>
              </a:rPr>
              <a:t> y </a:t>
            </a:r>
            <a:r>
              <a:rPr lang="es-ES_tradnl" altLang="es-AR" sz="2000" dirty="0" err="1">
                <a:solidFill>
                  <a:schemeClr val="tx1"/>
                </a:solidFill>
              </a:rPr>
              <a:t>Sejnowsky</a:t>
            </a:r>
            <a:r>
              <a:rPr lang="es-ES_tradnl" altLang="es-AR" sz="2000" dirty="0">
                <a:solidFill>
                  <a:schemeClr val="tx1"/>
                </a:solidFill>
              </a:rPr>
              <a:t> - 1986 )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Enfriamiento simulado: </a:t>
            </a:r>
            <a:r>
              <a:rPr lang="es-ES_tradnl" altLang="es-AR" sz="2400" dirty="0">
                <a:solidFill>
                  <a:schemeClr val="tx1"/>
                </a:solidFill>
              </a:rPr>
              <a:t>Técnica de búsqueda</a:t>
            </a:r>
            <a:endParaRPr lang="es-ES" altLang="es-AR" sz="2400" dirty="0">
              <a:solidFill>
                <a:schemeClr val="tx1"/>
              </a:solidFill>
            </a:endParaRPr>
          </a:p>
        </p:txBody>
      </p:sp>
      <p:sp>
        <p:nvSpPr>
          <p:cNvPr id="287747" name="Rectangle 3"/>
          <p:cNvSpPr>
            <a:spLocks noChangeArrowheads="1"/>
          </p:cNvSpPr>
          <p:nvPr/>
        </p:nvSpPr>
        <p:spPr bwMode="auto">
          <a:xfrm>
            <a:off x="323850" y="6264608"/>
            <a:ext cx="8496300" cy="5031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dirty="0">
                <a:solidFill>
                  <a:srgbClr val="FF0000"/>
                </a:solidFill>
                <a:effectLst/>
              </a:rPr>
              <a:t>Encuentra soluciones </a:t>
            </a:r>
            <a:r>
              <a:rPr lang="es-ES_tradnl" altLang="es-AR" dirty="0" smtClean="0">
                <a:solidFill>
                  <a:srgbClr val="FF0000"/>
                </a:solidFill>
                <a:effectLst/>
              </a:rPr>
              <a:t>globalmente óptimas</a:t>
            </a:r>
            <a:endParaRPr lang="es-ES" altLang="es-AR" dirty="0">
              <a:solidFill>
                <a:srgbClr val="FF0000"/>
              </a:solidFill>
              <a:effectLst/>
            </a:endParaRPr>
          </a:p>
        </p:txBody>
      </p:sp>
      <p:pic>
        <p:nvPicPr>
          <p:cNvPr id="287748" name="Picture 4" descr="Figura%205-1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052165"/>
            <a:ext cx="4608513" cy="2817813"/>
          </a:xfrm>
          <a:noFill/>
          <a:ln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750" name="Rectangle 6"/>
          <p:cNvSpPr>
            <a:spLocks noChangeArrowheads="1"/>
          </p:cNvSpPr>
          <p:nvPr/>
        </p:nvSpPr>
        <p:spPr bwMode="auto">
          <a:xfrm>
            <a:off x="6084888" y="3284190"/>
            <a:ext cx="2232025" cy="7207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Máquina de Boltzmann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87751" name="Rectangle 7"/>
          <p:cNvSpPr>
            <a:spLocks noChangeArrowheads="1"/>
          </p:cNvSpPr>
          <p:nvPr/>
        </p:nvSpPr>
        <p:spPr bwMode="auto">
          <a:xfrm>
            <a:off x="6013450" y="980728"/>
            <a:ext cx="2303463" cy="5048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 dirty="0">
                <a:solidFill>
                  <a:schemeClr val="tx1"/>
                </a:solidFill>
              </a:rPr>
              <a:t>Red de </a:t>
            </a:r>
            <a:r>
              <a:rPr lang="es-ES_tradnl" altLang="es-AR" sz="2000" dirty="0" err="1">
                <a:solidFill>
                  <a:schemeClr val="tx1"/>
                </a:solidFill>
              </a:rPr>
              <a:t>Hopfield</a:t>
            </a:r>
            <a:endParaRPr lang="es-ES" altLang="es-AR" sz="2000" dirty="0">
              <a:solidFill>
                <a:schemeClr val="tx1"/>
              </a:solidFill>
            </a:endParaRPr>
          </a:p>
        </p:txBody>
      </p:sp>
      <p:sp>
        <p:nvSpPr>
          <p:cNvPr id="287752" name="Rectangle 8"/>
          <p:cNvSpPr>
            <a:spLocks noChangeArrowheads="1"/>
          </p:cNvSpPr>
          <p:nvPr/>
        </p:nvSpPr>
        <p:spPr bwMode="auto">
          <a:xfrm>
            <a:off x="6084888" y="1483965"/>
            <a:ext cx="22320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algn="ctr"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r>
              <a:rPr lang="es-ES_tradnl" altLang="es-AR" sz="4400">
                <a:solidFill>
                  <a:srgbClr val="FF0000"/>
                </a:solidFill>
              </a:rPr>
              <a:t>+</a:t>
            </a:r>
            <a:endParaRPr lang="es-ES" altLang="es-AR" sz="4400">
              <a:solidFill>
                <a:srgbClr val="FF0000"/>
              </a:solidFill>
            </a:endParaRPr>
          </a:p>
        </p:txBody>
      </p:sp>
      <p:sp>
        <p:nvSpPr>
          <p:cNvPr id="287753" name="Rectangle 9"/>
          <p:cNvSpPr>
            <a:spLocks noChangeArrowheads="1"/>
          </p:cNvSpPr>
          <p:nvPr/>
        </p:nvSpPr>
        <p:spPr bwMode="auto">
          <a:xfrm>
            <a:off x="6011863" y="2996853"/>
            <a:ext cx="2376487" cy="7143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287754" name="Rectangle 10"/>
          <p:cNvSpPr>
            <a:spLocks noChangeArrowheads="1"/>
          </p:cNvSpPr>
          <p:nvPr/>
        </p:nvSpPr>
        <p:spPr bwMode="auto">
          <a:xfrm>
            <a:off x="6011863" y="2060228"/>
            <a:ext cx="2303462" cy="7191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Enfriamiento simulado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11" name="Rectangle 41"/>
          <p:cNvSpPr>
            <a:spLocks noChangeArrowheads="1"/>
          </p:cNvSpPr>
          <p:nvPr/>
        </p:nvSpPr>
        <p:spPr bwMode="auto">
          <a:xfrm>
            <a:off x="395288" y="4149080"/>
            <a:ext cx="8424862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marL="285750" indent="-285750" algn="just"/>
            <a:r>
              <a:rPr lang="es-ES_tradnl" altLang="es-AR" sz="1800" dirty="0">
                <a:solidFill>
                  <a:schemeClr val="tx1"/>
                </a:solidFill>
              </a:rPr>
              <a:t>El enfriamiento es el proceso de ir gradualmente de altas a bajas 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temperaturas</a:t>
            </a:r>
            <a:endParaRPr lang="es-ES_tradnl" altLang="es-AR" sz="1800" dirty="0">
              <a:solidFill>
                <a:schemeClr val="tx1"/>
              </a:solidFill>
            </a:endParaRPr>
          </a:p>
          <a:p>
            <a:pPr marL="285750" indent="-285750" algn="just"/>
            <a:r>
              <a:rPr lang="es-ES_tradnl" altLang="es-AR" sz="1800" dirty="0">
                <a:solidFill>
                  <a:schemeClr val="tx1"/>
                </a:solidFill>
              </a:rPr>
              <a:t>A altas temperaturas las unidades presentan un comportamiento aleatorio, mientras que a temperaturas 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bajas </a:t>
            </a:r>
            <a:r>
              <a:rPr lang="es-ES_tradnl" altLang="es-AR" sz="1800" dirty="0">
                <a:solidFill>
                  <a:schemeClr val="tx1"/>
                </a:solidFill>
              </a:rPr>
              <a:t>las </a:t>
            </a:r>
            <a:r>
              <a:rPr lang="es-ES_tradnl" altLang="es-AR" sz="1800" dirty="0" smtClean="0">
                <a:solidFill>
                  <a:schemeClr val="tx1"/>
                </a:solidFill>
              </a:rPr>
              <a:t>unidades </a:t>
            </a:r>
            <a:r>
              <a:rPr lang="es-ES_tradnl" altLang="es-AR" sz="1800" dirty="0">
                <a:solidFill>
                  <a:schemeClr val="tx1"/>
                </a:solidFill>
              </a:rPr>
              <a:t>se comportan como redes de </a:t>
            </a:r>
            <a:r>
              <a:rPr lang="es-ES_tradnl" altLang="es-AR" sz="1800" dirty="0" err="1" smtClean="0">
                <a:solidFill>
                  <a:schemeClr val="tx1"/>
                </a:solidFill>
              </a:rPr>
              <a:t>Hopfield</a:t>
            </a:r>
            <a:endParaRPr lang="es-ES_tradnl" altLang="es-AR" sz="1800" dirty="0" smtClean="0">
              <a:solidFill>
                <a:schemeClr val="tx1"/>
              </a:solidFill>
            </a:endParaRPr>
          </a:p>
          <a:p>
            <a:pPr marL="285750" indent="-285750" algn="just"/>
            <a:r>
              <a:rPr lang="es-ES_tradnl" altLang="es-AR" sz="1800" dirty="0" smtClean="0">
                <a:solidFill>
                  <a:schemeClr val="tx1"/>
                </a:solidFill>
              </a:rPr>
              <a:t>La aleatoriedad que añade la temperatura ayuda a la red a escapar de los mínimos locales</a:t>
            </a:r>
            <a:endParaRPr lang="es-ES_tradnl" altLang="es-AR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4624"/>
            <a:ext cx="8229600" cy="778098"/>
          </a:xfrm>
        </p:spPr>
        <p:txBody>
          <a:bodyPr/>
          <a:lstStyle/>
          <a:p>
            <a:pPr algn="l"/>
            <a:r>
              <a:rPr lang="es-ES_tradnl" altLang="es-AR" sz="3200" dirty="0">
                <a:solidFill>
                  <a:schemeClr val="tx1"/>
                </a:solidFill>
              </a:rPr>
              <a:t>Redes Recurrentes</a:t>
            </a:r>
            <a:endParaRPr lang="es-ES" altLang="es-AR" sz="2800" dirty="0">
              <a:solidFill>
                <a:schemeClr val="tx1"/>
              </a:solidFill>
            </a:endParaRPr>
          </a:p>
        </p:txBody>
      </p:sp>
      <p:sp>
        <p:nvSpPr>
          <p:cNvPr id="288771" name="Rectangle 3"/>
          <p:cNvSpPr>
            <a:spLocks noChangeArrowheads="1"/>
          </p:cNvSpPr>
          <p:nvPr/>
        </p:nvSpPr>
        <p:spPr bwMode="auto">
          <a:xfrm>
            <a:off x="323850" y="5949280"/>
            <a:ext cx="8496300" cy="79208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392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2200" dirty="0">
                <a:solidFill>
                  <a:srgbClr val="FF0000"/>
                </a:solidFill>
                <a:effectLst/>
              </a:rPr>
              <a:t>La red nunca converge hacia un estado estable</a:t>
            </a:r>
          </a:p>
          <a:p>
            <a:pPr algn="ctr">
              <a:buFontTx/>
              <a:buNone/>
            </a:pPr>
            <a:r>
              <a:rPr lang="es-ES_tradnl" altLang="es-AR" sz="2200" dirty="0">
                <a:solidFill>
                  <a:srgbClr val="FF0000"/>
                </a:solidFill>
                <a:effectLst/>
              </a:rPr>
              <a:t>Cambia en cada paso de tiempo</a:t>
            </a:r>
            <a:endParaRPr lang="es-ES" altLang="es-AR" sz="2200" dirty="0">
              <a:solidFill>
                <a:srgbClr val="FF0000"/>
              </a:solidFill>
              <a:effectLst/>
            </a:endParaRPr>
          </a:p>
        </p:txBody>
      </p:sp>
      <p:pic>
        <p:nvPicPr>
          <p:cNvPr id="288772" name="Picture 4" descr="Figura%205-nn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4922" y="1054200"/>
            <a:ext cx="4679950" cy="4065587"/>
          </a:xfrm>
          <a:noFill/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8774" name="Rectangle 6"/>
          <p:cNvSpPr>
            <a:spLocks noChangeArrowheads="1"/>
          </p:cNvSpPr>
          <p:nvPr/>
        </p:nvSpPr>
        <p:spPr bwMode="auto">
          <a:xfrm>
            <a:off x="4355009" y="836712"/>
            <a:ext cx="2016125" cy="4333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>
              <a:buFontTx/>
              <a:buNone/>
            </a:pPr>
            <a:r>
              <a:rPr lang="es-ES_tradnl" altLang="es-AR" sz="2000">
                <a:solidFill>
                  <a:schemeClr val="tx1"/>
                </a:solidFill>
              </a:rPr>
              <a:t>Red de Jordan</a:t>
            </a:r>
            <a:endParaRPr lang="es-ES" altLang="es-AR" sz="2000">
              <a:solidFill>
                <a:schemeClr val="tx1"/>
              </a:solidFill>
            </a:endParaRPr>
          </a:p>
        </p:txBody>
      </p:sp>
      <p:sp>
        <p:nvSpPr>
          <p:cNvPr id="288775" name="Rectangle 7"/>
          <p:cNvSpPr>
            <a:spLocks noChangeArrowheads="1"/>
          </p:cNvSpPr>
          <p:nvPr/>
        </p:nvSpPr>
        <p:spPr bwMode="auto">
          <a:xfrm>
            <a:off x="899022" y="4005362"/>
            <a:ext cx="1366837" cy="503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400">
                <a:solidFill>
                  <a:schemeClr val="tx1"/>
                </a:solidFill>
              </a:rPr>
              <a:t>Unidades de planificación</a:t>
            </a:r>
            <a:endParaRPr lang="es-ES" altLang="es-AR" sz="1400">
              <a:solidFill>
                <a:schemeClr val="tx1"/>
              </a:solidFill>
            </a:endParaRPr>
          </a:p>
        </p:txBody>
      </p:sp>
      <p:sp>
        <p:nvSpPr>
          <p:cNvPr id="288776" name="Rectangle 8"/>
          <p:cNvSpPr>
            <a:spLocks noChangeArrowheads="1"/>
          </p:cNvSpPr>
          <p:nvPr/>
        </p:nvSpPr>
        <p:spPr bwMode="auto">
          <a:xfrm>
            <a:off x="827584" y="2421037"/>
            <a:ext cx="1222375" cy="503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400">
                <a:solidFill>
                  <a:schemeClr val="tx1"/>
                </a:solidFill>
              </a:rPr>
              <a:t>Unidades de estado</a:t>
            </a:r>
            <a:endParaRPr lang="es-ES" altLang="es-AR" sz="1400">
              <a:solidFill>
                <a:schemeClr val="tx1"/>
              </a:solidFill>
            </a:endParaRPr>
          </a:p>
        </p:txBody>
      </p:sp>
      <p:sp>
        <p:nvSpPr>
          <p:cNvPr id="288777" name="Rectangle 9"/>
          <p:cNvSpPr>
            <a:spLocks noChangeArrowheads="1"/>
          </p:cNvSpPr>
          <p:nvPr/>
        </p:nvSpPr>
        <p:spPr bwMode="auto">
          <a:xfrm>
            <a:off x="4570909" y="4078387"/>
            <a:ext cx="1152525" cy="503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400">
                <a:solidFill>
                  <a:schemeClr val="tx1"/>
                </a:solidFill>
              </a:rPr>
              <a:t>Unidades de salida</a:t>
            </a:r>
            <a:endParaRPr lang="es-ES" altLang="es-AR" sz="1400">
              <a:solidFill>
                <a:schemeClr val="tx1"/>
              </a:solidFill>
            </a:endParaRPr>
          </a:p>
        </p:txBody>
      </p:sp>
      <p:sp>
        <p:nvSpPr>
          <p:cNvPr id="288778" name="Rectangle 10"/>
          <p:cNvSpPr>
            <a:spLocks noChangeArrowheads="1"/>
          </p:cNvSpPr>
          <p:nvPr/>
        </p:nvSpPr>
        <p:spPr bwMode="auto">
          <a:xfrm>
            <a:off x="3491409" y="4222850"/>
            <a:ext cx="1152525" cy="5032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990600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627188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263775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2900363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3575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8147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2719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729163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400">
                <a:solidFill>
                  <a:schemeClr val="tx1"/>
                </a:solidFill>
              </a:rPr>
              <a:t>Unidades ocultas</a:t>
            </a:r>
            <a:endParaRPr lang="es-ES" altLang="es-AR" sz="1400">
              <a:solidFill>
                <a:schemeClr val="tx1"/>
              </a:solidFill>
            </a:endParaRPr>
          </a:p>
        </p:txBody>
      </p:sp>
      <p:sp>
        <p:nvSpPr>
          <p:cNvPr id="10" name="Rectangle 185"/>
          <p:cNvSpPr>
            <a:spLocks noChangeArrowheads="1"/>
          </p:cNvSpPr>
          <p:nvPr/>
        </p:nvSpPr>
        <p:spPr bwMode="auto">
          <a:xfrm>
            <a:off x="6084093" y="1449040"/>
            <a:ext cx="2736057" cy="125988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  <a:lvl2pPr marL="1093788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2pPr>
            <a:lvl3pPr marL="1730375" indent="-457200">
              <a:spcBef>
                <a:spcPct val="20000"/>
              </a:spcBef>
              <a:buChar char="•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3pPr>
            <a:lvl4pPr marL="2366963" indent="-457200">
              <a:spcBef>
                <a:spcPct val="20000"/>
              </a:spcBef>
              <a:buChar char="–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4pPr>
            <a:lvl5pPr marL="3003550" indent="-457200">
              <a:spcBef>
                <a:spcPct val="20000"/>
              </a:spcBef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5pPr>
            <a:lvl6pPr marL="34607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6pPr>
            <a:lvl7pPr marL="39179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7pPr>
            <a:lvl8pPr marL="43751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8pPr>
            <a:lvl9pPr marL="4832350" indent="-457200" fontAlgn="base"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rgbClr val="6666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9pPr>
          </a:lstStyle>
          <a:p>
            <a:pPr algn="ctr">
              <a:buFontTx/>
              <a:buNone/>
            </a:pPr>
            <a:r>
              <a:rPr lang="es-ES_tradnl" altLang="es-AR" sz="17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Las unidades de salida simultáneamente dan órdenes y actualizan las unidades de estado  </a:t>
            </a:r>
            <a:endParaRPr lang="es-ES" altLang="es-AR" sz="17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41"/>
          <p:cNvSpPr>
            <a:spLocks noChangeArrowheads="1"/>
          </p:cNvSpPr>
          <p:nvPr/>
        </p:nvSpPr>
        <p:spPr bwMode="auto">
          <a:xfrm>
            <a:off x="6084168" y="2924944"/>
            <a:ext cx="2735982" cy="21602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/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s-ES_tradnl" altLang="es-AR" sz="1600" b="1" dirty="0" smtClean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Algoritmo de propagación hacia atrás</a:t>
            </a:r>
          </a:p>
          <a:p>
            <a:pPr algn="ctr">
              <a:spcBef>
                <a:spcPct val="20000"/>
              </a:spcBef>
            </a:pPr>
            <a:r>
              <a:rPr lang="es-ES_tradnl" altLang="es-AR" sz="1600" dirty="0" smtClean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 </a:t>
            </a:r>
            <a:r>
              <a:rPr lang="es-ES_tradnl" altLang="es-AR" sz="16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paso se comparan las activaciones de las unidades de salida con las activaciones deseadas y se propagan los errores hacia atrás por la red</a:t>
            </a:r>
            <a:endParaRPr lang="es-ES_tradnl" altLang="es-AR" sz="1600" dirty="0">
              <a:solidFill>
                <a:schemeClr val="bg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41"/>
          <p:cNvSpPr>
            <a:spLocks noChangeArrowheads="1"/>
          </p:cNvSpPr>
          <p:nvPr/>
        </p:nvSpPr>
        <p:spPr bwMode="auto">
          <a:xfrm>
            <a:off x="556968" y="5395475"/>
            <a:ext cx="8208590" cy="52274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/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s-ES_tradnl" altLang="es-AR" sz="1600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Cuando se completa el entrenamiento, la red podrá llevar a cabo una secuencia de acciones</a:t>
            </a:r>
            <a:endParaRPr lang="es-ES_tradnl" altLang="es-A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ligencia Artificial">
  <a:themeElements>
    <a:clrScheme name="Inteligencia Artificial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Inteligencia Artific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nteligencia Artifici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igencia Artifici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igencia Artifici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igencia Artifici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igencia Artifici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igencia Artifici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igencia Artifici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igencia Artifici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igencia Artifici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igencia Artifici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igencia Artifici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igencia Artifici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seño personalizado">
  <a:themeElements>
    <a:clrScheme name="Diseño 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ersonaliz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ersonaliz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ersonaliz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ersonaliz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Inteligencia Artificial</Template>
  <TotalTime>5266</TotalTime>
  <Words>3384</Words>
  <Application>Microsoft Office PowerPoint</Application>
  <PresentationFormat>Presentación en pantalla (4:3)</PresentationFormat>
  <Paragraphs>578</Paragraphs>
  <Slides>46</Slides>
  <Notes>2</Notes>
  <HiddenSlides>0</HiddenSlides>
  <MMClips>0</MMClips>
  <ScaleCrop>false</ScaleCrop>
  <HeadingPairs>
    <vt:vector size="6" baseType="variant"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49" baseType="lpstr">
      <vt:lpstr>Inteligencia Artificial</vt:lpstr>
      <vt:lpstr>Diseño personalizado</vt:lpstr>
      <vt:lpstr>Ecuación</vt:lpstr>
      <vt:lpstr>Universidad Tecnológica Nacional Facultad Regional Rosario</vt:lpstr>
      <vt:lpstr>Modelos de computación conexionistas         (Redes Neuronales Artificiales)</vt:lpstr>
      <vt:lpstr>Origen del Modelo conexionista</vt:lpstr>
      <vt:lpstr>Redes Neuronales Biológicas</vt:lpstr>
      <vt:lpstr>Redes Neuronales Biológicas</vt:lpstr>
      <vt:lpstr>Redes Neuronales Biológicas</vt:lpstr>
      <vt:lpstr>Redes Neuronales Biológicas</vt:lpstr>
      <vt:lpstr>Redes Neuronales Biológicas</vt:lpstr>
      <vt:lpstr>Redes Neuronales Artificiales</vt:lpstr>
      <vt:lpstr>Estructura de las Redes Neuronales</vt:lpstr>
      <vt:lpstr>Estructura de las Redes Neuronales</vt:lpstr>
      <vt:lpstr>Función de Red o de Propagación</vt:lpstr>
      <vt:lpstr>Función de Activación</vt:lpstr>
      <vt:lpstr>Función de Activación</vt:lpstr>
      <vt:lpstr>Función de Activación</vt:lpstr>
      <vt:lpstr>Comparación entre RNB y RNA</vt:lpstr>
      <vt:lpstr>Formas de interconexión de las RNA</vt:lpstr>
      <vt:lpstr>Formas de interconexión de las RNA</vt:lpstr>
      <vt:lpstr>Formas de interconexión de las RNA</vt:lpstr>
      <vt:lpstr>Presentación de PowerPoint</vt:lpstr>
      <vt:lpstr>Características de las RNA</vt:lpstr>
      <vt:lpstr>Ventajas de las RNA</vt:lpstr>
      <vt:lpstr>Ventajas de las RNA</vt:lpstr>
      <vt:lpstr>Ventajas de las RNA</vt:lpstr>
      <vt:lpstr>Desventajas de las RNA</vt:lpstr>
      <vt:lpstr>Mecanismos de Aprendizaje</vt:lpstr>
      <vt:lpstr>Métodos de Aprendizaje</vt:lpstr>
      <vt:lpstr>Aprendizaje Supervisado</vt:lpstr>
      <vt:lpstr>Aprendizaje No Supervisado</vt:lpstr>
      <vt:lpstr>Aprendizaje No Supervisado</vt:lpstr>
      <vt:lpstr>El Perceptrón</vt:lpstr>
      <vt:lpstr>El Perceptrón</vt:lpstr>
      <vt:lpstr>Perceptrón limitado por el orden</vt:lpstr>
      <vt:lpstr>Perceptrón directo</vt:lpstr>
      <vt:lpstr>Aprendizaje del Perceptrón</vt:lpstr>
      <vt:lpstr>Perceptrón directo Entrenarlo para que efectúe la Función Lógica OR</vt:lpstr>
      <vt:lpstr>Presentación de PowerPoint</vt:lpstr>
      <vt:lpstr>La separación lineal (OR)</vt:lpstr>
      <vt:lpstr>El problema del XOR (OR-Exclusiva)</vt:lpstr>
      <vt:lpstr>Redes de Hopfield</vt:lpstr>
      <vt:lpstr>Redes de Hopfield</vt:lpstr>
      <vt:lpstr>Redes de Hopfield</vt:lpstr>
      <vt:lpstr>Esta red tiene sólo 4 estados estables posibles (Dado un estado inicial, la red se asentará en una de estas cuatro configuraciones)</vt:lpstr>
      <vt:lpstr>Máquinas de Boltzmann</vt:lpstr>
      <vt:lpstr>Enfriamiento simulado: Técnica de búsqueda</vt:lpstr>
      <vt:lpstr>Redes Recurrentes</vt:lpstr>
    </vt:vector>
  </TitlesOfParts>
  <Company>lihuen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</dc:title>
  <dc:creator>lihuen</dc:creator>
  <cp:lastModifiedBy>lauher</cp:lastModifiedBy>
  <cp:revision>493</cp:revision>
  <dcterms:created xsi:type="dcterms:W3CDTF">2003-08-16T12:36:35Z</dcterms:created>
  <dcterms:modified xsi:type="dcterms:W3CDTF">2015-09-30T14:39:33Z</dcterms:modified>
</cp:coreProperties>
</file>